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Lst>
  <p:sldIdLst>
    <p:sldId id="256" r:id="rId2"/>
    <p:sldId id="257" r:id="rId3"/>
    <p:sldId id="258" r:id="rId4"/>
    <p:sldId id="273" r:id="rId5"/>
    <p:sldId id="262" r:id="rId6"/>
    <p:sldId id="260" r:id="rId7"/>
    <p:sldId id="261" r:id="rId8"/>
    <p:sldId id="263" r:id="rId9"/>
    <p:sldId id="264" r:id="rId10"/>
    <p:sldId id="265" r:id="rId11"/>
    <p:sldId id="266" r:id="rId12"/>
    <p:sldId id="267" r:id="rId13"/>
    <p:sldId id="268" r:id="rId14"/>
    <p:sldId id="274" r:id="rId15"/>
    <p:sldId id="270" r:id="rId16"/>
    <p:sldId id="271" r:id="rId17"/>
    <p:sldId id="272" r:id="rId18"/>
    <p:sldId id="275"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1" autoAdjust="0"/>
    <p:restoredTop sz="94690"/>
  </p:normalViewPr>
  <p:slideViewPr>
    <p:cSldViewPr snapToGrid="0" snapToObjects="1">
      <p:cViewPr varScale="1">
        <p:scale>
          <a:sx n="77" d="100"/>
          <a:sy n="77" d="100"/>
        </p:scale>
        <p:origin x="11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ABA6261-FE90-A443-9232-4B6A794176C5}"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BA421DAA-E42B-344D-994C-1073A937F5CE}" type="slidenum">
              <a:rPr lang="en-US" smtClean="0"/>
              <a:t>‹#›</a:t>
            </a:fld>
            <a:endParaRPr lang="en-US"/>
          </a:p>
        </p:txBody>
      </p:sp>
    </p:spTree>
    <p:extLst>
      <p:ext uri="{BB962C8B-B14F-4D97-AF65-F5344CB8AC3E}">
        <p14:creationId xmlns:p14="http://schemas.microsoft.com/office/powerpoint/2010/main" val="1015572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BA6261-FE90-A443-9232-4B6A794176C5}"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421DAA-E42B-344D-994C-1073A937F5CE}" type="slidenum">
              <a:rPr lang="en-US" smtClean="0"/>
              <a:t>‹#›</a:t>
            </a:fld>
            <a:endParaRPr lang="en-US"/>
          </a:p>
        </p:txBody>
      </p:sp>
    </p:spTree>
    <p:extLst>
      <p:ext uri="{BB962C8B-B14F-4D97-AF65-F5344CB8AC3E}">
        <p14:creationId xmlns:p14="http://schemas.microsoft.com/office/powerpoint/2010/main" val="23960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ABA6261-FE90-A443-9232-4B6A794176C5}"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BA421DAA-E42B-344D-994C-1073A937F5CE}" type="slidenum">
              <a:rPr lang="en-US" smtClean="0"/>
              <a:t>‹#›</a:t>
            </a:fld>
            <a:endParaRPr lang="en-US"/>
          </a:p>
        </p:txBody>
      </p:sp>
    </p:spTree>
    <p:extLst>
      <p:ext uri="{BB962C8B-B14F-4D97-AF65-F5344CB8AC3E}">
        <p14:creationId xmlns:p14="http://schemas.microsoft.com/office/powerpoint/2010/main" val="1154263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BA6261-FE90-A443-9232-4B6A794176C5}"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421DAA-E42B-344D-994C-1073A937F5CE}" type="slidenum">
              <a:rPr lang="en-US" smtClean="0"/>
              <a:t>‹#›</a:t>
            </a:fld>
            <a:endParaRPr lang="en-US"/>
          </a:p>
        </p:txBody>
      </p:sp>
    </p:spTree>
    <p:extLst>
      <p:ext uri="{BB962C8B-B14F-4D97-AF65-F5344CB8AC3E}">
        <p14:creationId xmlns:p14="http://schemas.microsoft.com/office/powerpoint/2010/main" val="3790131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BA6261-FE90-A443-9232-4B6A794176C5}" type="datetimeFigureOut">
              <a:rPr lang="en-US" smtClean="0"/>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421DAA-E42B-344D-994C-1073A937F5CE}" type="slidenum">
              <a:rPr lang="en-US" smtClean="0"/>
              <a:t>‹#›</a:t>
            </a:fld>
            <a:endParaRPr lang="en-US"/>
          </a:p>
        </p:txBody>
      </p:sp>
    </p:spTree>
    <p:extLst>
      <p:ext uri="{BB962C8B-B14F-4D97-AF65-F5344CB8AC3E}">
        <p14:creationId xmlns:p14="http://schemas.microsoft.com/office/powerpoint/2010/main" val="3016814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BA6261-FE90-A443-9232-4B6A794176C5}" type="datetimeFigureOut">
              <a:rPr lang="en-US" smtClean="0"/>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421DAA-E42B-344D-994C-1073A937F5CE}" type="slidenum">
              <a:rPr lang="en-US" smtClean="0"/>
              <a:t>‹#›</a:t>
            </a:fld>
            <a:endParaRPr lang="en-US"/>
          </a:p>
        </p:txBody>
      </p:sp>
    </p:spTree>
    <p:extLst>
      <p:ext uri="{BB962C8B-B14F-4D97-AF65-F5344CB8AC3E}">
        <p14:creationId xmlns:p14="http://schemas.microsoft.com/office/powerpoint/2010/main" val="830329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0ABA6261-FE90-A443-9232-4B6A794176C5}" type="datetimeFigureOut">
              <a:rPr lang="en-US" smtClean="0"/>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A421DAA-E42B-344D-994C-1073A937F5CE}" type="slidenum">
              <a:rPr lang="en-US" smtClean="0"/>
              <a:t>‹#›</a:t>
            </a:fld>
            <a:endParaRPr lang="en-US"/>
          </a:p>
        </p:txBody>
      </p:sp>
    </p:spTree>
    <p:extLst>
      <p:ext uri="{BB962C8B-B14F-4D97-AF65-F5344CB8AC3E}">
        <p14:creationId xmlns:p14="http://schemas.microsoft.com/office/powerpoint/2010/main" val="1281419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ABA6261-FE90-A443-9232-4B6A794176C5}"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421DAA-E42B-344D-994C-1073A937F5CE}" type="slidenum">
              <a:rPr lang="en-US" smtClean="0"/>
              <a:t>‹#›</a:t>
            </a:fld>
            <a:endParaRPr lang="en-US"/>
          </a:p>
        </p:txBody>
      </p:sp>
    </p:spTree>
    <p:extLst>
      <p:ext uri="{BB962C8B-B14F-4D97-AF65-F5344CB8AC3E}">
        <p14:creationId xmlns:p14="http://schemas.microsoft.com/office/powerpoint/2010/main" val="1945179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ABA6261-FE90-A443-9232-4B6A794176C5}"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421DAA-E42B-344D-994C-1073A937F5CE}" type="slidenum">
              <a:rPr lang="en-US" smtClean="0"/>
              <a:t>‹#›</a:t>
            </a:fld>
            <a:endParaRPr lang="en-US"/>
          </a:p>
        </p:txBody>
      </p:sp>
    </p:spTree>
    <p:extLst>
      <p:ext uri="{BB962C8B-B14F-4D97-AF65-F5344CB8AC3E}">
        <p14:creationId xmlns:p14="http://schemas.microsoft.com/office/powerpoint/2010/main" val="1340585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ABA6261-FE90-A443-9232-4B6A794176C5}"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BA421DAA-E42B-344D-994C-1073A937F5CE}" type="slidenum">
              <a:rPr lang="en-US" smtClean="0"/>
              <a:t>‹#›</a:t>
            </a:fld>
            <a:endParaRPr lang="en-US"/>
          </a:p>
        </p:txBody>
      </p:sp>
    </p:spTree>
    <p:extLst>
      <p:ext uri="{BB962C8B-B14F-4D97-AF65-F5344CB8AC3E}">
        <p14:creationId xmlns:p14="http://schemas.microsoft.com/office/powerpoint/2010/main" val="3310654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ABA6261-FE90-A443-9232-4B6A794176C5}"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BA421DAA-E42B-344D-994C-1073A937F5CE}" type="slidenum">
              <a:rPr lang="en-US" smtClean="0"/>
              <a:t>‹#›</a:t>
            </a:fld>
            <a:endParaRPr lang="en-US"/>
          </a:p>
        </p:txBody>
      </p:sp>
    </p:spTree>
    <p:extLst>
      <p:ext uri="{BB962C8B-B14F-4D97-AF65-F5344CB8AC3E}">
        <p14:creationId xmlns:p14="http://schemas.microsoft.com/office/powerpoint/2010/main" val="357171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ABA6261-FE90-A443-9232-4B6A794176C5}"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BA421DAA-E42B-344D-994C-1073A937F5CE}"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974226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ABA6261-FE90-A443-9232-4B6A794176C5}"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BA421DAA-E42B-344D-994C-1073A937F5CE}" type="slidenum">
              <a:rPr lang="en-US" smtClean="0"/>
              <a:t>‹#›</a:t>
            </a:fld>
            <a:endParaRPr lang="en-US"/>
          </a:p>
        </p:txBody>
      </p:sp>
    </p:spTree>
    <p:extLst>
      <p:ext uri="{BB962C8B-B14F-4D97-AF65-F5344CB8AC3E}">
        <p14:creationId xmlns:p14="http://schemas.microsoft.com/office/powerpoint/2010/main" val="38922748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0ABA6261-FE90-A443-9232-4B6A794176C5}" type="datetimeFigureOut">
              <a:rPr lang="en-US" smtClean="0"/>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421DAA-E42B-344D-994C-1073A937F5CE}" type="slidenum">
              <a:rPr lang="en-US" smtClean="0"/>
              <a:t>‹#›</a:t>
            </a:fld>
            <a:endParaRPr lang="en-US"/>
          </a:p>
        </p:txBody>
      </p:sp>
    </p:spTree>
    <p:extLst>
      <p:ext uri="{BB962C8B-B14F-4D97-AF65-F5344CB8AC3E}">
        <p14:creationId xmlns:p14="http://schemas.microsoft.com/office/powerpoint/2010/main" val="29842369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0ABA6261-FE90-A443-9232-4B6A794176C5}" type="datetimeFigureOut">
              <a:rPr lang="en-US" smtClean="0"/>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421DAA-E42B-344D-994C-1073A937F5CE}" type="slidenum">
              <a:rPr lang="en-US" smtClean="0"/>
              <a:t>‹#›</a:t>
            </a:fld>
            <a:endParaRPr lang="en-US"/>
          </a:p>
        </p:txBody>
      </p:sp>
    </p:spTree>
    <p:extLst>
      <p:ext uri="{BB962C8B-B14F-4D97-AF65-F5344CB8AC3E}">
        <p14:creationId xmlns:p14="http://schemas.microsoft.com/office/powerpoint/2010/main" val="25460586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BA6261-FE90-A443-9232-4B6A794176C5}"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421DAA-E42B-344D-994C-1073A937F5CE}" type="slidenum">
              <a:rPr lang="en-US" smtClean="0"/>
              <a:t>‹#›</a:t>
            </a:fld>
            <a:endParaRPr lang="en-US"/>
          </a:p>
        </p:txBody>
      </p:sp>
    </p:spTree>
    <p:extLst>
      <p:ext uri="{BB962C8B-B14F-4D97-AF65-F5344CB8AC3E}">
        <p14:creationId xmlns:p14="http://schemas.microsoft.com/office/powerpoint/2010/main" val="9209647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0ABA6261-FE90-A443-9232-4B6A794176C5}" type="datetimeFigureOut">
              <a:rPr lang="en-US" smtClean="0"/>
              <a:t>10/2/2026</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BA421DAA-E42B-344D-994C-1073A937F5CE}" type="slidenum">
              <a:rPr lang="en-US" smtClean="0"/>
              <a:t>‹#›</a:t>
            </a:fld>
            <a:endParaRPr lang="en-US"/>
          </a:p>
        </p:txBody>
      </p:sp>
    </p:spTree>
    <p:extLst>
      <p:ext uri="{BB962C8B-B14F-4D97-AF65-F5344CB8AC3E}">
        <p14:creationId xmlns:p14="http://schemas.microsoft.com/office/powerpoint/2010/main" val="2567507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ABA6261-FE90-A443-9232-4B6A794176C5}" type="datetimeFigureOut">
              <a:rPr lang="en-US" smtClean="0"/>
              <a:t>10/2/2026</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BA421DAA-E42B-344D-994C-1073A937F5CE}" type="slidenum">
              <a:rPr lang="en-US" smtClean="0"/>
              <a:t>‹#›</a:t>
            </a:fld>
            <a:endParaRPr lang="en-US"/>
          </a:p>
        </p:txBody>
      </p:sp>
    </p:spTree>
    <p:extLst>
      <p:ext uri="{BB962C8B-B14F-4D97-AF65-F5344CB8AC3E}">
        <p14:creationId xmlns:p14="http://schemas.microsoft.com/office/powerpoint/2010/main" val="1072441540"/>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leadinginnovation2012.wikispaces.com/Digital+footprint" TargetMode="External"/><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https://k12digitalcitizenship.wikispaces.com/" TargetMode="Externa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3" Type="http://schemas.openxmlformats.org/officeDocument/2006/relationships/hyperlink" Target="http://www.teachinctrl.org/videos/livingdigitalworld-student.php" TargetMode="External"/><Relationship Id="rId2" Type="http://schemas.openxmlformats.org/officeDocument/2006/relationships/slideLayout" Target="../slideLayouts/slideLayout2.xml"/><Relationship Id="rId1" Type="http://schemas.openxmlformats.org/officeDocument/2006/relationships/video" Target="https://www.youtube.com/embed/zNtII_7Dk58" TargetMode="Externa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hyperlink" Target="http://fitefuaite.com/journal/comhra/engaged-digital-citizenship/" TargetMode="External"/><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hyperlink" Target="http://lenspence.blogspot.com/2012/09/dont-trust-all-information-you-receive.html#!" TargetMode="Externa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hyperlink" Target="http://taliawhyte.com/tag/broadband/"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technofaq.org/posts/2016/12/a-comprehensive-guide-for-starting-the-successful-ecommerce-website/" TargetMode="External"/><Relationship Id="rId2" Type="http://schemas.openxmlformats.org/officeDocument/2006/relationships/image" Target="../media/image8.jpg"/><Relationship Id="rId1" Type="http://schemas.openxmlformats.org/officeDocument/2006/relationships/slideLayout" Target="../slideLayouts/slideLayout2.xml"/><Relationship Id="rId5" Type="http://schemas.openxmlformats.org/officeDocument/2006/relationships/hyperlink" Target="http://www.texasenterprise.utexas.edu/article/opportunity-store-online-sellers" TargetMode="External"/><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3" Type="http://schemas.openxmlformats.org/officeDocument/2006/relationships/hyperlink" Target="http://overbr.com.br/dicas/evite-erros-conheca-os-sete-pecados-capitais-no-marketing-digital" TargetMode="External"/><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educatorinnovator.org/category/partners-2" TargetMode="External"/><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onlysexyboys.wikispaces.com/" TargetMode="External"/><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adcdigital.org.ar/2016/01/29/descubriendo-la-agenda-de-ciberseguridad-en-latam-parte-ii/" TargetMode="External"/><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nfsdigitalcitizenship.wikispaces.com/April+Digital+Rights+and+Responsibilities" TargetMode="External"/><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publicdomainpictures.net/view-image.php?image=127819&amp;picture=apple-wallpaper" TargetMode="External"/><Relationship Id="rId2" Type="http://schemas.openxmlformats.org/officeDocument/2006/relationships/image" Target="../media/image8.jpg"/><Relationship Id="rId1" Type="http://schemas.openxmlformats.org/officeDocument/2006/relationships/slideLayout" Target="../slideLayouts/slideLayout2.xml"/><Relationship Id="rId5" Type="http://schemas.openxmlformats.org/officeDocument/2006/relationships/hyperlink" Target="https://www.nesta.org.uk/users/halima-khan" TargetMode="External"/><Relationship Id="rId4" Type="http://schemas.openxmlformats.org/officeDocument/2006/relationships/image" Target="../media/image16.jpg"/></Relationships>
</file>

<file path=ppt/slides/_rels/slide13.xml.rels><?xml version="1.0" encoding="UTF-8" standalone="yes"?>
<Relationships xmlns="http://schemas.openxmlformats.org/package/2006/relationships"><Relationship Id="rId3" Type="http://schemas.openxmlformats.org/officeDocument/2006/relationships/hyperlink" Target="https://thegrcbluebook.com/grc-articles/tag/cybersecurity"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slideLayout" Target="../slideLayouts/slideLayout2.xml"/><Relationship Id="rId1" Type="http://schemas.openxmlformats.org/officeDocument/2006/relationships/video" Target="https://www.youtube.com/embed/i307esUZTSc" TargetMode="External"/><Relationship Id="rId4" Type="http://schemas.openxmlformats.org/officeDocument/2006/relationships/hyperlink" Target="https://beinternetawesome.withgoogle.com/" TargetMode="External"/></Relationships>
</file>

<file path=ppt/slides/_rels/slide15.xml.rels><?xml version="1.0" encoding="UTF-8" standalone="yes"?>
<Relationships xmlns="http://schemas.openxmlformats.org/package/2006/relationships"><Relationship Id="rId2" Type="http://schemas.openxmlformats.org/officeDocument/2006/relationships/hyperlink" Target="https://beinternetawesome.withgoogle.com/resource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brainpop.com/games/digitalcompass/" TargetMode="External"/><Relationship Id="rId2" Type="http://schemas.openxmlformats.org/officeDocument/2006/relationships/slideLayout" Target="../slideLayouts/slideLayout2.xml"/><Relationship Id="rId1" Type="http://schemas.openxmlformats.org/officeDocument/2006/relationships/video" Target="https://www.youtube.com/embed/6opdfUvdETg" TargetMode="External"/><Relationship Id="rId5" Type="http://schemas.openxmlformats.org/officeDocument/2006/relationships/image" Target="../media/image19.jpeg"/><Relationship Id="rId4" Type="http://schemas.openxmlformats.org/officeDocument/2006/relationships/hyperlink" Target="https://youtu.be/6opdfUvdETg"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mailto:cbannist@rvaschools.net" TargetMode="External"/><Relationship Id="rId2" Type="http://schemas.openxmlformats.org/officeDocument/2006/relationships/hyperlink" Target="https://www.brainpop.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libguides.library.ncat.edu/c.php?g=778558&amp;p=5584082" TargetMode="External"/><Relationship Id="rId2" Type="http://schemas.openxmlformats.org/officeDocument/2006/relationships/hyperlink" Target="https://www.commonsense.org/education/top-picks/most-reliable-and-credible-sources-for-students" TargetMode="External"/><Relationship Id="rId1" Type="http://schemas.openxmlformats.org/officeDocument/2006/relationships/slideLayout" Target="../slideLayouts/slideLayout2.xml"/><Relationship Id="rId5" Type="http://schemas.openxmlformats.org/officeDocument/2006/relationships/hyperlink" Target="https://beinternetawesome.withgoogle.com/pdfs/Google_BeInternetAwesome_Pledge.pdf" TargetMode="External"/><Relationship Id="rId4" Type="http://schemas.openxmlformats.org/officeDocument/2006/relationships/hyperlink" Target="https://docs.google.com/document/d/10eA5-mCZLSS4MQY5QGb5ewC3VAL6pLkT53V_81ZyitM/edit" TargetMode="External"/></Relationships>
</file>

<file path=ppt/slides/_rels/slide19.xml.rels><?xml version="1.0" encoding="UTF-8" standalone="yes"?>
<Relationships xmlns="http://schemas.openxmlformats.org/package/2006/relationships"><Relationship Id="rId2" Type="http://schemas.openxmlformats.org/officeDocument/2006/relationships/hyperlink" Target="http://www.bing.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Digital Citizenship</a:t>
            </a:r>
            <a:br>
              <a:rPr lang="en-US" dirty="0"/>
            </a:br>
            <a:endParaRPr lang="en-US" dirty="0"/>
          </a:p>
        </p:txBody>
      </p:sp>
      <p:sp>
        <p:nvSpPr>
          <p:cNvPr id="3" name="Subtitle 2"/>
          <p:cNvSpPr>
            <a:spLocks noGrp="1"/>
          </p:cNvSpPr>
          <p:nvPr>
            <p:ph type="subTitle" idx="1"/>
          </p:nvPr>
        </p:nvSpPr>
        <p:spPr>
          <a:xfrm>
            <a:off x="680322" y="3291839"/>
            <a:ext cx="8144134" cy="2361303"/>
          </a:xfrm>
        </p:spPr>
        <p:txBody>
          <a:bodyPr>
            <a:normAutofit/>
          </a:bodyPr>
          <a:lstStyle/>
          <a:p>
            <a:r>
              <a:rPr lang="en-US" dirty="0">
                <a:solidFill>
                  <a:schemeClr val="tx1"/>
                </a:solidFill>
              </a:rPr>
              <a:t>An Overview of the Nine Elements to Becoming a Good Citizen</a:t>
            </a:r>
          </a:p>
          <a:p>
            <a:r>
              <a:rPr lang="en-US" dirty="0"/>
              <a:t>Dr. Clara Bannister, PhD.</a:t>
            </a:r>
          </a:p>
          <a:p>
            <a:r>
              <a:rPr lang="en-US" dirty="0"/>
              <a:t>Franklin Military Academy</a:t>
            </a:r>
          </a:p>
          <a:p>
            <a:endParaRPr lang="en-US" dirty="0">
              <a:solidFill>
                <a:schemeClr val="tx1"/>
              </a:solidFill>
            </a:endParaRPr>
          </a:p>
          <a:p>
            <a:endParaRPr lang="en-US" dirty="0"/>
          </a:p>
        </p:txBody>
      </p:sp>
    </p:spTree>
    <p:extLst>
      <p:ext uri="{BB962C8B-B14F-4D97-AF65-F5344CB8AC3E}">
        <p14:creationId xmlns:p14="http://schemas.microsoft.com/office/powerpoint/2010/main" val="347167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5571" y="498934"/>
            <a:ext cx="8534400" cy="1507067"/>
          </a:xfrm>
        </p:spPr>
        <p:txBody>
          <a:bodyPr/>
          <a:lstStyle/>
          <a:p>
            <a:pPr algn="ctr"/>
            <a:r>
              <a:rPr lang="en-US" dirty="0"/>
              <a:t>What Is Digital Citizenship?</a:t>
            </a:r>
          </a:p>
        </p:txBody>
      </p:sp>
      <p:sp>
        <p:nvSpPr>
          <p:cNvPr id="3" name="Content Placeholder 2"/>
          <p:cNvSpPr>
            <a:spLocks noGrp="1"/>
          </p:cNvSpPr>
          <p:nvPr>
            <p:ph idx="1"/>
          </p:nvPr>
        </p:nvSpPr>
        <p:spPr>
          <a:xfrm>
            <a:off x="408228" y="2330056"/>
            <a:ext cx="8534400" cy="3615267"/>
          </a:xfrm>
        </p:spPr>
        <p:txBody>
          <a:bodyPr>
            <a:normAutofit lnSpcReduction="10000"/>
          </a:bodyPr>
          <a:lstStyle/>
          <a:p>
            <a:pPr marL="0" indent="0" algn="r">
              <a:buNone/>
            </a:pPr>
            <a:r>
              <a:rPr lang="en-US" sz="4400" dirty="0">
                <a:solidFill>
                  <a:schemeClr val="tx1"/>
                </a:solidFill>
              </a:rPr>
              <a:t>Digital citizenship can be defined as the norms of appropriate, responsible behavior with regard to technology use. </a:t>
            </a:r>
          </a:p>
          <a:p>
            <a:pPr marL="0" indent="0" algn="r">
              <a:buNone/>
            </a:pPr>
            <a:r>
              <a:rPr lang="en-US" dirty="0">
                <a:solidFill>
                  <a:schemeClr val="tx1"/>
                </a:solidFill>
              </a:rPr>
              <a:t> </a:t>
            </a:r>
            <a:br>
              <a:rPr lang="en-US" dirty="0">
                <a:solidFill>
                  <a:schemeClr val="tx1"/>
                </a:solidFill>
              </a:rPr>
            </a:br>
            <a:r>
              <a:rPr lang="en-US" sz="1200" dirty="0">
                <a:solidFill>
                  <a:schemeClr val="tx1"/>
                </a:solidFill>
              </a:rPr>
              <a:t>http://</a:t>
            </a:r>
            <a:r>
              <a:rPr lang="en-US" sz="1200" dirty="0" err="1">
                <a:solidFill>
                  <a:schemeClr val="tx1"/>
                </a:solidFill>
              </a:rPr>
              <a:t>www.digitalcitizenship.net</a:t>
            </a:r>
            <a:r>
              <a:rPr lang="en-US" sz="1200" dirty="0">
                <a:solidFill>
                  <a:schemeClr val="tx1"/>
                </a:solidFill>
              </a:rPr>
              <a:t>/nine-</a:t>
            </a:r>
            <a:r>
              <a:rPr lang="en-US" sz="1200" dirty="0" err="1">
                <a:solidFill>
                  <a:schemeClr val="tx1"/>
                </a:solidFill>
              </a:rPr>
              <a:t>elements.htm</a:t>
            </a:r>
            <a:r>
              <a:rPr lang="en-US" sz="1100" dirty="0" err="1">
                <a:solidFill>
                  <a:schemeClr val="tx1"/>
                </a:solidFill>
              </a:rPr>
              <a:t>l</a:t>
            </a:r>
            <a:endParaRPr lang="en-US" sz="1100" dirty="0">
              <a:solidFill>
                <a:schemeClr val="tx1"/>
              </a:solidFill>
            </a:endParaRPr>
          </a:p>
          <a:p>
            <a:endParaRPr lang="en-US" dirty="0">
              <a:solidFill>
                <a:schemeClr val="tx1"/>
              </a:solidFill>
            </a:endParaRPr>
          </a:p>
        </p:txBody>
      </p:sp>
      <p:pic>
        <p:nvPicPr>
          <p:cNvPr id="5" name="Picture 4">
            <a:extLst>
              <a:ext uri="{FF2B5EF4-FFF2-40B4-BE49-F238E27FC236}">
                <a16:creationId xmlns:a16="http://schemas.microsoft.com/office/drawing/2014/main" id="{571EDB48-72F5-4CAF-AF02-8C3BC67FD542}"/>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233834" y="2582990"/>
            <a:ext cx="2502759" cy="2338633"/>
          </a:xfrm>
          <a:prstGeom prst="rect">
            <a:avLst/>
          </a:prstGeom>
        </p:spPr>
      </p:pic>
      <p:pic>
        <p:nvPicPr>
          <p:cNvPr id="7" name="Picture 6">
            <a:extLst>
              <a:ext uri="{FF2B5EF4-FFF2-40B4-BE49-F238E27FC236}">
                <a16:creationId xmlns:a16="http://schemas.microsoft.com/office/drawing/2014/main" id="{788390FB-E4B9-4912-B690-3EC158692266}"/>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337185" y="5351930"/>
            <a:ext cx="1276350" cy="1371600"/>
          </a:xfrm>
          <a:prstGeom prst="rect">
            <a:avLst/>
          </a:prstGeom>
        </p:spPr>
      </p:pic>
    </p:spTree>
    <p:extLst>
      <p:ext uri="{BB962C8B-B14F-4D97-AF65-F5344CB8AC3E}">
        <p14:creationId xmlns:p14="http://schemas.microsoft.com/office/powerpoint/2010/main" val="1160375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802" y="5227790"/>
            <a:ext cx="8534400" cy="1291770"/>
          </a:xfrm>
        </p:spPr>
        <p:txBody>
          <a:bodyPr>
            <a:normAutofit/>
          </a:bodyPr>
          <a:lstStyle/>
          <a:p>
            <a:r>
              <a:rPr lang="en-US" dirty="0"/>
              <a:t>Let’s Watch a Brief Video Clip that Explains digital citizenship by </a:t>
            </a:r>
            <a:r>
              <a:rPr lang="en-US" dirty="0" err="1"/>
              <a:t>Inctrl</a:t>
            </a:r>
            <a:endParaRPr lang="en-US" dirty="0"/>
          </a:p>
        </p:txBody>
      </p:sp>
      <p:sp>
        <p:nvSpPr>
          <p:cNvPr id="6" name="Content Placeholder 5">
            <a:extLst>
              <a:ext uri="{FF2B5EF4-FFF2-40B4-BE49-F238E27FC236}">
                <a16:creationId xmlns:a16="http://schemas.microsoft.com/office/drawing/2014/main" id="{F16EB7B4-92EC-4E9B-99C8-C93DB6B1C4AB}"/>
              </a:ext>
            </a:extLst>
          </p:cNvPr>
          <p:cNvSpPr>
            <a:spLocks noGrp="1"/>
          </p:cNvSpPr>
          <p:nvPr>
            <p:ph idx="1"/>
          </p:nvPr>
        </p:nvSpPr>
        <p:spPr>
          <a:xfrm>
            <a:off x="976156" y="3941220"/>
            <a:ext cx="9613861" cy="1681108"/>
          </a:xfrm>
        </p:spPr>
        <p:txBody>
          <a:bodyPr/>
          <a:lstStyle/>
          <a:p>
            <a:pPr marL="0" indent="0">
              <a:buNone/>
            </a:pPr>
            <a:endParaRPr lang="en-US" dirty="0">
              <a:hlinkClick r:id="rId3"/>
            </a:endParaRPr>
          </a:p>
          <a:p>
            <a:pPr marL="0" indent="0">
              <a:buNone/>
            </a:pPr>
            <a:endParaRPr lang="en-US" dirty="0">
              <a:hlinkClick r:id="rId3"/>
            </a:endParaRPr>
          </a:p>
          <a:p>
            <a:pPr marL="0" indent="0">
              <a:buNone/>
            </a:pPr>
            <a:r>
              <a:rPr lang="en-US" dirty="0">
                <a:hlinkClick r:id="rId3"/>
              </a:rPr>
              <a:t>http://www.teachinctrl.org/videos/livingdigitalworld-student.php</a:t>
            </a:r>
            <a:endParaRPr lang="en-US" dirty="0"/>
          </a:p>
        </p:txBody>
      </p:sp>
      <p:sp>
        <p:nvSpPr>
          <p:cNvPr id="7" name="TextBox 6">
            <a:extLst>
              <a:ext uri="{FF2B5EF4-FFF2-40B4-BE49-F238E27FC236}">
                <a16:creationId xmlns:a16="http://schemas.microsoft.com/office/drawing/2014/main" id="{15E74B24-8030-4FC4-8A39-B1F23451ED40}"/>
              </a:ext>
            </a:extLst>
          </p:cNvPr>
          <p:cNvSpPr txBox="1"/>
          <p:nvPr/>
        </p:nvSpPr>
        <p:spPr>
          <a:xfrm>
            <a:off x="279699" y="984325"/>
            <a:ext cx="9821732" cy="769441"/>
          </a:xfrm>
          <a:prstGeom prst="rect">
            <a:avLst/>
          </a:prstGeom>
          <a:noFill/>
        </p:spPr>
        <p:txBody>
          <a:bodyPr wrap="square" rtlCol="0">
            <a:spAutoFit/>
          </a:bodyPr>
          <a:lstStyle/>
          <a:p>
            <a:r>
              <a:rPr lang="en-US" sz="4400" dirty="0"/>
              <a:t>Living in a Digital World</a:t>
            </a:r>
          </a:p>
        </p:txBody>
      </p:sp>
      <p:pic>
        <p:nvPicPr>
          <p:cNvPr id="8" name="Online Media 7">
            <a:hlinkClick r:id="" action="ppaction://media"/>
            <a:extLst>
              <a:ext uri="{FF2B5EF4-FFF2-40B4-BE49-F238E27FC236}">
                <a16:creationId xmlns:a16="http://schemas.microsoft.com/office/drawing/2014/main" id="{A7FA50CC-B2C9-4690-86DE-3DA05B6023BC}"/>
              </a:ext>
            </a:extLst>
          </p:cNvPr>
          <p:cNvPicPr>
            <a:picLocks noRot="1" noChangeAspect="1"/>
          </p:cNvPicPr>
          <p:nvPr>
            <a:videoFile r:link="rId1"/>
          </p:nvPr>
        </p:nvPicPr>
        <p:blipFill>
          <a:blip r:embed="rId4"/>
          <a:stretch>
            <a:fillRect/>
          </a:stretch>
        </p:blipFill>
        <p:spPr>
          <a:xfrm>
            <a:off x="2436607" y="2155371"/>
            <a:ext cx="5975873" cy="2604888"/>
          </a:xfrm>
          <a:prstGeom prst="rect">
            <a:avLst/>
          </a:prstGeom>
        </p:spPr>
      </p:pic>
    </p:spTree>
    <p:extLst>
      <p:ext uri="{BB962C8B-B14F-4D97-AF65-F5344CB8AC3E}">
        <p14:creationId xmlns:p14="http://schemas.microsoft.com/office/powerpoint/2010/main" val="831286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2509D-2447-4D9E-87A4-398660A84D72}"/>
              </a:ext>
            </a:extLst>
          </p:cNvPr>
          <p:cNvSpPr>
            <a:spLocks noGrp="1"/>
          </p:cNvSpPr>
          <p:nvPr>
            <p:ph type="title"/>
          </p:nvPr>
        </p:nvSpPr>
        <p:spPr/>
        <p:txBody>
          <a:bodyPr/>
          <a:lstStyle/>
          <a:p>
            <a:r>
              <a:rPr lang="en-US" dirty="0"/>
              <a:t>The Nine Elements of </a:t>
            </a:r>
            <a:br>
              <a:rPr lang="en-US" dirty="0"/>
            </a:br>
            <a:r>
              <a:rPr lang="en-US" dirty="0"/>
              <a:t>Digital Citizenship </a:t>
            </a:r>
          </a:p>
        </p:txBody>
      </p:sp>
      <p:pic>
        <p:nvPicPr>
          <p:cNvPr id="17" name="Content Placeholder 16">
            <a:extLst>
              <a:ext uri="{FF2B5EF4-FFF2-40B4-BE49-F238E27FC236}">
                <a16:creationId xmlns:a16="http://schemas.microsoft.com/office/drawing/2014/main" id="{B9DDD0F0-C06D-416F-8F46-15E7664F36AC}"/>
              </a:ext>
            </a:extLst>
          </p:cNvPr>
          <p:cNvPicPr>
            <a:picLocks noGrp="1" noChangeAspect="1"/>
          </p:cNvPicPr>
          <p:nvPr>
            <p:ph idx="1"/>
          </p:nvPr>
        </p:nvPicPr>
        <p:blipFill>
          <a:blip r:embed="rId2">
            <a:extLst>
              <a:ext uri="{837473B0-CC2E-450A-ABE3-18F120FF3D39}">
                <a1611:picAttrSrcUrl xmlns:a1611="http://schemas.microsoft.com/office/drawing/2016/11/main" r:id="rId3"/>
              </a:ext>
            </a:extLst>
          </a:blip>
          <a:stretch>
            <a:fillRect/>
          </a:stretch>
        </p:blipFill>
        <p:spPr>
          <a:xfrm>
            <a:off x="1468420" y="2205318"/>
            <a:ext cx="7132320" cy="3895195"/>
          </a:xfrm>
        </p:spPr>
      </p:pic>
      <p:sp>
        <p:nvSpPr>
          <p:cNvPr id="18" name="TextBox 17">
            <a:extLst>
              <a:ext uri="{FF2B5EF4-FFF2-40B4-BE49-F238E27FC236}">
                <a16:creationId xmlns:a16="http://schemas.microsoft.com/office/drawing/2014/main" id="{1B4E05E4-3850-4644-84EE-E388B31D0C89}"/>
              </a:ext>
            </a:extLst>
          </p:cNvPr>
          <p:cNvSpPr txBox="1"/>
          <p:nvPr/>
        </p:nvSpPr>
        <p:spPr>
          <a:xfrm>
            <a:off x="7067775" y="6357769"/>
            <a:ext cx="4292301" cy="369332"/>
          </a:xfrm>
          <a:prstGeom prst="rect">
            <a:avLst/>
          </a:prstGeom>
          <a:noFill/>
        </p:spPr>
        <p:txBody>
          <a:bodyPr wrap="square" rtlCol="0">
            <a:spAutoFit/>
          </a:bodyPr>
          <a:lstStyle/>
          <a:p>
            <a:r>
              <a:rPr lang="en-US" dirty="0"/>
              <a:t>http://www.bing.com</a:t>
            </a:r>
          </a:p>
        </p:txBody>
      </p:sp>
      <p:pic>
        <p:nvPicPr>
          <p:cNvPr id="20" name="Picture 19">
            <a:extLst>
              <a:ext uri="{FF2B5EF4-FFF2-40B4-BE49-F238E27FC236}">
                <a16:creationId xmlns:a16="http://schemas.microsoft.com/office/drawing/2014/main" id="{1DD30C41-7BC1-4615-8BDB-B0C10DBE0541}"/>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6091237" y="3424237"/>
            <a:ext cx="9525" cy="9525"/>
          </a:xfrm>
          <a:prstGeom prst="rect">
            <a:avLst/>
          </a:prstGeom>
        </p:spPr>
      </p:pic>
    </p:spTree>
    <p:extLst>
      <p:ext uri="{BB962C8B-B14F-4D97-AF65-F5344CB8AC3E}">
        <p14:creationId xmlns:p14="http://schemas.microsoft.com/office/powerpoint/2010/main" val="2906617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Nine Elements of </a:t>
            </a:r>
            <a:br>
              <a:rPr lang="en-US" dirty="0"/>
            </a:br>
            <a:r>
              <a:rPr lang="en-US" dirty="0"/>
              <a:t>Digital Citizenship </a:t>
            </a:r>
          </a:p>
        </p:txBody>
      </p:sp>
      <p:sp>
        <p:nvSpPr>
          <p:cNvPr id="3" name="Content Placeholder 2"/>
          <p:cNvSpPr>
            <a:spLocks noGrp="1"/>
          </p:cNvSpPr>
          <p:nvPr>
            <p:ph idx="1"/>
          </p:nvPr>
        </p:nvSpPr>
        <p:spPr/>
        <p:txBody>
          <a:bodyPr/>
          <a:lstStyle/>
          <a:p>
            <a:pPr marL="0" indent="0">
              <a:buNone/>
            </a:pPr>
            <a:r>
              <a:rPr lang="en-US" sz="3700" b="1" dirty="0">
                <a:solidFill>
                  <a:schemeClr val="tx1"/>
                </a:solidFill>
              </a:rPr>
              <a:t>1</a:t>
            </a:r>
            <a:r>
              <a:rPr lang="en-US" b="1" dirty="0">
                <a:solidFill>
                  <a:schemeClr val="tx1"/>
                </a:solidFill>
              </a:rPr>
              <a:t>.  </a:t>
            </a:r>
            <a:r>
              <a:rPr lang="en-US" sz="4400" b="1" dirty="0">
                <a:solidFill>
                  <a:schemeClr val="tx1"/>
                </a:solidFill>
              </a:rPr>
              <a:t> Digital Access</a:t>
            </a:r>
            <a:r>
              <a:rPr lang="en-US" b="1" dirty="0">
                <a:solidFill>
                  <a:schemeClr val="tx1"/>
                </a:solidFill>
              </a:rPr>
              <a:t>:</a:t>
            </a:r>
            <a:r>
              <a:rPr lang="en-US" dirty="0">
                <a:solidFill>
                  <a:schemeClr val="tx1"/>
                </a:solidFill>
              </a:rPr>
              <a:t>   </a:t>
            </a:r>
          </a:p>
          <a:p>
            <a:pPr marL="0" indent="0">
              <a:buNone/>
            </a:pPr>
            <a:r>
              <a:rPr lang="en-US" i="1" dirty="0">
                <a:solidFill>
                  <a:schemeClr val="tx1"/>
                </a:solidFill>
              </a:rPr>
              <a:t>full electronic participation in society.</a:t>
            </a:r>
            <a:r>
              <a:rPr lang="en-US" dirty="0">
                <a:solidFill>
                  <a:schemeClr val="tx1"/>
                </a:solidFill>
              </a:rPr>
              <a:t> </a:t>
            </a:r>
          </a:p>
          <a:p>
            <a:pPr marL="0" indent="0">
              <a:buNone/>
            </a:pPr>
            <a:br>
              <a:rPr lang="en-US" dirty="0">
                <a:solidFill>
                  <a:schemeClr val="tx1"/>
                </a:solidFill>
              </a:rPr>
            </a:br>
            <a:r>
              <a:rPr lang="en-US" dirty="0">
                <a:solidFill>
                  <a:schemeClr val="tx1"/>
                </a:solidFill>
              </a:rPr>
              <a:t>Technology users need to be aware that not everyone has the same opportunities when it comes to technology.  Working toward equal digital rights and supporting electronic access is the starting point of Digital Citizenship. </a:t>
            </a:r>
          </a:p>
          <a:p>
            <a:endParaRPr lang="en-US" dirty="0"/>
          </a:p>
        </p:txBody>
      </p:sp>
      <p:sp>
        <p:nvSpPr>
          <p:cNvPr id="4" name="Rectangle 3"/>
          <p:cNvSpPr/>
          <p:nvPr/>
        </p:nvSpPr>
        <p:spPr>
          <a:xfrm>
            <a:off x="4772480" y="5837531"/>
            <a:ext cx="6043642" cy="369332"/>
          </a:xfrm>
          <a:prstGeom prst="rect">
            <a:avLst/>
          </a:prstGeom>
        </p:spPr>
        <p:txBody>
          <a:bodyPr wrap="none">
            <a:spAutoFit/>
          </a:bodyPr>
          <a:lstStyle/>
          <a:p>
            <a:r>
              <a:rPr lang="en-US" dirty="0">
                <a:solidFill>
                  <a:schemeClr val="tx1"/>
                </a:solidFill>
              </a:rPr>
              <a:t>http://www.digitalcitizenship.net/nine-elements.html</a:t>
            </a:r>
            <a:endParaRPr lang="en-US" dirty="0"/>
          </a:p>
        </p:txBody>
      </p:sp>
      <p:pic>
        <p:nvPicPr>
          <p:cNvPr id="6" name="Picture 5">
            <a:extLst>
              <a:ext uri="{FF2B5EF4-FFF2-40B4-BE49-F238E27FC236}">
                <a16:creationId xmlns:a16="http://schemas.microsoft.com/office/drawing/2014/main" id="{AB5779FE-D572-4255-AC91-9A94A9AF4707}"/>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552316" y="2186719"/>
            <a:ext cx="2516841" cy="1649130"/>
          </a:xfrm>
          <a:prstGeom prst="rect">
            <a:avLst/>
          </a:prstGeom>
        </p:spPr>
      </p:pic>
    </p:spTree>
    <p:extLst>
      <p:ext uri="{BB962C8B-B14F-4D97-AF65-F5344CB8AC3E}">
        <p14:creationId xmlns:p14="http://schemas.microsoft.com/office/powerpoint/2010/main" val="1616634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Nine Elements of </a:t>
            </a:r>
            <a:br>
              <a:rPr lang="en-US" dirty="0"/>
            </a:br>
            <a:r>
              <a:rPr lang="en-US" dirty="0"/>
              <a:t>Digital Citizenship </a:t>
            </a:r>
          </a:p>
        </p:txBody>
      </p:sp>
      <p:sp>
        <p:nvSpPr>
          <p:cNvPr id="3" name="Content Placeholder 2"/>
          <p:cNvSpPr>
            <a:spLocks noGrp="1"/>
          </p:cNvSpPr>
          <p:nvPr>
            <p:ph idx="1"/>
          </p:nvPr>
        </p:nvSpPr>
        <p:spPr>
          <a:xfrm>
            <a:off x="196227" y="2144371"/>
            <a:ext cx="9613861" cy="3599316"/>
          </a:xfrm>
        </p:spPr>
        <p:txBody>
          <a:bodyPr>
            <a:normAutofit/>
          </a:bodyPr>
          <a:lstStyle/>
          <a:p>
            <a:pPr marL="0" lvl="0" indent="0" defTabSz="914400">
              <a:spcBef>
                <a:spcPts val="0"/>
              </a:spcBef>
              <a:spcAft>
                <a:spcPts val="0"/>
              </a:spcAft>
              <a:buClrTx/>
              <a:buSzTx/>
              <a:buNone/>
            </a:pPr>
            <a:r>
              <a:rPr lang="en-US" sz="4400" b="1" dirty="0">
                <a:solidFill>
                  <a:schemeClr val="tx1"/>
                </a:solidFill>
              </a:rPr>
              <a:t>2.   Digital Commerce:</a:t>
            </a:r>
            <a:r>
              <a:rPr lang="en-US" sz="4400" dirty="0">
                <a:solidFill>
                  <a:schemeClr val="tx1"/>
                </a:solidFill>
              </a:rPr>
              <a:t>  </a:t>
            </a:r>
          </a:p>
          <a:p>
            <a:pPr marL="0" lvl="0" indent="0" defTabSz="914400">
              <a:spcBef>
                <a:spcPts val="0"/>
              </a:spcBef>
              <a:spcAft>
                <a:spcPts val="0"/>
              </a:spcAft>
              <a:buClrTx/>
              <a:buSzTx/>
              <a:buNone/>
            </a:pPr>
            <a:r>
              <a:rPr lang="en-US" dirty="0">
                <a:solidFill>
                  <a:schemeClr val="tx1"/>
                </a:solidFill>
              </a:rPr>
              <a:t> </a:t>
            </a:r>
            <a:r>
              <a:rPr lang="en-US" i="1" dirty="0">
                <a:solidFill>
                  <a:schemeClr val="tx1"/>
                </a:solidFill>
              </a:rPr>
              <a:t>electronic buying and selling of goods. </a:t>
            </a:r>
          </a:p>
          <a:p>
            <a:pPr marL="0" lvl="0" indent="0" defTabSz="914400">
              <a:spcBef>
                <a:spcPts val="0"/>
              </a:spcBef>
              <a:spcAft>
                <a:spcPts val="0"/>
              </a:spcAft>
              <a:buClrTx/>
              <a:buSzTx/>
              <a:buNone/>
            </a:pPr>
            <a:br>
              <a:rPr lang="en-US" dirty="0">
                <a:solidFill>
                  <a:schemeClr val="tx1"/>
                </a:solidFill>
              </a:rPr>
            </a:br>
            <a:r>
              <a:rPr lang="en-US" dirty="0">
                <a:solidFill>
                  <a:schemeClr val="tx1"/>
                </a:solidFill>
              </a:rPr>
              <a:t>Technology users need to understand that a large share of market economy is being done electronically. Legitimate and legal exchanges are occurring, but the buyer or seller needs to be aware of the issues associated with it.  Users need to learn about how to be effective consumers in a new digital economy.  </a:t>
            </a:r>
            <a:br>
              <a:rPr lang="en-US" dirty="0">
                <a:solidFill>
                  <a:schemeClr val="tx1"/>
                </a:solidFill>
              </a:rPr>
            </a:br>
            <a:endParaRPr lang="en-US" dirty="0">
              <a:solidFill>
                <a:schemeClr val="tx1"/>
              </a:solidFill>
            </a:endParaRPr>
          </a:p>
        </p:txBody>
      </p:sp>
      <p:sp>
        <p:nvSpPr>
          <p:cNvPr id="4" name="Rectangle 3"/>
          <p:cNvSpPr/>
          <p:nvPr/>
        </p:nvSpPr>
        <p:spPr>
          <a:xfrm>
            <a:off x="5912791" y="5880562"/>
            <a:ext cx="6043642" cy="369332"/>
          </a:xfrm>
          <a:prstGeom prst="rect">
            <a:avLst/>
          </a:prstGeom>
        </p:spPr>
        <p:txBody>
          <a:bodyPr wrap="none">
            <a:spAutoFit/>
          </a:bodyPr>
          <a:lstStyle/>
          <a:p>
            <a:r>
              <a:rPr lang="en-US" dirty="0">
                <a:solidFill>
                  <a:schemeClr val="tx1"/>
                </a:solidFill>
              </a:rPr>
              <a:t>http://</a:t>
            </a:r>
            <a:r>
              <a:rPr lang="en-US" dirty="0" err="1">
                <a:solidFill>
                  <a:schemeClr val="tx1"/>
                </a:solidFill>
              </a:rPr>
              <a:t>www.digitalcitizenship.net</a:t>
            </a:r>
            <a:r>
              <a:rPr lang="en-US" dirty="0">
                <a:solidFill>
                  <a:schemeClr val="tx1"/>
                </a:solidFill>
              </a:rPr>
              <a:t>/nine-</a:t>
            </a:r>
            <a:r>
              <a:rPr lang="en-US" dirty="0" err="1">
                <a:solidFill>
                  <a:schemeClr val="tx1"/>
                </a:solidFill>
              </a:rPr>
              <a:t>elements.html</a:t>
            </a:r>
            <a:endParaRPr lang="en-US" dirty="0"/>
          </a:p>
        </p:txBody>
      </p:sp>
      <p:pic>
        <p:nvPicPr>
          <p:cNvPr id="6" name="Picture 5">
            <a:extLst>
              <a:ext uri="{FF2B5EF4-FFF2-40B4-BE49-F238E27FC236}">
                <a16:creationId xmlns:a16="http://schemas.microsoft.com/office/drawing/2014/main" id="{1688FA63-F138-4EBA-8F61-65E41857FA6C}"/>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091237" y="3424237"/>
            <a:ext cx="9525" cy="9525"/>
          </a:xfrm>
          <a:prstGeom prst="rect">
            <a:avLst/>
          </a:prstGeom>
        </p:spPr>
      </p:pic>
      <p:pic>
        <p:nvPicPr>
          <p:cNvPr id="8" name="Picture 7">
            <a:extLst>
              <a:ext uri="{FF2B5EF4-FFF2-40B4-BE49-F238E27FC236}">
                <a16:creationId xmlns:a16="http://schemas.microsoft.com/office/drawing/2014/main" id="{5CB4838F-887A-405D-B3EF-A76E869D281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091237" y="3424237"/>
            <a:ext cx="9525" cy="9525"/>
          </a:xfrm>
          <a:prstGeom prst="rect">
            <a:avLst/>
          </a:prstGeom>
        </p:spPr>
      </p:pic>
      <p:pic>
        <p:nvPicPr>
          <p:cNvPr id="10" name="Picture 9">
            <a:extLst>
              <a:ext uri="{FF2B5EF4-FFF2-40B4-BE49-F238E27FC236}">
                <a16:creationId xmlns:a16="http://schemas.microsoft.com/office/drawing/2014/main" id="{25244310-F70D-4BE9-B090-B277253C9B97}"/>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091237" y="3424237"/>
            <a:ext cx="9525" cy="9525"/>
          </a:xfrm>
          <a:prstGeom prst="rect">
            <a:avLst/>
          </a:prstGeom>
        </p:spPr>
      </p:pic>
      <p:sp>
        <p:nvSpPr>
          <p:cNvPr id="13" name="AutoShape 2" descr="Image result for digital commerce">
            <a:extLst>
              <a:ext uri="{FF2B5EF4-FFF2-40B4-BE49-F238E27FC236}">
                <a16:creationId xmlns:a16="http://schemas.microsoft.com/office/drawing/2014/main" id="{E48587E9-E844-47B7-A921-D5143A60725A}"/>
              </a:ext>
            </a:extLst>
          </p:cNvPr>
          <p:cNvSpPr>
            <a:spLocks noChangeAspect="1" noChangeArrowheads="1"/>
          </p:cNvSpPr>
          <p:nvPr/>
        </p:nvSpPr>
        <p:spPr bwMode="auto">
          <a:xfrm>
            <a:off x="5459506" y="302493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7" name="Picture 16">
            <a:extLst>
              <a:ext uri="{FF2B5EF4-FFF2-40B4-BE49-F238E27FC236}">
                <a16:creationId xmlns:a16="http://schemas.microsoft.com/office/drawing/2014/main" id="{33BD4F14-2321-48D8-9E01-C1EB56E7A5D9}"/>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9429522" y="2342816"/>
            <a:ext cx="2656696" cy="1779828"/>
          </a:xfrm>
          <a:prstGeom prst="rect">
            <a:avLst/>
          </a:prstGeom>
        </p:spPr>
      </p:pic>
    </p:spTree>
    <p:extLst>
      <p:ext uri="{BB962C8B-B14F-4D97-AF65-F5344CB8AC3E}">
        <p14:creationId xmlns:p14="http://schemas.microsoft.com/office/powerpoint/2010/main" val="1831627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117" y="581026"/>
            <a:ext cx="8534400" cy="1507067"/>
          </a:xfrm>
        </p:spPr>
        <p:txBody>
          <a:bodyPr/>
          <a:lstStyle/>
          <a:p>
            <a:r>
              <a:rPr lang="en-US" dirty="0"/>
              <a:t>The Nine Elements of </a:t>
            </a:r>
            <a:br>
              <a:rPr lang="en-US" dirty="0"/>
            </a:br>
            <a:r>
              <a:rPr lang="en-US" dirty="0"/>
              <a:t>Digital Citizenship </a:t>
            </a:r>
          </a:p>
        </p:txBody>
      </p:sp>
      <p:sp>
        <p:nvSpPr>
          <p:cNvPr id="3" name="Content Placeholder 2"/>
          <p:cNvSpPr>
            <a:spLocks noGrp="1"/>
          </p:cNvSpPr>
          <p:nvPr>
            <p:ph idx="1"/>
          </p:nvPr>
        </p:nvSpPr>
        <p:spPr>
          <a:xfrm>
            <a:off x="323830" y="2146150"/>
            <a:ext cx="8410687" cy="3625327"/>
          </a:xfrm>
        </p:spPr>
        <p:txBody>
          <a:bodyPr>
            <a:normAutofit fontScale="77500" lnSpcReduction="20000"/>
          </a:bodyPr>
          <a:lstStyle/>
          <a:p>
            <a:pPr marL="0" lvl="0" indent="0" defTabSz="914400">
              <a:spcBef>
                <a:spcPts val="0"/>
              </a:spcBef>
              <a:spcAft>
                <a:spcPts val="0"/>
              </a:spcAft>
              <a:buClrTx/>
              <a:buSzTx/>
              <a:buNone/>
            </a:pPr>
            <a:r>
              <a:rPr lang="en-US" sz="4800" b="1" dirty="0">
                <a:solidFill>
                  <a:schemeClr val="tx1"/>
                </a:solidFill>
              </a:rPr>
              <a:t>3.   Digital Communication:</a:t>
            </a:r>
            <a:r>
              <a:rPr lang="en-US" dirty="0">
                <a:solidFill>
                  <a:schemeClr val="tx1"/>
                </a:solidFill>
              </a:rPr>
              <a:t>   </a:t>
            </a:r>
          </a:p>
          <a:p>
            <a:pPr marL="0" lvl="0" indent="0" defTabSz="914400">
              <a:spcBef>
                <a:spcPts val="0"/>
              </a:spcBef>
              <a:spcAft>
                <a:spcPts val="0"/>
              </a:spcAft>
              <a:buClrTx/>
              <a:buSzTx/>
              <a:buNone/>
            </a:pPr>
            <a:endParaRPr lang="en-US" dirty="0">
              <a:solidFill>
                <a:schemeClr val="tx1"/>
              </a:solidFill>
            </a:endParaRPr>
          </a:p>
          <a:p>
            <a:pPr marL="0" lvl="0" indent="0" defTabSz="914400">
              <a:spcBef>
                <a:spcPts val="0"/>
              </a:spcBef>
              <a:spcAft>
                <a:spcPts val="0"/>
              </a:spcAft>
              <a:buClrTx/>
              <a:buSzTx/>
              <a:buNone/>
            </a:pPr>
            <a:r>
              <a:rPr lang="en-US" i="1" dirty="0">
                <a:solidFill>
                  <a:schemeClr val="tx1"/>
                </a:solidFill>
              </a:rPr>
              <a:t>electronic exchange of information.</a:t>
            </a:r>
            <a:r>
              <a:rPr lang="en-US" dirty="0">
                <a:solidFill>
                  <a:schemeClr val="tx1"/>
                </a:solidFill>
              </a:rPr>
              <a:t> </a:t>
            </a:r>
          </a:p>
          <a:p>
            <a:pPr marL="0" lvl="0" indent="0" defTabSz="914400">
              <a:spcBef>
                <a:spcPts val="0"/>
              </a:spcBef>
              <a:spcAft>
                <a:spcPts val="0"/>
              </a:spcAft>
              <a:buClrTx/>
              <a:buSzTx/>
              <a:buNone/>
            </a:pPr>
            <a:br>
              <a:rPr lang="en-US" dirty="0">
                <a:solidFill>
                  <a:schemeClr val="tx1"/>
                </a:solidFill>
              </a:rPr>
            </a:br>
            <a:endParaRPr lang="en-US" dirty="0">
              <a:solidFill>
                <a:schemeClr val="tx1"/>
              </a:solidFill>
            </a:endParaRPr>
          </a:p>
          <a:p>
            <a:pPr marL="0" lvl="0" indent="0" defTabSz="914400">
              <a:spcBef>
                <a:spcPts val="0"/>
              </a:spcBef>
              <a:spcAft>
                <a:spcPts val="0"/>
              </a:spcAft>
              <a:buClrTx/>
              <a:buSzTx/>
              <a:buNone/>
            </a:pPr>
            <a:endParaRPr lang="en-US" dirty="0">
              <a:solidFill>
                <a:schemeClr val="tx1"/>
              </a:solidFill>
            </a:endParaRPr>
          </a:p>
          <a:p>
            <a:pPr marL="0" lvl="0" indent="0" defTabSz="914400">
              <a:spcBef>
                <a:spcPts val="0"/>
              </a:spcBef>
              <a:spcAft>
                <a:spcPts val="0"/>
              </a:spcAft>
              <a:buClrTx/>
              <a:buSzTx/>
              <a:buNone/>
            </a:pPr>
            <a:r>
              <a:rPr lang="en-US" dirty="0">
                <a:solidFill>
                  <a:schemeClr val="tx1"/>
                </a:solidFill>
              </a:rPr>
              <a:t>One of the significant changes within the digital revolution is a person’s ability to communicate with other people. In the 21st century, communication options have exploded to offer a wide variety of choices (e.g., e-mail, cellular phones, instant messaging).  The expanding digital communication options have changed everything because people are able to keep in constant communication with anyone else. Now everyone has the opportunity to communicate and collaborate with anyone from anywhere and anytime. Unfortunately, many users have not been taught how to make appropriate decisions when faced with so many different digital communication options.</a:t>
            </a:r>
          </a:p>
        </p:txBody>
      </p:sp>
      <p:sp>
        <p:nvSpPr>
          <p:cNvPr id="4" name="Rectangle 3"/>
          <p:cNvSpPr/>
          <p:nvPr/>
        </p:nvSpPr>
        <p:spPr>
          <a:xfrm>
            <a:off x="4766332" y="5973994"/>
            <a:ext cx="6043642" cy="369332"/>
          </a:xfrm>
          <a:prstGeom prst="rect">
            <a:avLst/>
          </a:prstGeom>
        </p:spPr>
        <p:txBody>
          <a:bodyPr wrap="none">
            <a:spAutoFit/>
          </a:bodyPr>
          <a:lstStyle/>
          <a:p>
            <a:r>
              <a:rPr lang="en-US" dirty="0">
                <a:solidFill>
                  <a:schemeClr val="tx1"/>
                </a:solidFill>
              </a:rPr>
              <a:t>http://</a:t>
            </a:r>
            <a:r>
              <a:rPr lang="en-US" dirty="0" err="1">
                <a:solidFill>
                  <a:schemeClr val="tx1"/>
                </a:solidFill>
              </a:rPr>
              <a:t>www.digitalcitizenship.net</a:t>
            </a:r>
            <a:r>
              <a:rPr lang="en-US" dirty="0">
                <a:solidFill>
                  <a:schemeClr val="tx1"/>
                </a:solidFill>
              </a:rPr>
              <a:t>/nine-</a:t>
            </a:r>
            <a:r>
              <a:rPr lang="en-US" dirty="0" err="1">
                <a:solidFill>
                  <a:schemeClr val="tx1"/>
                </a:solidFill>
              </a:rPr>
              <a:t>elements.html</a:t>
            </a:r>
            <a:endParaRPr lang="en-US" dirty="0"/>
          </a:p>
        </p:txBody>
      </p:sp>
      <p:pic>
        <p:nvPicPr>
          <p:cNvPr id="6" name="Picture 5">
            <a:extLst>
              <a:ext uri="{FF2B5EF4-FFF2-40B4-BE49-F238E27FC236}">
                <a16:creationId xmlns:a16="http://schemas.microsoft.com/office/drawing/2014/main" id="{C67A4BDB-8B32-4854-858C-462253C6383C}"/>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8624739" y="2391837"/>
            <a:ext cx="3243431" cy="1954252"/>
          </a:xfrm>
          <a:prstGeom prst="rect">
            <a:avLst/>
          </a:prstGeom>
        </p:spPr>
      </p:pic>
    </p:spTree>
    <p:extLst>
      <p:ext uri="{BB962C8B-B14F-4D97-AF65-F5344CB8AC3E}">
        <p14:creationId xmlns:p14="http://schemas.microsoft.com/office/powerpoint/2010/main" val="2136846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Nine Elements of </a:t>
            </a:r>
            <a:br>
              <a:rPr lang="en-US" dirty="0"/>
            </a:br>
            <a:r>
              <a:rPr lang="en-US" dirty="0"/>
              <a:t>Digital Citizenship </a:t>
            </a:r>
          </a:p>
        </p:txBody>
      </p:sp>
      <p:sp>
        <p:nvSpPr>
          <p:cNvPr id="3" name="Content Placeholder 2"/>
          <p:cNvSpPr>
            <a:spLocks noGrp="1"/>
          </p:cNvSpPr>
          <p:nvPr>
            <p:ph idx="1"/>
          </p:nvPr>
        </p:nvSpPr>
        <p:spPr>
          <a:xfrm>
            <a:off x="140951" y="2197249"/>
            <a:ext cx="8534400" cy="3801532"/>
          </a:xfrm>
        </p:spPr>
        <p:txBody>
          <a:bodyPr>
            <a:normAutofit fontScale="70000" lnSpcReduction="20000"/>
          </a:bodyPr>
          <a:lstStyle/>
          <a:p>
            <a:pPr marL="0" indent="0">
              <a:buNone/>
            </a:pPr>
            <a:r>
              <a:rPr lang="en-US" sz="5700" b="1" dirty="0">
                <a:solidFill>
                  <a:schemeClr val="tx1"/>
                </a:solidFill>
              </a:rPr>
              <a:t>4.   Digital Literacy:</a:t>
            </a:r>
            <a:r>
              <a:rPr lang="en-US" sz="5700" dirty="0">
                <a:solidFill>
                  <a:schemeClr val="tx1"/>
                </a:solidFill>
              </a:rPr>
              <a:t>   </a:t>
            </a:r>
          </a:p>
          <a:p>
            <a:pPr marL="0" indent="0">
              <a:buNone/>
            </a:pPr>
            <a:r>
              <a:rPr lang="en-US" i="1" dirty="0">
                <a:solidFill>
                  <a:schemeClr val="tx1"/>
                </a:solidFill>
              </a:rPr>
              <a:t>process of teaching and learning about technology and the use of technology.</a:t>
            </a:r>
            <a:r>
              <a:rPr lang="en-US" dirty="0">
                <a:solidFill>
                  <a:schemeClr val="tx1"/>
                </a:solidFill>
              </a:rPr>
              <a:t> </a:t>
            </a:r>
          </a:p>
          <a:p>
            <a:pPr marL="0" indent="0">
              <a:buNone/>
            </a:pPr>
            <a:br>
              <a:rPr lang="en-US" dirty="0">
                <a:solidFill>
                  <a:schemeClr val="tx1"/>
                </a:solidFill>
              </a:rPr>
            </a:br>
            <a:r>
              <a:rPr lang="en-US" dirty="0">
                <a:solidFill>
                  <a:schemeClr val="tx1"/>
                </a:solidFill>
              </a:rPr>
              <a:t>A renewed focus must be made on what technologies must be taught as well as how it should be used. New technologies are finding their way into the work place that are not being used in schools (e.g., Videoconferencing, online sharing spaces such as wikis). In addition, workers in many different occupations need immediate information (just-in-time information). This process requires sophisticated searching and processing skills (i.e., information literacy). Learners must be taught how to learn in a digital society. In other words, learners must be taught to learn anything, anytime, anywhere.  As new technologies emerge, learners need to learn how to use that technology quickly and appropriately. Digital Citizenship involves educating people in a new way— these individuals need a high degree of information literacy skills. </a:t>
            </a:r>
          </a:p>
        </p:txBody>
      </p:sp>
      <p:sp>
        <p:nvSpPr>
          <p:cNvPr id="4" name="Rectangle 3"/>
          <p:cNvSpPr/>
          <p:nvPr/>
        </p:nvSpPr>
        <p:spPr>
          <a:xfrm>
            <a:off x="6051998" y="5814115"/>
            <a:ext cx="6043642" cy="369332"/>
          </a:xfrm>
          <a:prstGeom prst="rect">
            <a:avLst/>
          </a:prstGeom>
        </p:spPr>
        <p:txBody>
          <a:bodyPr wrap="none">
            <a:spAutoFit/>
          </a:bodyPr>
          <a:lstStyle/>
          <a:p>
            <a:r>
              <a:rPr lang="en-US" dirty="0">
                <a:solidFill>
                  <a:schemeClr val="tx1"/>
                </a:solidFill>
              </a:rPr>
              <a:t>http://</a:t>
            </a:r>
            <a:r>
              <a:rPr lang="en-US" dirty="0" err="1">
                <a:solidFill>
                  <a:schemeClr val="tx1"/>
                </a:solidFill>
              </a:rPr>
              <a:t>www.digitalcitizenship.net</a:t>
            </a:r>
            <a:r>
              <a:rPr lang="en-US" dirty="0">
                <a:solidFill>
                  <a:schemeClr val="tx1"/>
                </a:solidFill>
              </a:rPr>
              <a:t>/nine-</a:t>
            </a:r>
            <a:r>
              <a:rPr lang="en-US" dirty="0" err="1">
                <a:solidFill>
                  <a:schemeClr val="tx1"/>
                </a:solidFill>
              </a:rPr>
              <a:t>elements.html</a:t>
            </a:r>
            <a:endParaRPr lang="en-US" dirty="0"/>
          </a:p>
        </p:txBody>
      </p:sp>
      <p:pic>
        <p:nvPicPr>
          <p:cNvPr id="10" name="Picture 9">
            <a:extLst>
              <a:ext uri="{FF2B5EF4-FFF2-40B4-BE49-F238E27FC236}">
                <a16:creationId xmlns:a16="http://schemas.microsoft.com/office/drawing/2014/main" id="{9D8B9083-A7C2-4526-ABDD-FDA25698A42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073818" y="2468880"/>
            <a:ext cx="2782645" cy="2086984"/>
          </a:xfrm>
          <a:prstGeom prst="rect">
            <a:avLst/>
          </a:prstGeom>
        </p:spPr>
      </p:pic>
    </p:spTree>
    <p:extLst>
      <p:ext uri="{BB962C8B-B14F-4D97-AF65-F5344CB8AC3E}">
        <p14:creationId xmlns:p14="http://schemas.microsoft.com/office/powerpoint/2010/main" val="975180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Nine Elements of </a:t>
            </a:r>
            <a:br>
              <a:rPr lang="en-US" dirty="0"/>
            </a:br>
            <a:r>
              <a:rPr lang="en-US" dirty="0"/>
              <a:t>Digital Citizenship </a:t>
            </a:r>
          </a:p>
        </p:txBody>
      </p:sp>
      <p:sp>
        <p:nvSpPr>
          <p:cNvPr id="3" name="Content Placeholder 2"/>
          <p:cNvSpPr>
            <a:spLocks noGrp="1"/>
          </p:cNvSpPr>
          <p:nvPr>
            <p:ph idx="1"/>
          </p:nvPr>
        </p:nvSpPr>
        <p:spPr/>
        <p:txBody>
          <a:bodyPr>
            <a:normAutofit fontScale="92500" lnSpcReduction="20000"/>
          </a:bodyPr>
          <a:lstStyle/>
          <a:p>
            <a:pPr marL="0" indent="0">
              <a:buNone/>
            </a:pPr>
            <a:r>
              <a:rPr lang="en-US" sz="4400" b="1" dirty="0">
                <a:solidFill>
                  <a:schemeClr val="tx1"/>
                </a:solidFill>
              </a:rPr>
              <a:t>5. Digital Etiquette:</a:t>
            </a:r>
            <a:r>
              <a:rPr lang="en-US" sz="4400" dirty="0">
                <a:solidFill>
                  <a:schemeClr val="tx1"/>
                </a:solidFill>
              </a:rPr>
              <a:t>  </a:t>
            </a:r>
          </a:p>
          <a:p>
            <a:pPr marL="0" indent="0">
              <a:buNone/>
            </a:pPr>
            <a:r>
              <a:rPr lang="en-US" dirty="0">
                <a:solidFill>
                  <a:schemeClr val="tx1"/>
                </a:solidFill>
              </a:rPr>
              <a:t> </a:t>
            </a:r>
            <a:r>
              <a:rPr lang="en-US" i="1" dirty="0">
                <a:solidFill>
                  <a:schemeClr val="tx1"/>
                </a:solidFill>
              </a:rPr>
              <a:t>electronic standards of conduct or procedure.</a:t>
            </a:r>
          </a:p>
          <a:p>
            <a:pPr marL="0" indent="0">
              <a:buNone/>
            </a:pPr>
            <a:br>
              <a:rPr lang="en-US" dirty="0">
                <a:solidFill>
                  <a:schemeClr val="tx1"/>
                </a:solidFill>
              </a:rPr>
            </a:br>
            <a:r>
              <a:rPr lang="en-US" dirty="0">
                <a:solidFill>
                  <a:schemeClr val="tx1"/>
                </a:solidFill>
              </a:rPr>
              <a:t>Technology users often see this area as one of the most pressing problems when dealing with Digital Citizenship. We recognize inappropriate behavior when we see it, but before people use technology they do not learn digital etiquette (i.e., appropriate conduct).   Many people feel uncomfortable talking to others about their digital etiquette.  Often rules and regulations are created or the technology is simply banned to stop inappropriate use. It is not enough to create rules and policy, we must teach everyone to become responsible digital citizens in this new society.</a:t>
            </a:r>
            <a:br>
              <a:rPr lang="en-US" dirty="0">
                <a:solidFill>
                  <a:schemeClr val="tx1"/>
                </a:solidFill>
              </a:rPr>
            </a:br>
            <a:endParaRPr lang="en-US" dirty="0">
              <a:solidFill>
                <a:schemeClr val="tx1"/>
              </a:solidFill>
            </a:endParaRPr>
          </a:p>
        </p:txBody>
      </p:sp>
      <p:sp>
        <p:nvSpPr>
          <p:cNvPr id="4" name="Rectangle 3"/>
          <p:cNvSpPr/>
          <p:nvPr/>
        </p:nvSpPr>
        <p:spPr>
          <a:xfrm>
            <a:off x="5979256" y="6069564"/>
            <a:ext cx="6043642" cy="369332"/>
          </a:xfrm>
          <a:prstGeom prst="rect">
            <a:avLst/>
          </a:prstGeom>
        </p:spPr>
        <p:txBody>
          <a:bodyPr wrap="none">
            <a:spAutoFit/>
          </a:bodyPr>
          <a:lstStyle/>
          <a:p>
            <a:r>
              <a:rPr lang="en-US" dirty="0">
                <a:solidFill>
                  <a:schemeClr val="tx1"/>
                </a:solidFill>
              </a:rPr>
              <a:t>http://</a:t>
            </a:r>
            <a:r>
              <a:rPr lang="en-US" dirty="0" err="1">
                <a:solidFill>
                  <a:schemeClr val="tx1"/>
                </a:solidFill>
              </a:rPr>
              <a:t>www.digitalcitizenship.net</a:t>
            </a:r>
            <a:r>
              <a:rPr lang="en-US" dirty="0">
                <a:solidFill>
                  <a:schemeClr val="tx1"/>
                </a:solidFill>
              </a:rPr>
              <a:t>/nine-</a:t>
            </a:r>
            <a:r>
              <a:rPr lang="en-US" dirty="0" err="1">
                <a:solidFill>
                  <a:schemeClr val="tx1"/>
                </a:solidFill>
              </a:rPr>
              <a:t>elements.html</a:t>
            </a:r>
            <a:endParaRPr lang="en-US" dirty="0"/>
          </a:p>
        </p:txBody>
      </p:sp>
      <p:pic>
        <p:nvPicPr>
          <p:cNvPr id="6" name="Picture 5">
            <a:extLst>
              <a:ext uri="{FF2B5EF4-FFF2-40B4-BE49-F238E27FC236}">
                <a16:creationId xmlns:a16="http://schemas.microsoft.com/office/drawing/2014/main" id="{4839780E-B738-4771-8B38-22D64D7BCF93}"/>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0181440" y="2264709"/>
            <a:ext cx="1790700" cy="1790700"/>
          </a:xfrm>
          <a:prstGeom prst="rect">
            <a:avLst/>
          </a:prstGeom>
        </p:spPr>
      </p:pic>
    </p:spTree>
    <p:extLst>
      <p:ext uri="{BB962C8B-B14F-4D97-AF65-F5344CB8AC3E}">
        <p14:creationId xmlns:p14="http://schemas.microsoft.com/office/powerpoint/2010/main" val="269469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Nine Elements of </a:t>
            </a:r>
            <a:br>
              <a:rPr lang="en-US" dirty="0"/>
            </a:br>
            <a:r>
              <a:rPr lang="en-US" dirty="0"/>
              <a:t>Digital Citizenship </a:t>
            </a:r>
          </a:p>
        </p:txBody>
      </p:sp>
      <p:sp>
        <p:nvSpPr>
          <p:cNvPr id="3" name="Content Placeholder 2"/>
          <p:cNvSpPr>
            <a:spLocks noGrp="1"/>
          </p:cNvSpPr>
          <p:nvPr>
            <p:ph idx="1"/>
          </p:nvPr>
        </p:nvSpPr>
        <p:spPr>
          <a:xfrm>
            <a:off x="174712" y="2505456"/>
            <a:ext cx="9613861" cy="3599316"/>
          </a:xfrm>
        </p:spPr>
        <p:txBody>
          <a:bodyPr>
            <a:normAutofit fontScale="85000" lnSpcReduction="20000"/>
          </a:bodyPr>
          <a:lstStyle/>
          <a:p>
            <a:pPr marL="0" indent="0">
              <a:buNone/>
            </a:pPr>
            <a:r>
              <a:rPr lang="en-US" sz="4800" b="1" dirty="0">
                <a:solidFill>
                  <a:schemeClr val="tx1"/>
                </a:solidFill>
              </a:rPr>
              <a:t>6.   Digital Law:</a:t>
            </a:r>
            <a:r>
              <a:rPr lang="en-US" sz="4800" dirty="0">
                <a:solidFill>
                  <a:schemeClr val="tx1"/>
                </a:solidFill>
              </a:rPr>
              <a:t> </a:t>
            </a:r>
            <a:r>
              <a:rPr lang="en-US" dirty="0">
                <a:solidFill>
                  <a:schemeClr val="tx1"/>
                </a:solidFill>
              </a:rPr>
              <a:t> </a:t>
            </a:r>
          </a:p>
          <a:p>
            <a:pPr marL="0" indent="0">
              <a:buNone/>
            </a:pPr>
            <a:r>
              <a:rPr lang="en-US" dirty="0">
                <a:solidFill>
                  <a:schemeClr val="tx1"/>
                </a:solidFill>
              </a:rPr>
              <a:t> </a:t>
            </a:r>
            <a:r>
              <a:rPr lang="en-US" i="1" dirty="0">
                <a:solidFill>
                  <a:schemeClr val="tx1"/>
                </a:solidFill>
              </a:rPr>
              <a:t>electronic responsibility for actions and deeds</a:t>
            </a:r>
          </a:p>
          <a:p>
            <a:pPr marL="0" indent="0">
              <a:buNone/>
            </a:pPr>
            <a:r>
              <a:rPr lang="en-US" dirty="0">
                <a:solidFill>
                  <a:schemeClr val="tx1"/>
                </a:solidFill>
              </a:rPr>
              <a:t> </a:t>
            </a:r>
            <a:br>
              <a:rPr lang="en-US" dirty="0">
                <a:solidFill>
                  <a:schemeClr val="tx1"/>
                </a:solidFill>
              </a:rPr>
            </a:br>
            <a:r>
              <a:rPr lang="en-US" dirty="0">
                <a:solidFill>
                  <a:schemeClr val="tx1"/>
                </a:solidFill>
              </a:rPr>
              <a:t>Digital law deals with the ethics of technology within a society. Unethical use manifests itself in form of theft and/or crime. Ethical use manifests itself in the form of abiding by the laws of society. Users need to understand that stealing or causing damage to other people’s work, identity, or property online is a crime. There are certain rules of society that users need to be aware in a ethical society. These laws apply to anyone who works or plays online. Hacking into others information, downloading illegal music, plagiarizing, creating destructive worms, viruses or creating Trojan Horses, sending spam, or stealing anyone’s identify or property is unethical.</a:t>
            </a:r>
            <a:br>
              <a:rPr lang="en-US" dirty="0">
                <a:solidFill>
                  <a:schemeClr val="tx1"/>
                </a:solidFill>
              </a:rPr>
            </a:br>
            <a:endParaRPr lang="en-US" dirty="0">
              <a:solidFill>
                <a:schemeClr val="tx1"/>
              </a:solidFill>
            </a:endParaRPr>
          </a:p>
        </p:txBody>
      </p:sp>
      <p:pic>
        <p:nvPicPr>
          <p:cNvPr id="9" name="Picture 8">
            <a:extLst>
              <a:ext uri="{FF2B5EF4-FFF2-40B4-BE49-F238E27FC236}">
                <a16:creationId xmlns:a16="http://schemas.microsoft.com/office/drawing/2014/main" id="{F393014F-FC9C-4635-9089-591698A184D5}"/>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708777" y="2253689"/>
            <a:ext cx="2233209" cy="2051425"/>
          </a:xfrm>
          <a:prstGeom prst="rect">
            <a:avLst/>
          </a:prstGeom>
        </p:spPr>
      </p:pic>
      <p:sp>
        <p:nvSpPr>
          <p:cNvPr id="10" name="Rectangle 9">
            <a:extLst>
              <a:ext uri="{FF2B5EF4-FFF2-40B4-BE49-F238E27FC236}">
                <a16:creationId xmlns:a16="http://schemas.microsoft.com/office/drawing/2014/main" id="{87D98BEB-9075-459C-B691-2F2EC7DE320F}"/>
              </a:ext>
            </a:extLst>
          </p:cNvPr>
          <p:cNvSpPr/>
          <p:nvPr/>
        </p:nvSpPr>
        <p:spPr>
          <a:xfrm>
            <a:off x="4727311" y="5670184"/>
            <a:ext cx="5889369" cy="369332"/>
          </a:xfrm>
          <a:prstGeom prst="rect">
            <a:avLst/>
          </a:prstGeom>
        </p:spPr>
        <p:txBody>
          <a:bodyPr wrap="none">
            <a:spAutoFit/>
          </a:bodyPr>
          <a:lstStyle/>
          <a:p>
            <a:r>
              <a:rPr lang="en-US" dirty="0"/>
              <a:t>http://www.digitalcitizenship.net/nine-elements.html</a:t>
            </a:r>
          </a:p>
        </p:txBody>
      </p:sp>
    </p:spTree>
    <p:extLst>
      <p:ext uri="{BB962C8B-B14F-4D97-AF65-F5344CB8AC3E}">
        <p14:creationId xmlns:p14="http://schemas.microsoft.com/office/powerpoint/2010/main" val="2081635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Nine Elements of </a:t>
            </a:r>
            <a:br>
              <a:rPr lang="en-US" dirty="0"/>
            </a:br>
            <a:r>
              <a:rPr lang="en-US" dirty="0"/>
              <a:t>Digital Citizenship </a:t>
            </a:r>
          </a:p>
        </p:txBody>
      </p:sp>
      <p:sp>
        <p:nvSpPr>
          <p:cNvPr id="3" name="Content Placeholder 2"/>
          <p:cNvSpPr>
            <a:spLocks noGrp="1"/>
          </p:cNvSpPr>
          <p:nvPr>
            <p:ph idx="1"/>
          </p:nvPr>
        </p:nvSpPr>
        <p:spPr>
          <a:xfrm>
            <a:off x="339967" y="2423160"/>
            <a:ext cx="9670023" cy="3615267"/>
          </a:xfrm>
        </p:spPr>
        <p:txBody>
          <a:bodyPr>
            <a:normAutofit fontScale="92500" lnSpcReduction="10000"/>
          </a:bodyPr>
          <a:lstStyle/>
          <a:p>
            <a:pPr marL="0" indent="0">
              <a:buNone/>
            </a:pPr>
            <a:r>
              <a:rPr lang="en-US" sz="4400" b="1" dirty="0">
                <a:solidFill>
                  <a:schemeClr val="tx1"/>
                </a:solidFill>
              </a:rPr>
              <a:t>7.   Digital Rights &amp; Responsibilities:</a:t>
            </a:r>
            <a:r>
              <a:rPr lang="en-US" sz="4400" dirty="0">
                <a:solidFill>
                  <a:schemeClr val="tx1"/>
                </a:solidFill>
              </a:rPr>
              <a:t>   </a:t>
            </a:r>
          </a:p>
          <a:p>
            <a:pPr marL="0" indent="0">
              <a:buNone/>
            </a:pPr>
            <a:r>
              <a:rPr lang="en-US" i="1" dirty="0">
                <a:solidFill>
                  <a:schemeClr val="tx1"/>
                </a:solidFill>
              </a:rPr>
              <a:t>those freedoms extended to everyone in a digital world.</a:t>
            </a:r>
          </a:p>
          <a:p>
            <a:pPr marL="0" indent="0">
              <a:buNone/>
            </a:pPr>
            <a:br>
              <a:rPr lang="en-US" dirty="0">
                <a:solidFill>
                  <a:schemeClr val="tx1"/>
                </a:solidFill>
              </a:rPr>
            </a:br>
            <a:r>
              <a:rPr lang="en-US" dirty="0">
                <a:solidFill>
                  <a:schemeClr val="tx1"/>
                </a:solidFill>
              </a:rPr>
              <a:t>Just as in the American Constitution where there is a Bill of Rights, there is a basic set of rights extended to every digital citizen. Digital citizens have the right to privacy, free speech, etc. Basic digital rights must be addressed, discussed, and understood in the digital world.  With these rights also come responsibilities as well.  Users must help define how the technology is to be used in an appropriate manner.  In a digital society these two areas must work together for everyone to be productive. </a:t>
            </a:r>
          </a:p>
        </p:txBody>
      </p:sp>
      <p:sp>
        <p:nvSpPr>
          <p:cNvPr id="4" name="Rectangle 3">
            <a:extLst>
              <a:ext uri="{FF2B5EF4-FFF2-40B4-BE49-F238E27FC236}">
                <a16:creationId xmlns:a16="http://schemas.microsoft.com/office/drawing/2014/main" id="{105430D9-5919-4336-A669-3025E96C327F}"/>
              </a:ext>
            </a:extLst>
          </p:cNvPr>
          <p:cNvSpPr/>
          <p:nvPr/>
        </p:nvSpPr>
        <p:spPr>
          <a:xfrm>
            <a:off x="5362012" y="6329786"/>
            <a:ext cx="5889369" cy="369332"/>
          </a:xfrm>
          <a:prstGeom prst="rect">
            <a:avLst/>
          </a:prstGeom>
        </p:spPr>
        <p:txBody>
          <a:bodyPr wrap="none">
            <a:spAutoFit/>
          </a:bodyPr>
          <a:lstStyle/>
          <a:p>
            <a:r>
              <a:rPr lang="en-US" dirty="0"/>
              <a:t>http://www.digitalcitizenship.net/nine-elements.html</a:t>
            </a:r>
          </a:p>
        </p:txBody>
      </p:sp>
      <p:pic>
        <p:nvPicPr>
          <p:cNvPr id="6" name="Picture 5">
            <a:extLst>
              <a:ext uri="{FF2B5EF4-FFF2-40B4-BE49-F238E27FC236}">
                <a16:creationId xmlns:a16="http://schemas.microsoft.com/office/drawing/2014/main" id="{5AB4E5E4-4FBD-4DCF-81F4-824E14E9E525}"/>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0171355" y="2124635"/>
            <a:ext cx="1969826" cy="2286000"/>
          </a:xfrm>
          <a:prstGeom prst="rect">
            <a:avLst/>
          </a:prstGeom>
        </p:spPr>
      </p:pic>
    </p:spTree>
    <p:extLst>
      <p:ext uri="{BB962C8B-B14F-4D97-AF65-F5344CB8AC3E}">
        <p14:creationId xmlns:p14="http://schemas.microsoft.com/office/powerpoint/2010/main" val="1399973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391" y="625165"/>
            <a:ext cx="8534400" cy="1507067"/>
          </a:xfrm>
        </p:spPr>
        <p:txBody>
          <a:bodyPr/>
          <a:lstStyle/>
          <a:p>
            <a:r>
              <a:rPr lang="en-US" dirty="0"/>
              <a:t>The Nine Elements of </a:t>
            </a:r>
            <a:br>
              <a:rPr lang="en-US" dirty="0"/>
            </a:br>
            <a:r>
              <a:rPr lang="en-US" dirty="0"/>
              <a:t>Digital Citizenship </a:t>
            </a:r>
          </a:p>
        </p:txBody>
      </p:sp>
      <p:sp>
        <p:nvSpPr>
          <p:cNvPr id="3" name="Content Placeholder 2"/>
          <p:cNvSpPr>
            <a:spLocks noGrp="1"/>
          </p:cNvSpPr>
          <p:nvPr>
            <p:ph idx="1"/>
          </p:nvPr>
        </p:nvSpPr>
        <p:spPr>
          <a:xfrm>
            <a:off x="163954" y="2256190"/>
            <a:ext cx="9613861" cy="3599316"/>
          </a:xfrm>
        </p:spPr>
        <p:txBody>
          <a:bodyPr>
            <a:normAutofit fontScale="92500" lnSpcReduction="10000"/>
          </a:bodyPr>
          <a:lstStyle/>
          <a:p>
            <a:pPr marL="0" indent="0">
              <a:buNone/>
            </a:pPr>
            <a:r>
              <a:rPr lang="en-US" sz="4400" b="1" dirty="0">
                <a:solidFill>
                  <a:schemeClr val="tx1"/>
                </a:solidFill>
              </a:rPr>
              <a:t>8.   Digital Health &amp; Wellness:</a:t>
            </a:r>
            <a:r>
              <a:rPr lang="en-US" sz="4400" dirty="0">
                <a:solidFill>
                  <a:schemeClr val="tx1"/>
                </a:solidFill>
              </a:rPr>
              <a:t> </a:t>
            </a:r>
            <a:r>
              <a:rPr lang="en-US" dirty="0">
                <a:solidFill>
                  <a:schemeClr val="tx1"/>
                </a:solidFill>
              </a:rPr>
              <a:t> </a:t>
            </a:r>
          </a:p>
          <a:p>
            <a:pPr marL="0" indent="0">
              <a:buNone/>
            </a:pPr>
            <a:r>
              <a:rPr lang="en-US" dirty="0">
                <a:solidFill>
                  <a:schemeClr val="tx1"/>
                </a:solidFill>
              </a:rPr>
              <a:t> </a:t>
            </a:r>
            <a:r>
              <a:rPr lang="en-US" i="1" dirty="0">
                <a:solidFill>
                  <a:schemeClr val="tx1"/>
                </a:solidFill>
              </a:rPr>
              <a:t>physical and psychological well-being in a digital technology world.</a:t>
            </a:r>
          </a:p>
          <a:p>
            <a:pPr marL="0" indent="0">
              <a:buNone/>
            </a:pPr>
            <a:br>
              <a:rPr lang="en-US" dirty="0">
                <a:solidFill>
                  <a:schemeClr val="tx1"/>
                </a:solidFill>
              </a:rPr>
            </a:br>
            <a:r>
              <a:rPr lang="en-US" dirty="0">
                <a:solidFill>
                  <a:schemeClr val="tx1"/>
                </a:solidFill>
              </a:rPr>
              <a:t>Eye safety, repetitive stress syndrome, and sound ergonomic practices are issues that need to be addressed in a new technological world.  Beyond the physical issues are those of the psychological issues that are becoming more prevalent such as Internet addiction.  Users need to be taught that there are inherent dangers of technology. Digital Citizenship includes a culture where technology users are taught how to protect themselves through education and training. </a:t>
            </a:r>
          </a:p>
        </p:txBody>
      </p:sp>
      <p:sp>
        <p:nvSpPr>
          <p:cNvPr id="4" name="Rectangle 3"/>
          <p:cNvSpPr/>
          <p:nvPr/>
        </p:nvSpPr>
        <p:spPr>
          <a:xfrm>
            <a:off x="5660368" y="6140830"/>
            <a:ext cx="6043642" cy="369332"/>
          </a:xfrm>
          <a:prstGeom prst="rect">
            <a:avLst/>
          </a:prstGeom>
        </p:spPr>
        <p:txBody>
          <a:bodyPr wrap="none">
            <a:spAutoFit/>
          </a:bodyPr>
          <a:lstStyle/>
          <a:p>
            <a:r>
              <a:rPr lang="en-US" dirty="0">
                <a:solidFill>
                  <a:schemeClr val="tx1"/>
                </a:solidFill>
              </a:rPr>
              <a:t>http://</a:t>
            </a:r>
            <a:r>
              <a:rPr lang="en-US" dirty="0" err="1">
                <a:solidFill>
                  <a:schemeClr val="tx1"/>
                </a:solidFill>
              </a:rPr>
              <a:t>www.digitalcitizenship.net</a:t>
            </a:r>
            <a:r>
              <a:rPr lang="en-US" dirty="0">
                <a:solidFill>
                  <a:schemeClr val="tx1"/>
                </a:solidFill>
              </a:rPr>
              <a:t>/nine-</a:t>
            </a:r>
            <a:r>
              <a:rPr lang="en-US" dirty="0" err="1">
                <a:solidFill>
                  <a:schemeClr val="tx1"/>
                </a:solidFill>
              </a:rPr>
              <a:t>elements.html</a:t>
            </a:r>
            <a:endParaRPr lang="en-US" dirty="0"/>
          </a:p>
        </p:txBody>
      </p:sp>
      <p:pic>
        <p:nvPicPr>
          <p:cNvPr id="6" name="Picture 5">
            <a:extLst>
              <a:ext uri="{FF2B5EF4-FFF2-40B4-BE49-F238E27FC236}">
                <a16:creationId xmlns:a16="http://schemas.microsoft.com/office/drawing/2014/main" id="{27A7AB41-E3CB-4DF1-969D-2425D7F7C153}"/>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091237" y="3424237"/>
            <a:ext cx="9525" cy="9525"/>
          </a:xfrm>
          <a:prstGeom prst="rect">
            <a:avLst/>
          </a:prstGeom>
        </p:spPr>
      </p:pic>
      <p:pic>
        <p:nvPicPr>
          <p:cNvPr id="8" name="Picture 7">
            <a:extLst>
              <a:ext uri="{FF2B5EF4-FFF2-40B4-BE49-F238E27FC236}">
                <a16:creationId xmlns:a16="http://schemas.microsoft.com/office/drawing/2014/main" id="{1EFAA8C8-06F4-43DB-B9F8-DC266B451B33}"/>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9889231" y="2254008"/>
            <a:ext cx="2138814" cy="2138814"/>
          </a:xfrm>
          <a:prstGeom prst="rect">
            <a:avLst/>
          </a:prstGeom>
        </p:spPr>
      </p:pic>
    </p:spTree>
    <p:extLst>
      <p:ext uri="{BB962C8B-B14F-4D97-AF65-F5344CB8AC3E}">
        <p14:creationId xmlns:p14="http://schemas.microsoft.com/office/powerpoint/2010/main" val="1529593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Nine Elements of </a:t>
            </a:r>
            <a:br>
              <a:rPr lang="en-US" dirty="0"/>
            </a:br>
            <a:r>
              <a:rPr lang="en-US" dirty="0"/>
              <a:t>Digital Citizenship </a:t>
            </a:r>
          </a:p>
        </p:txBody>
      </p:sp>
      <p:sp>
        <p:nvSpPr>
          <p:cNvPr id="3" name="Content Placeholder 2"/>
          <p:cNvSpPr>
            <a:spLocks noGrp="1"/>
          </p:cNvSpPr>
          <p:nvPr>
            <p:ph idx="1"/>
          </p:nvPr>
        </p:nvSpPr>
        <p:spPr>
          <a:xfrm>
            <a:off x="350724" y="2217234"/>
            <a:ext cx="9624560" cy="3615267"/>
          </a:xfrm>
        </p:spPr>
        <p:txBody>
          <a:bodyPr>
            <a:normAutofit fontScale="85000" lnSpcReduction="10000"/>
          </a:bodyPr>
          <a:lstStyle/>
          <a:p>
            <a:pPr marL="0" indent="0">
              <a:buNone/>
            </a:pPr>
            <a:r>
              <a:rPr lang="en-US" sz="4800" b="1" dirty="0">
                <a:solidFill>
                  <a:schemeClr val="tx1"/>
                </a:solidFill>
              </a:rPr>
              <a:t>9.   Digital Security (self-protection):</a:t>
            </a:r>
            <a:r>
              <a:rPr lang="en-US" sz="4800" dirty="0">
                <a:solidFill>
                  <a:schemeClr val="tx1"/>
                </a:solidFill>
              </a:rPr>
              <a:t>  </a:t>
            </a:r>
            <a:r>
              <a:rPr lang="en-US" dirty="0">
                <a:solidFill>
                  <a:schemeClr val="tx1"/>
                </a:solidFill>
              </a:rPr>
              <a:t> </a:t>
            </a:r>
          </a:p>
          <a:p>
            <a:pPr marL="0" indent="0">
              <a:buNone/>
            </a:pPr>
            <a:r>
              <a:rPr lang="en-US" i="1" dirty="0">
                <a:solidFill>
                  <a:schemeClr val="tx1"/>
                </a:solidFill>
              </a:rPr>
              <a:t>electronic precautions to guarantee safety.</a:t>
            </a:r>
            <a:r>
              <a:rPr lang="en-US" dirty="0">
                <a:solidFill>
                  <a:schemeClr val="tx1"/>
                </a:solidFill>
              </a:rPr>
              <a:t> </a:t>
            </a:r>
          </a:p>
          <a:p>
            <a:pPr marL="0" indent="0">
              <a:buNone/>
            </a:pPr>
            <a:br>
              <a:rPr lang="en-US" dirty="0">
                <a:solidFill>
                  <a:schemeClr val="tx1"/>
                </a:solidFill>
              </a:rPr>
            </a:br>
            <a:r>
              <a:rPr lang="en-US" dirty="0">
                <a:solidFill>
                  <a:schemeClr val="tx1"/>
                </a:solidFill>
              </a:rPr>
              <a:t>In any society, there are individuals who steal, deface, or disrupt other people. The same is true for the digital community. It is not enough to trust other members in the community for our own safety. In our own homes, we put locks on our doors and fire alarms in our houses to provide some level of protection. The same must be true for the digital security. We need to have virus protection, backups of data, and surge control of our equipment. As responsible citizens, we must protect our information from outside forces that might cause disruption or harm.</a:t>
            </a:r>
            <a:br>
              <a:rPr lang="en-US" dirty="0">
                <a:solidFill>
                  <a:schemeClr val="tx1"/>
                </a:solidFill>
              </a:rPr>
            </a:br>
            <a:endParaRPr lang="en-US" dirty="0">
              <a:solidFill>
                <a:schemeClr val="tx1"/>
              </a:solidFill>
            </a:endParaRPr>
          </a:p>
        </p:txBody>
      </p:sp>
      <p:sp>
        <p:nvSpPr>
          <p:cNvPr id="4" name="Rectangle 3"/>
          <p:cNvSpPr/>
          <p:nvPr/>
        </p:nvSpPr>
        <p:spPr>
          <a:xfrm>
            <a:off x="4806800" y="5789122"/>
            <a:ext cx="6043642" cy="369332"/>
          </a:xfrm>
          <a:prstGeom prst="rect">
            <a:avLst/>
          </a:prstGeom>
        </p:spPr>
        <p:txBody>
          <a:bodyPr wrap="none">
            <a:spAutoFit/>
          </a:bodyPr>
          <a:lstStyle/>
          <a:p>
            <a:r>
              <a:rPr lang="en-US" dirty="0">
                <a:solidFill>
                  <a:schemeClr val="tx1"/>
                </a:solidFill>
              </a:rPr>
              <a:t>http://</a:t>
            </a:r>
            <a:r>
              <a:rPr lang="en-US" dirty="0" err="1">
                <a:solidFill>
                  <a:schemeClr val="tx1"/>
                </a:solidFill>
              </a:rPr>
              <a:t>www.digitalcitizenship.net</a:t>
            </a:r>
            <a:r>
              <a:rPr lang="en-US" dirty="0">
                <a:solidFill>
                  <a:schemeClr val="tx1"/>
                </a:solidFill>
              </a:rPr>
              <a:t>/nine-</a:t>
            </a:r>
            <a:r>
              <a:rPr lang="en-US" dirty="0" err="1">
                <a:solidFill>
                  <a:schemeClr val="tx1"/>
                </a:solidFill>
              </a:rPr>
              <a:t>elements.html</a:t>
            </a:r>
            <a:endParaRPr lang="en-US" dirty="0"/>
          </a:p>
        </p:txBody>
      </p:sp>
      <p:pic>
        <p:nvPicPr>
          <p:cNvPr id="6" name="Picture 5">
            <a:extLst>
              <a:ext uri="{FF2B5EF4-FFF2-40B4-BE49-F238E27FC236}">
                <a16:creationId xmlns:a16="http://schemas.microsoft.com/office/drawing/2014/main" id="{030B8A08-884F-474D-8C55-872AA6D7F96B}"/>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0047642" y="2121975"/>
            <a:ext cx="2099553" cy="2466161"/>
          </a:xfrm>
          <a:prstGeom prst="rect">
            <a:avLst/>
          </a:prstGeom>
        </p:spPr>
      </p:pic>
    </p:spTree>
    <p:extLst>
      <p:ext uri="{BB962C8B-B14F-4D97-AF65-F5344CB8AC3E}">
        <p14:creationId xmlns:p14="http://schemas.microsoft.com/office/powerpoint/2010/main" val="346006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10C84-8CBA-444D-A481-6E055FB81B56}"/>
              </a:ext>
            </a:extLst>
          </p:cNvPr>
          <p:cNvSpPr>
            <a:spLocks noGrp="1"/>
          </p:cNvSpPr>
          <p:nvPr>
            <p:ph type="title"/>
          </p:nvPr>
        </p:nvSpPr>
        <p:spPr>
          <a:xfrm>
            <a:off x="680321" y="910644"/>
            <a:ext cx="9613861" cy="1080938"/>
          </a:xfrm>
        </p:spPr>
        <p:txBody>
          <a:bodyPr>
            <a:normAutofit fontScale="90000"/>
          </a:bodyPr>
          <a:lstStyle/>
          <a:p>
            <a:r>
              <a:rPr lang="en-US" dirty="0"/>
              <a:t>Let’s watch this video clip on a new and engaging resource tool to help you stay safe by Google</a:t>
            </a:r>
            <a:br>
              <a:rPr lang="en-US" dirty="0"/>
            </a:br>
            <a:endParaRPr lang="en-US" dirty="0"/>
          </a:p>
        </p:txBody>
      </p:sp>
      <p:pic>
        <p:nvPicPr>
          <p:cNvPr id="5" name="Online Media 4">
            <a:hlinkClick r:id="" action="ppaction://media"/>
            <a:extLst>
              <a:ext uri="{FF2B5EF4-FFF2-40B4-BE49-F238E27FC236}">
                <a16:creationId xmlns:a16="http://schemas.microsoft.com/office/drawing/2014/main" id="{1AB6A1A7-FC27-46EF-BB0F-6F1E7C354326}"/>
              </a:ext>
            </a:extLst>
          </p:cNvPr>
          <p:cNvPicPr>
            <a:picLocks noGrp="1" noRot="1" noChangeAspect="1"/>
          </p:cNvPicPr>
          <p:nvPr>
            <p:ph idx="1"/>
            <a:videoFile r:link="rId1"/>
          </p:nvPr>
        </p:nvPicPr>
        <p:blipFill>
          <a:blip r:embed="rId3"/>
          <a:stretch>
            <a:fillRect/>
          </a:stretch>
        </p:blipFill>
        <p:spPr>
          <a:xfrm>
            <a:off x="2073019" y="2420938"/>
            <a:ext cx="6616621" cy="2985949"/>
          </a:xfrm>
          <a:prstGeom prst="rect">
            <a:avLst/>
          </a:prstGeom>
        </p:spPr>
      </p:pic>
      <p:sp>
        <p:nvSpPr>
          <p:cNvPr id="4" name="Rectangle 3">
            <a:extLst>
              <a:ext uri="{FF2B5EF4-FFF2-40B4-BE49-F238E27FC236}">
                <a16:creationId xmlns:a16="http://schemas.microsoft.com/office/drawing/2014/main" id="{524FC2FE-2A84-454C-B6B7-39548B2A8553}"/>
              </a:ext>
            </a:extLst>
          </p:cNvPr>
          <p:cNvSpPr/>
          <p:nvPr/>
        </p:nvSpPr>
        <p:spPr>
          <a:xfrm>
            <a:off x="5547756" y="6351022"/>
            <a:ext cx="6248571" cy="369332"/>
          </a:xfrm>
          <a:prstGeom prst="rect">
            <a:avLst/>
          </a:prstGeom>
        </p:spPr>
        <p:txBody>
          <a:bodyPr wrap="square">
            <a:spAutoFit/>
          </a:bodyPr>
          <a:lstStyle/>
          <a:p>
            <a:r>
              <a:rPr lang="en-US" dirty="0">
                <a:hlinkClick r:id="rId4"/>
              </a:rPr>
              <a:t>https://beinternetawesome.withgoogle.com/</a:t>
            </a:r>
            <a:endParaRPr lang="en-US" dirty="0"/>
          </a:p>
        </p:txBody>
      </p:sp>
      <p:sp>
        <p:nvSpPr>
          <p:cNvPr id="7" name="TextBox 6">
            <a:extLst>
              <a:ext uri="{FF2B5EF4-FFF2-40B4-BE49-F238E27FC236}">
                <a16:creationId xmlns:a16="http://schemas.microsoft.com/office/drawing/2014/main" id="{D3F8814C-4120-4C93-BC1B-15A6D03117B3}"/>
              </a:ext>
            </a:extLst>
          </p:cNvPr>
          <p:cNvSpPr txBox="1"/>
          <p:nvPr/>
        </p:nvSpPr>
        <p:spPr>
          <a:xfrm>
            <a:off x="1828800" y="5747657"/>
            <a:ext cx="7048263" cy="584775"/>
          </a:xfrm>
          <a:prstGeom prst="rect">
            <a:avLst/>
          </a:prstGeom>
          <a:noFill/>
        </p:spPr>
        <p:txBody>
          <a:bodyPr wrap="square" rtlCol="0">
            <a:spAutoFit/>
          </a:bodyPr>
          <a:lstStyle/>
          <a:p>
            <a:pPr algn="ctr"/>
            <a:r>
              <a:rPr lang="en-US" sz="3200" dirty="0"/>
              <a:t>Be Internet Awesome with Google</a:t>
            </a:r>
          </a:p>
        </p:txBody>
      </p:sp>
    </p:spTree>
    <p:extLst>
      <p:ext uri="{BB962C8B-B14F-4D97-AF65-F5344CB8AC3E}">
        <p14:creationId xmlns:p14="http://schemas.microsoft.com/office/powerpoint/2010/main" val="3664403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Student Interactive Activities</a:t>
            </a:r>
          </a:p>
        </p:txBody>
      </p:sp>
      <p:sp>
        <p:nvSpPr>
          <p:cNvPr id="3" name="Content Placeholder 2"/>
          <p:cNvSpPr>
            <a:spLocks noGrp="1"/>
          </p:cNvSpPr>
          <p:nvPr>
            <p:ph idx="1"/>
          </p:nvPr>
        </p:nvSpPr>
        <p:spPr>
          <a:xfrm>
            <a:off x="436102" y="2001782"/>
            <a:ext cx="9613861" cy="2433910"/>
          </a:xfrm>
        </p:spPr>
        <p:txBody>
          <a:bodyPr>
            <a:normAutofit fontScale="92500" lnSpcReduction="20000"/>
          </a:bodyPr>
          <a:lstStyle/>
          <a:p>
            <a:pPr marL="0" indent="0" algn="ctr">
              <a:buNone/>
            </a:pPr>
            <a:endParaRPr lang="en-US" dirty="0">
              <a:solidFill>
                <a:schemeClr val="tx1"/>
              </a:solidFill>
            </a:endParaRPr>
          </a:p>
          <a:p>
            <a:pPr marL="0" indent="0" algn="ctr">
              <a:buNone/>
            </a:pPr>
            <a:r>
              <a:rPr lang="en-US" sz="4400" dirty="0" err="1">
                <a:solidFill>
                  <a:schemeClr val="tx1"/>
                </a:solidFill>
              </a:rPr>
              <a:t>Interland</a:t>
            </a:r>
            <a:endParaRPr lang="en-US" sz="4400" dirty="0">
              <a:solidFill>
                <a:schemeClr val="tx1"/>
              </a:solidFill>
            </a:endParaRPr>
          </a:p>
          <a:p>
            <a:pPr marL="0" indent="0" algn="ctr">
              <a:buNone/>
            </a:pPr>
            <a:r>
              <a:rPr lang="en-US" dirty="0">
                <a:solidFill>
                  <a:schemeClr val="tx1"/>
                </a:solidFill>
              </a:rPr>
              <a:t>You Can Play the Game </a:t>
            </a:r>
            <a:r>
              <a:rPr lang="en-US" dirty="0" err="1">
                <a:solidFill>
                  <a:schemeClr val="tx1"/>
                </a:solidFill>
              </a:rPr>
              <a:t>Interland</a:t>
            </a:r>
            <a:r>
              <a:rPr lang="en-US" dirty="0">
                <a:solidFill>
                  <a:schemeClr val="tx1"/>
                </a:solidFill>
              </a:rPr>
              <a:t> by Google</a:t>
            </a:r>
          </a:p>
          <a:p>
            <a:pPr marL="0" indent="0" algn="ctr">
              <a:buNone/>
            </a:pPr>
            <a:r>
              <a:rPr lang="en-US" dirty="0">
                <a:solidFill>
                  <a:schemeClr val="tx1"/>
                </a:solidFill>
              </a:rPr>
              <a:t>This is a fun game for teaching you how to be safe on the Internet</a:t>
            </a:r>
          </a:p>
          <a:p>
            <a:pPr marL="0" indent="0" algn="ctr">
              <a:buNone/>
            </a:pPr>
            <a:endParaRPr lang="en-US" dirty="0">
              <a:solidFill>
                <a:schemeClr val="tx1"/>
              </a:solidFill>
            </a:endParaRPr>
          </a:p>
          <a:p>
            <a:pPr marL="0" indent="0" algn="ctr">
              <a:buNone/>
            </a:pPr>
            <a:r>
              <a:rPr lang="en-US" dirty="0">
                <a:solidFill>
                  <a:schemeClr val="tx1"/>
                </a:solidFill>
                <a:hlinkClick r:id="rId2"/>
              </a:rPr>
              <a:t>https://beinternetawesome.withgoogle.com/resources</a:t>
            </a: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p>
        </p:txBody>
      </p:sp>
    </p:spTree>
    <p:extLst>
      <p:ext uri="{BB962C8B-B14F-4D97-AF65-F5344CB8AC3E}">
        <p14:creationId xmlns:p14="http://schemas.microsoft.com/office/powerpoint/2010/main" val="1873224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3584" y="592089"/>
            <a:ext cx="8534400" cy="1507067"/>
          </a:xfrm>
        </p:spPr>
        <p:txBody>
          <a:bodyPr/>
          <a:lstStyle/>
          <a:p>
            <a:r>
              <a:rPr lang="en-US" dirty="0"/>
              <a:t>Student Interactive Activities</a:t>
            </a:r>
          </a:p>
        </p:txBody>
      </p:sp>
      <p:sp>
        <p:nvSpPr>
          <p:cNvPr id="3" name="Content Placeholder 2"/>
          <p:cNvSpPr>
            <a:spLocks noGrp="1"/>
          </p:cNvSpPr>
          <p:nvPr>
            <p:ph idx="1"/>
          </p:nvPr>
        </p:nvSpPr>
        <p:spPr>
          <a:xfrm>
            <a:off x="232859" y="2218740"/>
            <a:ext cx="7371995" cy="4639260"/>
          </a:xfrm>
        </p:spPr>
        <p:txBody>
          <a:bodyPr>
            <a:normAutofit/>
          </a:bodyPr>
          <a:lstStyle/>
          <a:p>
            <a:pPr marL="0" lvl="0" indent="0" algn="ctr" defTabSz="914400">
              <a:spcBef>
                <a:spcPts val="0"/>
              </a:spcBef>
              <a:spcAft>
                <a:spcPts val="0"/>
              </a:spcAft>
              <a:buClrTx/>
              <a:buSzTx/>
              <a:buNone/>
            </a:pPr>
            <a:r>
              <a:rPr lang="en-US" sz="4400" dirty="0">
                <a:solidFill>
                  <a:schemeClr val="tx1"/>
                </a:solidFill>
              </a:rPr>
              <a:t>Digital Compass </a:t>
            </a:r>
          </a:p>
          <a:p>
            <a:pPr marL="0" lvl="0" indent="0" algn="ctr">
              <a:spcBef>
                <a:spcPts val="0"/>
              </a:spcBef>
              <a:buNone/>
            </a:pPr>
            <a:r>
              <a:rPr lang="en-US" dirty="0">
                <a:hlinkClick r:id="rId3"/>
              </a:rPr>
              <a:t>https://www.brainpop.com/games/digitalcompass/</a:t>
            </a:r>
            <a:endParaRPr lang="en-US" dirty="0"/>
          </a:p>
          <a:p>
            <a:pPr marL="0" lvl="0" indent="0" algn="ctr">
              <a:spcBef>
                <a:spcPts val="0"/>
              </a:spcBef>
              <a:buNone/>
            </a:pPr>
            <a:endParaRPr lang="en-US" dirty="0"/>
          </a:p>
          <a:p>
            <a:pPr marL="0" indent="0">
              <a:spcBef>
                <a:spcPts val="0"/>
              </a:spcBef>
              <a:buNone/>
            </a:pPr>
            <a:r>
              <a:rPr lang="en-US" dirty="0"/>
              <a:t>Digital Compass will help you to understand the different aspects of digital citizenship through 8 animated characters and real world scenarios.</a:t>
            </a:r>
          </a:p>
          <a:p>
            <a:pPr marL="0" indent="0">
              <a:spcBef>
                <a:spcPts val="0"/>
              </a:spcBef>
              <a:buNone/>
            </a:pPr>
            <a:endParaRPr lang="en-US" dirty="0"/>
          </a:p>
          <a:p>
            <a:pPr marL="0" indent="0">
              <a:spcBef>
                <a:spcPts val="0"/>
              </a:spcBef>
              <a:buNone/>
            </a:pPr>
            <a:r>
              <a:rPr lang="en-US" dirty="0"/>
              <a:t>When you play this game, you will determine the fate of the different characters. </a:t>
            </a:r>
          </a:p>
          <a:p>
            <a:pPr marL="0" indent="0">
              <a:spcBef>
                <a:spcPts val="0"/>
              </a:spcBef>
              <a:buNone/>
            </a:pPr>
            <a:endParaRPr lang="en-US" dirty="0"/>
          </a:p>
          <a:p>
            <a:pPr marL="0" indent="0">
              <a:spcBef>
                <a:spcPts val="0"/>
              </a:spcBef>
              <a:buNone/>
            </a:pPr>
            <a:r>
              <a:rPr lang="en-US" dirty="0"/>
              <a:t>First, let’s take a peek at the introduction video to the game.</a:t>
            </a:r>
          </a:p>
          <a:p>
            <a:pPr marL="0" indent="0">
              <a:spcBef>
                <a:spcPts val="0"/>
              </a:spcBef>
              <a:buNone/>
            </a:pPr>
            <a:endParaRPr lang="en-US" dirty="0"/>
          </a:p>
          <a:p>
            <a:pPr marL="0" lvl="0" indent="0">
              <a:spcBef>
                <a:spcPts val="0"/>
              </a:spcBef>
              <a:buNone/>
            </a:pPr>
            <a:endParaRPr lang="en-US" dirty="0"/>
          </a:p>
          <a:p>
            <a:pPr marL="0" lvl="0" indent="0" algn="ctr" defTabSz="914400">
              <a:spcBef>
                <a:spcPts val="0"/>
              </a:spcBef>
              <a:spcAft>
                <a:spcPts val="0"/>
              </a:spcAft>
              <a:buClrTx/>
              <a:buSzTx/>
              <a:buNone/>
            </a:pPr>
            <a:endParaRPr lang="en-US" u="sng" dirty="0">
              <a:solidFill>
                <a:schemeClr val="tx1"/>
              </a:solidFill>
              <a:hlinkClick r:id="rId4"/>
            </a:endParaRPr>
          </a:p>
          <a:p>
            <a:pPr marL="0" lvl="0" indent="0" algn="ctr" defTabSz="914400">
              <a:spcBef>
                <a:spcPts val="0"/>
              </a:spcBef>
              <a:spcAft>
                <a:spcPts val="0"/>
              </a:spcAft>
              <a:buClrTx/>
              <a:buSzTx/>
              <a:buNone/>
            </a:pPr>
            <a:endParaRPr lang="en-US" u="sng" dirty="0">
              <a:solidFill>
                <a:schemeClr val="tx1"/>
              </a:solidFill>
              <a:hlinkClick r:id="rId4"/>
            </a:endParaRPr>
          </a:p>
          <a:p>
            <a:pPr marL="0" lvl="0" indent="0" defTabSz="914400">
              <a:spcBef>
                <a:spcPts val="0"/>
              </a:spcBef>
              <a:spcAft>
                <a:spcPts val="0"/>
              </a:spcAft>
              <a:buClrTx/>
              <a:buSzTx/>
              <a:buNone/>
            </a:pPr>
            <a:endParaRPr lang="en-US" dirty="0">
              <a:hlinkClick r:id="rId4"/>
            </a:endParaRPr>
          </a:p>
          <a:p>
            <a:pPr marL="0" lvl="0" indent="0" defTabSz="914400">
              <a:spcBef>
                <a:spcPts val="0"/>
              </a:spcBef>
              <a:spcAft>
                <a:spcPts val="0"/>
              </a:spcAft>
              <a:buClrTx/>
              <a:buSzTx/>
              <a:buNone/>
            </a:pPr>
            <a:endParaRPr lang="en-US" dirty="0">
              <a:hlinkClick r:id="rId4"/>
            </a:endParaRPr>
          </a:p>
          <a:p>
            <a:pPr marL="0" lvl="0" indent="0" defTabSz="914400">
              <a:spcBef>
                <a:spcPts val="0"/>
              </a:spcBef>
              <a:spcAft>
                <a:spcPts val="0"/>
              </a:spcAft>
              <a:buClrTx/>
              <a:buSzTx/>
              <a:buNone/>
            </a:pPr>
            <a:endParaRPr lang="en-US" dirty="0"/>
          </a:p>
          <a:p>
            <a:pPr marL="0" lvl="0" indent="0" defTabSz="914400">
              <a:spcBef>
                <a:spcPts val="0"/>
              </a:spcBef>
              <a:spcAft>
                <a:spcPts val="0"/>
              </a:spcAft>
              <a:buClrTx/>
              <a:buSzTx/>
              <a:buNone/>
            </a:pPr>
            <a:endParaRPr lang="en-US" dirty="0">
              <a:solidFill>
                <a:schemeClr val="tx1"/>
              </a:solidFill>
            </a:endParaRPr>
          </a:p>
          <a:p>
            <a:pPr marL="0" lvl="0" indent="0" defTabSz="914400">
              <a:spcBef>
                <a:spcPts val="0"/>
              </a:spcBef>
              <a:spcAft>
                <a:spcPts val="0"/>
              </a:spcAft>
              <a:buClrTx/>
              <a:buSzTx/>
              <a:buNone/>
            </a:pPr>
            <a:endParaRPr lang="en-US" dirty="0"/>
          </a:p>
          <a:p>
            <a:pPr marL="0" lvl="0" indent="0" defTabSz="914400">
              <a:spcBef>
                <a:spcPts val="0"/>
              </a:spcBef>
              <a:spcAft>
                <a:spcPts val="0"/>
              </a:spcAft>
              <a:buClrTx/>
              <a:buSzTx/>
              <a:buNone/>
            </a:pPr>
            <a:endParaRPr lang="en-US" dirty="0"/>
          </a:p>
        </p:txBody>
      </p:sp>
      <p:pic>
        <p:nvPicPr>
          <p:cNvPr id="4" name="Online Media 3">
            <a:hlinkClick r:id="" action="ppaction://media"/>
            <a:extLst>
              <a:ext uri="{FF2B5EF4-FFF2-40B4-BE49-F238E27FC236}">
                <a16:creationId xmlns:a16="http://schemas.microsoft.com/office/drawing/2014/main" id="{9E3ED491-BF10-4828-BD0B-D5810B7B8A5B}"/>
              </a:ext>
            </a:extLst>
          </p:cNvPr>
          <p:cNvPicPr>
            <a:picLocks noRot="1" noChangeAspect="1"/>
          </p:cNvPicPr>
          <p:nvPr>
            <a:videoFile r:link="rId1"/>
          </p:nvPr>
        </p:nvPicPr>
        <p:blipFill>
          <a:blip r:embed="rId5"/>
          <a:stretch>
            <a:fillRect/>
          </a:stretch>
        </p:blipFill>
        <p:spPr>
          <a:xfrm>
            <a:off x="7719638" y="2099156"/>
            <a:ext cx="4239501" cy="3053258"/>
          </a:xfrm>
          <a:prstGeom prst="rect">
            <a:avLst/>
          </a:prstGeom>
        </p:spPr>
      </p:pic>
      <p:sp>
        <p:nvSpPr>
          <p:cNvPr id="5" name="Rectangle 4">
            <a:extLst>
              <a:ext uri="{FF2B5EF4-FFF2-40B4-BE49-F238E27FC236}">
                <a16:creationId xmlns:a16="http://schemas.microsoft.com/office/drawing/2014/main" id="{DA1584C1-4AE8-4DC7-9293-7D449712454F}"/>
              </a:ext>
            </a:extLst>
          </p:cNvPr>
          <p:cNvSpPr/>
          <p:nvPr/>
        </p:nvSpPr>
        <p:spPr>
          <a:xfrm>
            <a:off x="8135357" y="4986064"/>
            <a:ext cx="6096000" cy="646331"/>
          </a:xfrm>
          <a:prstGeom prst="rect">
            <a:avLst/>
          </a:prstGeom>
        </p:spPr>
        <p:txBody>
          <a:bodyPr>
            <a:spAutoFit/>
          </a:bodyPr>
          <a:lstStyle/>
          <a:p>
            <a:pPr lvl="0" algn="ctr" defTabSz="914400"/>
            <a:endParaRPr lang="en-US" dirty="0"/>
          </a:p>
          <a:p>
            <a:r>
              <a:rPr lang="en-US" dirty="0">
                <a:hlinkClick r:id="rId4"/>
              </a:rPr>
              <a:t>https://youtu.be/6opdfUvdETg</a:t>
            </a:r>
            <a:endParaRPr lang="en-US" dirty="0"/>
          </a:p>
        </p:txBody>
      </p:sp>
    </p:spTree>
    <p:extLst>
      <p:ext uri="{BB962C8B-B14F-4D97-AF65-F5344CB8AC3E}">
        <p14:creationId xmlns:p14="http://schemas.microsoft.com/office/powerpoint/2010/main" val="1969208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77" y="578836"/>
            <a:ext cx="8534400" cy="1507067"/>
          </a:xfrm>
        </p:spPr>
        <p:txBody>
          <a:bodyPr/>
          <a:lstStyle/>
          <a:p>
            <a:r>
              <a:rPr lang="en-US" dirty="0"/>
              <a:t>Student Interactive Activities</a:t>
            </a:r>
          </a:p>
        </p:txBody>
      </p:sp>
      <p:sp>
        <p:nvSpPr>
          <p:cNvPr id="3" name="Content Placeholder 2"/>
          <p:cNvSpPr>
            <a:spLocks noGrp="1"/>
          </p:cNvSpPr>
          <p:nvPr>
            <p:ph idx="1"/>
          </p:nvPr>
        </p:nvSpPr>
        <p:spPr>
          <a:xfrm>
            <a:off x="684212" y="2016223"/>
            <a:ext cx="9652484" cy="4759423"/>
          </a:xfrm>
        </p:spPr>
        <p:txBody>
          <a:bodyPr>
            <a:normAutofit fontScale="70000" lnSpcReduction="20000"/>
          </a:bodyPr>
          <a:lstStyle/>
          <a:p>
            <a:pPr marL="0" indent="0" algn="ctr">
              <a:buNone/>
            </a:pPr>
            <a:r>
              <a:rPr lang="en-US" sz="5700" dirty="0">
                <a:solidFill>
                  <a:schemeClr val="tx1"/>
                </a:solidFill>
              </a:rPr>
              <a:t>Brain Pop </a:t>
            </a:r>
          </a:p>
          <a:p>
            <a:pPr marL="0" indent="0">
              <a:buNone/>
            </a:pPr>
            <a:r>
              <a:rPr lang="en-US" dirty="0">
                <a:solidFill>
                  <a:schemeClr val="tx1"/>
                </a:solidFill>
              </a:rPr>
              <a:t>has wonderful videos that will help you to understand the different concepts of digital citizenship. </a:t>
            </a:r>
          </a:p>
          <a:p>
            <a:pPr marL="0" indent="0">
              <a:buNone/>
            </a:pPr>
            <a:r>
              <a:rPr lang="en-US" dirty="0">
                <a:solidFill>
                  <a:schemeClr val="tx1"/>
                </a:solidFill>
                <a:hlinkClick r:id="rId2"/>
              </a:rPr>
              <a:t>https://www.brainpop.com/</a:t>
            </a:r>
            <a:endParaRPr lang="en-US" dirty="0">
              <a:solidFill>
                <a:schemeClr val="tx1"/>
              </a:solidFill>
            </a:endParaRPr>
          </a:p>
          <a:p>
            <a:pPr marL="0" indent="0" algn="ctr">
              <a:buNone/>
            </a:pPr>
            <a:r>
              <a:rPr lang="en-US" dirty="0">
                <a:solidFill>
                  <a:schemeClr val="tx1"/>
                </a:solidFill>
              </a:rPr>
              <a:t> Username: </a:t>
            </a:r>
            <a:r>
              <a:rPr lang="en-US" dirty="0" err="1">
                <a:solidFill>
                  <a:schemeClr val="tx1"/>
                </a:solidFill>
              </a:rPr>
              <a:t>rpfranklinmilitary</a:t>
            </a:r>
            <a:r>
              <a:rPr lang="en-US" dirty="0">
                <a:solidFill>
                  <a:schemeClr val="tx1"/>
                </a:solidFill>
              </a:rPr>
              <a:t>        Password: </a:t>
            </a:r>
            <a:r>
              <a:rPr lang="en-US" dirty="0" err="1">
                <a:solidFill>
                  <a:schemeClr val="tx1"/>
                </a:solidFill>
              </a:rPr>
              <a:t>bpop</a:t>
            </a:r>
            <a:endParaRPr lang="en-US" dirty="0">
              <a:solidFill>
                <a:schemeClr val="tx1"/>
              </a:solidFill>
            </a:endParaRPr>
          </a:p>
          <a:p>
            <a:pPr marL="0" indent="0">
              <a:buNone/>
            </a:pPr>
            <a:r>
              <a:rPr lang="en-US" dirty="0">
                <a:solidFill>
                  <a:schemeClr val="tx1"/>
                </a:solidFill>
              </a:rPr>
              <a:t>Instructions:</a:t>
            </a:r>
          </a:p>
          <a:p>
            <a:pPr marL="0" indent="0">
              <a:buNone/>
            </a:pPr>
            <a:endParaRPr lang="en-US" dirty="0">
              <a:solidFill>
                <a:schemeClr val="tx1"/>
              </a:solidFill>
            </a:endParaRPr>
          </a:p>
          <a:p>
            <a:pPr marL="0" indent="0">
              <a:buNone/>
            </a:pPr>
            <a:r>
              <a:rPr lang="en-US" dirty="0">
                <a:solidFill>
                  <a:schemeClr val="tx1"/>
                </a:solidFill>
              </a:rPr>
              <a:t>1. </a:t>
            </a:r>
            <a:r>
              <a:rPr lang="en-US" sz="2400" dirty="0">
                <a:solidFill>
                  <a:schemeClr val="tx1"/>
                </a:solidFill>
              </a:rPr>
              <a:t>Click on Digital Citizenship</a:t>
            </a:r>
          </a:p>
          <a:p>
            <a:pPr marL="0" indent="0">
              <a:buNone/>
            </a:pPr>
            <a:r>
              <a:rPr lang="en-US" dirty="0">
                <a:solidFill>
                  <a:schemeClr val="tx1"/>
                </a:solidFill>
              </a:rPr>
              <a:t>2. Watch the </a:t>
            </a:r>
            <a:r>
              <a:rPr lang="en-US" dirty="0"/>
              <a:t>videos on the following topics listed below</a:t>
            </a:r>
            <a:r>
              <a:rPr lang="en-US" dirty="0">
                <a:solidFill>
                  <a:schemeClr val="tx1"/>
                </a:solidFill>
              </a:rPr>
              <a:t> and take the quiz for each video and  </a:t>
            </a:r>
          </a:p>
          <a:p>
            <a:pPr marL="0" indent="0">
              <a:buNone/>
            </a:pPr>
            <a:r>
              <a:rPr lang="en-US" dirty="0"/>
              <a:t>    </a:t>
            </a:r>
            <a:r>
              <a:rPr lang="en-US" dirty="0">
                <a:solidFill>
                  <a:schemeClr val="tx1"/>
                </a:solidFill>
              </a:rPr>
              <a:t>email your results </a:t>
            </a:r>
            <a:r>
              <a:rPr lang="en-US" dirty="0"/>
              <a:t>to Dr. Bannister at </a:t>
            </a:r>
            <a:r>
              <a:rPr lang="en-US" dirty="0">
                <a:solidFill>
                  <a:schemeClr val="tx1"/>
                </a:solidFill>
                <a:hlinkClick r:id="rId3"/>
              </a:rPr>
              <a:t>cbannist@rvaschools.net</a:t>
            </a:r>
            <a:r>
              <a:rPr lang="en-US" dirty="0">
                <a:solidFill>
                  <a:schemeClr val="tx1"/>
                </a:solidFill>
              </a:rPr>
              <a:t>.</a:t>
            </a:r>
          </a:p>
          <a:p>
            <a:r>
              <a:rPr lang="en-US" dirty="0">
                <a:solidFill>
                  <a:schemeClr val="tx1"/>
                </a:solidFill>
              </a:rPr>
              <a:t>Cyberbullying                              </a:t>
            </a:r>
          </a:p>
          <a:p>
            <a:r>
              <a:rPr lang="en-US" dirty="0">
                <a:solidFill>
                  <a:schemeClr val="tx1"/>
                </a:solidFill>
              </a:rPr>
              <a:t>Conflict Resolution</a:t>
            </a:r>
          </a:p>
          <a:p>
            <a:r>
              <a:rPr lang="en-US" dirty="0">
                <a:solidFill>
                  <a:schemeClr val="tx1"/>
                </a:solidFill>
              </a:rPr>
              <a:t>Digital Etiquette</a:t>
            </a:r>
          </a:p>
          <a:p>
            <a:r>
              <a:rPr lang="en-US" dirty="0">
                <a:solidFill>
                  <a:schemeClr val="tx1"/>
                </a:solidFill>
              </a:rPr>
              <a:t>Media Literacy</a:t>
            </a:r>
          </a:p>
          <a:p>
            <a:r>
              <a:rPr lang="en-US" dirty="0">
                <a:solidFill>
                  <a:schemeClr val="tx1"/>
                </a:solidFill>
              </a:rPr>
              <a:t>Online Safety</a:t>
            </a:r>
          </a:p>
        </p:txBody>
      </p:sp>
    </p:spTree>
    <p:extLst>
      <p:ext uri="{BB962C8B-B14F-4D97-AF65-F5344CB8AC3E}">
        <p14:creationId xmlns:p14="http://schemas.microsoft.com/office/powerpoint/2010/main" val="1265741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AE48E-0245-460D-A599-5FA6A0155394}"/>
              </a:ext>
            </a:extLst>
          </p:cNvPr>
          <p:cNvSpPr>
            <a:spLocks noGrp="1"/>
          </p:cNvSpPr>
          <p:nvPr>
            <p:ph type="title"/>
          </p:nvPr>
        </p:nvSpPr>
        <p:spPr/>
        <p:txBody>
          <a:bodyPr/>
          <a:lstStyle/>
          <a:p>
            <a:r>
              <a:rPr lang="en-US" dirty="0"/>
              <a:t>Digital Citizenship Resources</a:t>
            </a:r>
          </a:p>
        </p:txBody>
      </p:sp>
      <p:sp>
        <p:nvSpPr>
          <p:cNvPr id="3" name="Content Placeholder 2">
            <a:extLst>
              <a:ext uri="{FF2B5EF4-FFF2-40B4-BE49-F238E27FC236}">
                <a16:creationId xmlns:a16="http://schemas.microsoft.com/office/drawing/2014/main" id="{2D589E5E-99C1-42F2-8CB1-EB869855BDC4}"/>
              </a:ext>
            </a:extLst>
          </p:cNvPr>
          <p:cNvSpPr>
            <a:spLocks noGrp="1"/>
          </p:cNvSpPr>
          <p:nvPr>
            <p:ph idx="1"/>
          </p:nvPr>
        </p:nvSpPr>
        <p:spPr>
          <a:xfrm>
            <a:off x="680321" y="2336873"/>
            <a:ext cx="11223918" cy="4143440"/>
          </a:xfrm>
        </p:spPr>
        <p:txBody>
          <a:bodyPr>
            <a:normAutofit fontScale="85000" lnSpcReduction="20000"/>
          </a:bodyPr>
          <a:lstStyle/>
          <a:p>
            <a:pPr marL="0" indent="0">
              <a:buNone/>
            </a:pPr>
            <a:r>
              <a:rPr lang="en-US" dirty="0"/>
              <a:t>Most Credible and Reliable Sources on the Internet for Students</a:t>
            </a:r>
          </a:p>
          <a:p>
            <a:pPr marL="0" indent="0">
              <a:buNone/>
            </a:pPr>
            <a:r>
              <a:rPr lang="en-US" dirty="0">
                <a:hlinkClick r:id="rId2"/>
              </a:rPr>
              <a:t>https://www.commonsense.org/education/top-picks/most-reliable-and-credible-sources-for-students</a:t>
            </a:r>
            <a:endParaRPr lang="en-US" dirty="0"/>
          </a:p>
          <a:p>
            <a:pPr marL="0" indent="0">
              <a:buNone/>
            </a:pPr>
            <a:endParaRPr lang="en-US" dirty="0"/>
          </a:p>
          <a:p>
            <a:pPr marL="0" indent="0">
              <a:buNone/>
            </a:pPr>
            <a:r>
              <a:rPr lang="en-US" dirty="0"/>
              <a:t>Evaluating Web Resources : The CRAAP Test</a:t>
            </a:r>
          </a:p>
          <a:p>
            <a:r>
              <a:rPr lang="en-US" dirty="0">
                <a:hlinkClick r:id="rId3"/>
              </a:rPr>
              <a:t>http://libguides.library.ncat.edu/c.php?g=778558&amp;p=5584082</a:t>
            </a:r>
            <a:endParaRPr lang="en-US" dirty="0"/>
          </a:p>
          <a:p>
            <a:endParaRPr lang="en-US" dirty="0"/>
          </a:p>
          <a:p>
            <a:pPr marL="0" indent="0">
              <a:buNone/>
            </a:pPr>
            <a:r>
              <a:rPr lang="en-US" dirty="0"/>
              <a:t>How to </a:t>
            </a:r>
            <a:r>
              <a:rPr lang="en-US" dirty="0" err="1"/>
              <a:t>Distinquish</a:t>
            </a:r>
            <a:r>
              <a:rPr lang="en-US" dirty="0"/>
              <a:t> Fake News from Real News</a:t>
            </a:r>
          </a:p>
          <a:p>
            <a:pPr marL="0" indent="0">
              <a:buNone/>
            </a:pPr>
            <a:r>
              <a:rPr lang="en-US" dirty="0">
                <a:hlinkClick r:id="rId4"/>
              </a:rPr>
              <a:t>https://docs.google.com/document/d/10eA5-mCZLSS4MQY5QGb5ewC3VAL6pLkT53V_81ZyitM/edit</a:t>
            </a:r>
            <a:endParaRPr lang="en-US" dirty="0"/>
          </a:p>
          <a:p>
            <a:pPr marL="0" indent="0">
              <a:buNone/>
            </a:pPr>
            <a:endParaRPr lang="en-US" dirty="0"/>
          </a:p>
          <a:p>
            <a:pPr marL="0" indent="0">
              <a:buNone/>
            </a:pPr>
            <a:r>
              <a:rPr lang="en-US" dirty="0"/>
              <a:t>Be Internet Awesome Pledge</a:t>
            </a:r>
          </a:p>
          <a:p>
            <a:pPr marL="0" indent="0">
              <a:buNone/>
            </a:pPr>
            <a:r>
              <a:rPr lang="en-US" dirty="0">
                <a:hlinkClick r:id="rId5"/>
              </a:rPr>
              <a:t>https://beinternetawesome.withgoogle.com/pdfs/Google_BeInternetAwesome_Pledge.pdf</a:t>
            </a:r>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788381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165CE1-C514-4EFF-BF90-45D46FC5E249}"/>
              </a:ext>
            </a:extLst>
          </p:cNvPr>
          <p:cNvSpPr txBox="1"/>
          <p:nvPr/>
        </p:nvSpPr>
        <p:spPr>
          <a:xfrm>
            <a:off x="3146445" y="2328596"/>
            <a:ext cx="6247453" cy="1200329"/>
          </a:xfrm>
          <a:prstGeom prst="rect">
            <a:avLst/>
          </a:prstGeom>
          <a:noFill/>
        </p:spPr>
        <p:txBody>
          <a:bodyPr wrap="square" rtlCol="0">
            <a:spAutoFit/>
          </a:bodyPr>
          <a:lstStyle/>
          <a:p>
            <a:pPr algn="ctr"/>
            <a:r>
              <a:rPr lang="en-US" dirty="0"/>
              <a:t>All images in the presentation are</a:t>
            </a:r>
          </a:p>
          <a:p>
            <a:pPr algn="ctr"/>
            <a:r>
              <a:rPr lang="en-US" dirty="0"/>
              <a:t>Common Creative Images from </a:t>
            </a:r>
            <a:r>
              <a:rPr lang="en-US" dirty="0">
                <a:hlinkClick r:id="rId2"/>
              </a:rPr>
              <a:t>www.bing.com</a:t>
            </a:r>
            <a:endParaRPr lang="en-US" dirty="0"/>
          </a:p>
          <a:p>
            <a:pPr algn="ctr"/>
            <a:endParaRPr lang="en-US" dirty="0"/>
          </a:p>
          <a:p>
            <a:pPr algn="ctr"/>
            <a:endParaRPr lang="en-US" dirty="0"/>
          </a:p>
        </p:txBody>
      </p:sp>
    </p:spTree>
    <p:extLst>
      <p:ext uri="{BB962C8B-B14F-4D97-AF65-F5344CB8AC3E}">
        <p14:creationId xmlns:p14="http://schemas.microsoft.com/office/powerpoint/2010/main" val="2359976468"/>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1858</TotalTime>
  <Words>1613</Words>
  <Application>Microsoft Office PowerPoint</Application>
  <PresentationFormat>Widescreen</PresentationFormat>
  <Paragraphs>122</Paragraphs>
  <Slides>19</Slides>
  <Notes>0</Notes>
  <HiddenSlides>0</HiddenSlides>
  <MMClips>3</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Trebuchet MS</vt:lpstr>
      <vt:lpstr>Berlin</vt:lpstr>
      <vt:lpstr>Digital Citizenship </vt:lpstr>
      <vt:lpstr>What Is Digital Citizenship?</vt:lpstr>
      <vt:lpstr>Let’s Watch a Brief Video Clip that Explains digital citizenship by Inctrl</vt:lpstr>
      <vt:lpstr>The Nine Elements of  Digital Citizenship </vt:lpstr>
      <vt:lpstr>The Nine Elements of  Digital Citizenship </vt:lpstr>
      <vt:lpstr>The Nine Elements of  Digital Citizenship </vt:lpstr>
      <vt:lpstr>The Nine Elements of  Digital Citizenship </vt:lpstr>
      <vt:lpstr>The Nine Elements of  Digital Citizenship </vt:lpstr>
      <vt:lpstr>The Nine Elements of  Digital Citizenship </vt:lpstr>
      <vt:lpstr>The Nine Elements of  Digital Citizenship </vt:lpstr>
      <vt:lpstr>The Nine Elements of  Digital Citizenship </vt:lpstr>
      <vt:lpstr>The Nine Elements of  Digital Citizenship </vt:lpstr>
      <vt:lpstr>The Nine Elements of  Digital Citizenship </vt:lpstr>
      <vt:lpstr>Let’s watch this video clip on a new and engaging resource tool to help you stay safe by Google </vt:lpstr>
      <vt:lpstr>Student Interactive Activities</vt:lpstr>
      <vt:lpstr>Student Interactive Activities</vt:lpstr>
      <vt:lpstr>Student Interactive Activities</vt:lpstr>
      <vt:lpstr>Digital Citizenship Resources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citizenship</dc:title>
  <dc:creator>Dr. Clara Bannister, PhD.</dc:creator>
  <cp:lastModifiedBy>REGINAMARY MATTHEWS</cp:lastModifiedBy>
  <cp:revision>59</cp:revision>
  <dcterms:created xsi:type="dcterms:W3CDTF">2017-12-11T10:56:48Z</dcterms:created>
  <dcterms:modified xsi:type="dcterms:W3CDTF">2026-10-02T04:30:28Z</dcterms:modified>
</cp:coreProperties>
</file>