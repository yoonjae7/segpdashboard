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86"/>
  </p:notesMasterIdLst>
  <p:sldIdLst>
    <p:sldId id="256" r:id="rId2"/>
    <p:sldId id="257" r:id="rId3"/>
    <p:sldId id="347" r:id="rId4"/>
    <p:sldId id="258" r:id="rId5"/>
    <p:sldId id="259" r:id="rId6"/>
    <p:sldId id="260" r:id="rId7"/>
    <p:sldId id="352" r:id="rId8"/>
    <p:sldId id="261" r:id="rId9"/>
    <p:sldId id="353" r:id="rId10"/>
    <p:sldId id="262" r:id="rId11"/>
    <p:sldId id="354" r:id="rId12"/>
    <p:sldId id="263" r:id="rId13"/>
    <p:sldId id="355" r:id="rId14"/>
    <p:sldId id="264" r:id="rId15"/>
    <p:sldId id="356" r:id="rId16"/>
    <p:sldId id="266" r:id="rId17"/>
    <p:sldId id="357" r:id="rId18"/>
    <p:sldId id="267" r:id="rId19"/>
    <p:sldId id="358" r:id="rId20"/>
    <p:sldId id="268" r:id="rId21"/>
    <p:sldId id="334" r:id="rId22"/>
    <p:sldId id="269" r:id="rId23"/>
    <p:sldId id="270" r:id="rId24"/>
    <p:sldId id="336" r:id="rId25"/>
    <p:sldId id="337" r:id="rId26"/>
    <p:sldId id="338" r:id="rId27"/>
    <p:sldId id="339" r:id="rId28"/>
    <p:sldId id="342" r:id="rId29"/>
    <p:sldId id="341" r:id="rId30"/>
    <p:sldId id="343" r:id="rId31"/>
    <p:sldId id="344" r:id="rId32"/>
    <p:sldId id="345" r:id="rId33"/>
    <p:sldId id="346" r:id="rId34"/>
    <p:sldId id="271" r:id="rId35"/>
    <p:sldId id="272" r:id="rId36"/>
    <p:sldId id="273" r:id="rId37"/>
    <p:sldId id="274" r:id="rId38"/>
    <p:sldId id="275" r:id="rId39"/>
    <p:sldId id="276" r:id="rId40"/>
    <p:sldId id="277" r:id="rId41"/>
    <p:sldId id="278" r:id="rId42"/>
    <p:sldId id="279" r:id="rId43"/>
    <p:sldId id="280" r:id="rId44"/>
    <p:sldId id="281" r:id="rId45"/>
    <p:sldId id="282" r:id="rId46"/>
    <p:sldId id="284" r:id="rId47"/>
    <p:sldId id="286" r:id="rId48"/>
    <p:sldId id="287" r:id="rId49"/>
    <p:sldId id="288" r:id="rId50"/>
    <p:sldId id="289" r:id="rId51"/>
    <p:sldId id="290" r:id="rId52"/>
    <p:sldId id="291" r:id="rId53"/>
    <p:sldId id="292" r:id="rId54"/>
    <p:sldId id="293" r:id="rId55"/>
    <p:sldId id="294" r:id="rId56"/>
    <p:sldId id="295" r:id="rId57"/>
    <p:sldId id="296" r:id="rId58"/>
    <p:sldId id="297" r:id="rId59"/>
    <p:sldId id="298" r:id="rId60"/>
    <p:sldId id="299" r:id="rId61"/>
    <p:sldId id="300" r:id="rId62"/>
    <p:sldId id="301" r:id="rId63"/>
    <p:sldId id="302" r:id="rId64"/>
    <p:sldId id="303" r:id="rId65"/>
    <p:sldId id="304" r:id="rId66"/>
    <p:sldId id="305" r:id="rId67"/>
    <p:sldId id="306" r:id="rId68"/>
    <p:sldId id="308" r:id="rId69"/>
    <p:sldId id="307" r:id="rId70"/>
    <p:sldId id="309" r:id="rId71"/>
    <p:sldId id="310" r:id="rId72"/>
    <p:sldId id="311" r:id="rId73"/>
    <p:sldId id="312" r:id="rId74"/>
    <p:sldId id="313" r:id="rId75"/>
    <p:sldId id="314" r:id="rId76"/>
    <p:sldId id="315" r:id="rId77"/>
    <p:sldId id="316" r:id="rId78"/>
    <p:sldId id="317" r:id="rId79"/>
    <p:sldId id="318" r:id="rId80"/>
    <p:sldId id="321" r:id="rId81"/>
    <p:sldId id="320" r:id="rId82"/>
    <p:sldId id="319" r:id="rId83"/>
    <p:sldId id="322" r:id="rId84"/>
    <p:sldId id="329" r:id="rId8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5987" autoAdjust="0"/>
    <p:restoredTop sz="94660"/>
  </p:normalViewPr>
  <p:slideViewPr>
    <p:cSldViewPr snapToGrid="0">
      <p:cViewPr varScale="1">
        <p:scale>
          <a:sx n="73" d="100"/>
          <a:sy n="73" d="100"/>
        </p:scale>
        <p:origin x="364" y="36"/>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tableStyles" Target="tableStyle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5EE04AD-20AC-4876-ACDE-A9646A5C2A89}" type="doc">
      <dgm:prSet loTypeId="urn:microsoft.com/office/officeart/2005/8/layout/matrix3" loCatId="matrix" qsTypeId="urn:microsoft.com/office/officeart/2005/8/quickstyle/simple1" qsCatId="simple" csTypeId="urn:microsoft.com/office/officeart/2005/8/colors/accent1_2" csCatId="accent1" phldr="1"/>
      <dgm:spPr/>
      <dgm:t>
        <a:bodyPr/>
        <a:lstStyle/>
        <a:p>
          <a:endParaRPr lang="en-US"/>
        </a:p>
      </dgm:t>
    </dgm:pt>
    <dgm:pt modelId="{EA19EFA8-4B01-4BFA-831F-7272E9032EEC}">
      <dgm:prSet phldrT="[Text]"/>
      <dgm:spPr/>
      <dgm:t>
        <a:bodyPr/>
        <a:lstStyle/>
        <a:p>
          <a:r>
            <a:rPr lang="en-US" dirty="0"/>
            <a:t>Digital Natives</a:t>
          </a:r>
        </a:p>
      </dgm:t>
    </dgm:pt>
    <dgm:pt modelId="{1D1A1687-AEC3-4607-B282-E5ECF5BAB2E8}" type="parTrans" cxnId="{B02C8984-5F3D-4D47-A7E7-5733169C0D8D}">
      <dgm:prSet/>
      <dgm:spPr/>
      <dgm:t>
        <a:bodyPr/>
        <a:lstStyle/>
        <a:p>
          <a:endParaRPr lang="en-US"/>
        </a:p>
      </dgm:t>
    </dgm:pt>
    <dgm:pt modelId="{1BF045D7-C540-406A-BC8E-B680A2C4FFAE}" type="sibTrans" cxnId="{B02C8984-5F3D-4D47-A7E7-5733169C0D8D}">
      <dgm:prSet/>
      <dgm:spPr/>
      <dgm:t>
        <a:bodyPr/>
        <a:lstStyle/>
        <a:p>
          <a:endParaRPr lang="en-US"/>
        </a:p>
      </dgm:t>
    </dgm:pt>
    <dgm:pt modelId="{6AFD6514-1917-4A24-A311-683EFE0E353B}">
      <dgm:prSet phldrT="[Text]"/>
      <dgm:spPr/>
      <dgm:t>
        <a:bodyPr/>
        <a:lstStyle/>
        <a:p>
          <a:r>
            <a:rPr lang="en-US" dirty="0"/>
            <a:t>Digital Immigrants</a:t>
          </a:r>
        </a:p>
      </dgm:t>
    </dgm:pt>
    <dgm:pt modelId="{6E533967-324B-4D49-A484-57FCD9C270FD}" type="parTrans" cxnId="{729DEB51-2FBC-4266-A0C3-6BC996418A19}">
      <dgm:prSet/>
      <dgm:spPr/>
      <dgm:t>
        <a:bodyPr/>
        <a:lstStyle/>
        <a:p>
          <a:endParaRPr lang="en-US"/>
        </a:p>
      </dgm:t>
    </dgm:pt>
    <dgm:pt modelId="{BD49D408-09F4-4372-8593-C56287F20340}" type="sibTrans" cxnId="{729DEB51-2FBC-4266-A0C3-6BC996418A19}">
      <dgm:prSet/>
      <dgm:spPr/>
      <dgm:t>
        <a:bodyPr/>
        <a:lstStyle/>
        <a:p>
          <a:endParaRPr lang="en-US"/>
        </a:p>
      </dgm:t>
    </dgm:pt>
    <dgm:pt modelId="{7D9F5DFC-BF89-4E20-B50B-DCA813AA0AFB}">
      <dgm:prSet phldrT="[Text]"/>
      <dgm:spPr/>
      <dgm:t>
        <a:bodyPr/>
        <a:lstStyle/>
        <a:p>
          <a:r>
            <a:rPr lang="en-US" dirty="0"/>
            <a:t>Digital Citizens</a:t>
          </a:r>
        </a:p>
      </dgm:t>
    </dgm:pt>
    <dgm:pt modelId="{562C8375-80F5-46E5-8253-8EFB048CC6A8}" type="parTrans" cxnId="{74572B34-8C2A-4EAA-8230-218605BF9346}">
      <dgm:prSet/>
      <dgm:spPr/>
      <dgm:t>
        <a:bodyPr/>
        <a:lstStyle/>
        <a:p>
          <a:endParaRPr lang="en-US"/>
        </a:p>
      </dgm:t>
    </dgm:pt>
    <dgm:pt modelId="{DE8D7FB6-3660-41E6-B745-ABB58E14FC2A}" type="sibTrans" cxnId="{74572B34-8C2A-4EAA-8230-218605BF9346}">
      <dgm:prSet/>
      <dgm:spPr/>
      <dgm:t>
        <a:bodyPr/>
        <a:lstStyle/>
        <a:p>
          <a:endParaRPr lang="en-US"/>
        </a:p>
      </dgm:t>
    </dgm:pt>
    <dgm:pt modelId="{3E468F8C-0FD4-468C-B807-DB08D9CE91F3}">
      <dgm:prSet phldrT="[Text]"/>
      <dgm:spPr/>
      <dgm:t>
        <a:bodyPr/>
        <a:lstStyle/>
        <a:p>
          <a:r>
            <a:rPr lang="en-US" dirty="0"/>
            <a:t>Digital Pioneers</a:t>
          </a:r>
        </a:p>
      </dgm:t>
    </dgm:pt>
    <dgm:pt modelId="{BA1EF63E-AE00-419F-BDAA-A29AF28CCF13}" type="parTrans" cxnId="{597969F4-DB76-418E-84C5-058040EB3813}">
      <dgm:prSet/>
      <dgm:spPr/>
      <dgm:t>
        <a:bodyPr/>
        <a:lstStyle/>
        <a:p>
          <a:endParaRPr lang="en-US"/>
        </a:p>
      </dgm:t>
    </dgm:pt>
    <dgm:pt modelId="{E4F3AD90-27FF-4675-802D-2B9DDBC65B41}" type="sibTrans" cxnId="{597969F4-DB76-418E-84C5-058040EB3813}">
      <dgm:prSet/>
      <dgm:spPr/>
      <dgm:t>
        <a:bodyPr/>
        <a:lstStyle/>
        <a:p>
          <a:endParaRPr lang="en-US"/>
        </a:p>
      </dgm:t>
    </dgm:pt>
    <dgm:pt modelId="{FA1F6C87-8C63-482E-8629-B4CEB2E2AFA8}" type="pres">
      <dgm:prSet presAssocID="{95EE04AD-20AC-4876-ACDE-A9646A5C2A89}" presName="matrix" presStyleCnt="0">
        <dgm:presLayoutVars>
          <dgm:chMax val="1"/>
          <dgm:dir/>
          <dgm:resizeHandles val="exact"/>
        </dgm:presLayoutVars>
      </dgm:prSet>
      <dgm:spPr/>
    </dgm:pt>
    <dgm:pt modelId="{7794F5D8-8EDB-4DB6-A787-1A515CCE3E77}" type="pres">
      <dgm:prSet presAssocID="{95EE04AD-20AC-4876-ACDE-A9646A5C2A89}" presName="diamond" presStyleLbl="bgShp" presStyleIdx="0" presStyleCnt="1"/>
      <dgm:spPr/>
    </dgm:pt>
    <dgm:pt modelId="{B0ADE243-9A4F-44B5-A6A7-158CAA63EEF0}" type="pres">
      <dgm:prSet presAssocID="{95EE04AD-20AC-4876-ACDE-A9646A5C2A89}" presName="quad1" presStyleLbl="node1" presStyleIdx="0" presStyleCnt="4">
        <dgm:presLayoutVars>
          <dgm:chMax val="0"/>
          <dgm:chPref val="0"/>
          <dgm:bulletEnabled val="1"/>
        </dgm:presLayoutVars>
      </dgm:prSet>
      <dgm:spPr/>
    </dgm:pt>
    <dgm:pt modelId="{628F4277-CA1D-44BA-B912-AB44A52F4965}" type="pres">
      <dgm:prSet presAssocID="{95EE04AD-20AC-4876-ACDE-A9646A5C2A89}" presName="quad2" presStyleLbl="node1" presStyleIdx="1" presStyleCnt="4">
        <dgm:presLayoutVars>
          <dgm:chMax val="0"/>
          <dgm:chPref val="0"/>
          <dgm:bulletEnabled val="1"/>
        </dgm:presLayoutVars>
      </dgm:prSet>
      <dgm:spPr/>
    </dgm:pt>
    <dgm:pt modelId="{4A161677-7022-4024-BF8A-E41FAE4F6E9E}" type="pres">
      <dgm:prSet presAssocID="{95EE04AD-20AC-4876-ACDE-A9646A5C2A89}" presName="quad3" presStyleLbl="node1" presStyleIdx="2" presStyleCnt="4">
        <dgm:presLayoutVars>
          <dgm:chMax val="0"/>
          <dgm:chPref val="0"/>
          <dgm:bulletEnabled val="1"/>
        </dgm:presLayoutVars>
      </dgm:prSet>
      <dgm:spPr/>
    </dgm:pt>
    <dgm:pt modelId="{26CDEA69-5365-49E2-AF8A-78A760CD5157}" type="pres">
      <dgm:prSet presAssocID="{95EE04AD-20AC-4876-ACDE-A9646A5C2A89}" presName="quad4" presStyleLbl="node1" presStyleIdx="3" presStyleCnt="4">
        <dgm:presLayoutVars>
          <dgm:chMax val="0"/>
          <dgm:chPref val="0"/>
          <dgm:bulletEnabled val="1"/>
        </dgm:presLayoutVars>
      </dgm:prSet>
      <dgm:spPr/>
    </dgm:pt>
  </dgm:ptLst>
  <dgm:cxnLst>
    <dgm:cxn modelId="{26180D19-699A-47E2-835F-20491D913F9C}" type="presOf" srcId="{3E468F8C-0FD4-468C-B807-DB08D9CE91F3}" destId="{26CDEA69-5365-49E2-AF8A-78A760CD5157}" srcOrd="0" destOrd="0" presId="urn:microsoft.com/office/officeart/2005/8/layout/matrix3"/>
    <dgm:cxn modelId="{74572B34-8C2A-4EAA-8230-218605BF9346}" srcId="{95EE04AD-20AC-4876-ACDE-A9646A5C2A89}" destId="{7D9F5DFC-BF89-4E20-B50B-DCA813AA0AFB}" srcOrd="2" destOrd="0" parTransId="{562C8375-80F5-46E5-8253-8EFB048CC6A8}" sibTransId="{DE8D7FB6-3660-41E6-B745-ABB58E14FC2A}"/>
    <dgm:cxn modelId="{729DEB51-2FBC-4266-A0C3-6BC996418A19}" srcId="{95EE04AD-20AC-4876-ACDE-A9646A5C2A89}" destId="{6AFD6514-1917-4A24-A311-683EFE0E353B}" srcOrd="1" destOrd="0" parTransId="{6E533967-324B-4D49-A484-57FCD9C270FD}" sibTransId="{BD49D408-09F4-4372-8593-C56287F20340}"/>
    <dgm:cxn modelId="{47E4047C-4F91-4C5E-836B-90ABC91DAD3A}" type="presOf" srcId="{95EE04AD-20AC-4876-ACDE-A9646A5C2A89}" destId="{FA1F6C87-8C63-482E-8629-B4CEB2E2AFA8}" srcOrd="0" destOrd="0" presId="urn:microsoft.com/office/officeart/2005/8/layout/matrix3"/>
    <dgm:cxn modelId="{B02C8984-5F3D-4D47-A7E7-5733169C0D8D}" srcId="{95EE04AD-20AC-4876-ACDE-A9646A5C2A89}" destId="{EA19EFA8-4B01-4BFA-831F-7272E9032EEC}" srcOrd="0" destOrd="0" parTransId="{1D1A1687-AEC3-4607-B282-E5ECF5BAB2E8}" sibTransId="{1BF045D7-C540-406A-BC8E-B680A2C4FFAE}"/>
    <dgm:cxn modelId="{97269D89-E378-4863-BB15-A03E0A709860}" type="presOf" srcId="{7D9F5DFC-BF89-4E20-B50B-DCA813AA0AFB}" destId="{4A161677-7022-4024-BF8A-E41FAE4F6E9E}" srcOrd="0" destOrd="0" presId="urn:microsoft.com/office/officeart/2005/8/layout/matrix3"/>
    <dgm:cxn modelId="{AAF20EC9-1CA3-4520-825C-BAAEFB3D1AFD}" type="presOf" srcId="{EA19EFA8-4B01-4BFA-831F-7272E9032EEC}" destId="{B0ADE243-9A4F-44B5-A6A7-158CAA63EEF0}" srcOrd="0" destOrd="0" presId="urn:microsoft.com/office/officeart/2005/8/layout/matrix3"/>
    <dgm:cxn modelId="{98D968D2-0DC8-46C2-BAF9-101C9EE5750E}" type="presOf" srcId="{6AFD6514-1917-4A24-A311-683EFE0E353B}" destId="{628F4277-CA1D-44BA-B912-AB44A52F4965}" srcOrd="0" destOrd="0" presId="urn:microsoft.com/office/officeart/2005/8/layout/matrix3"/>
    <dgm:cxn modelId="{597969F4-DB76-418E-84C5-058040EB3813}" srcId="{95EE04AD-20AC-4876-ACDE-A9646A5C2A89}" destId="{3E468F8C-0FD4-468C-B807-DB08D9CE91F3}" srcOrd="3" destOrd="0" parTransId="{BA1EF63E-AE00-419F-BDAA-A29AF28CCF13}" sibTransId="{E4F3AD90-27FF-4675-802D-2B9DDBC65B41}"/>
    <dgm:cxn modelId="{84381DD6-F6D7-4450-9008-F491D1386E19}" type="presParOf" srcId="{FA1F6C87-8C63-482E-8629-B4CEB2E2AFA8}" destId="{7794F5D8-8EDB-4DB6-A787-1A515CCE3E77}" srcOrd="0" destOrd="0" presId="urn:microsoft.com/office/officeart/2005/8/layout/matrix3"/>
    <dgm:cxn modelId="{99DBE6E9-4517-461B-9728-09C43BEF8EE5}" type="presParOf" srcId="{FA1F6C87-8C63-482E-8629-B4CEB2E2AFA8}" destId="{B0ADE243-9A4F-44B5-A6A7-158CAA63EEF0}" srcOrd="1" destOrd="0" presId="urn:microsoft.com/office/officeart/2005/8/layout/matrix3"/>
    <dgm:cxn modelId="{A943869D-C343-4584-94AA-A1529A47E5C4}" type="presParOf" srcId="{FA1F6C87-8C63-482E-8629-B4CEB2E2AFA8}" destId="{628F4277-CA1D-44BA-B912-AB44A52F4965}" srcOrd="2" destOrd="0" presId="urn:microsoft.com/office/officeart/2005/8/layout/matrix3"/>
    <dgm:cxn modelId="{4386EB67-3D33-4EB6-9848-D277E1BA8982}" type="presParOf" srcId="{FA1F6C87-8C63-482E-8629-B4CEB2E2AFA8}" destId="{4A161677-7022-4024-BF8A-E41FAE4F6E9E}" srcOrd="3" destOrd="0" presId="urn:microsoft.com/office/officeart/2005/8/layout/matrix3"/>
    <dgm:cxn modelId="{E371AE1F-AF6F-435C-BEE5-31C409903638}" type="presParOf" srcId="{FA1F6C87-8C63-482E-8629-B4CEB2E2AFA8}" destId="{26CDEA69-5365-49E2-AF8A-78A760CD5157}" srcOrd="4" destOrd="0" presId="urn:microsoft.com/office/officeart/2005/8/layout/matrix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794F5D8-8EDB-4DB6-A787-1A515CCE3E77}">
      <dsp:nvSpPr>
        <dsp:cNvPr id="0" name=""/>
        <dsp:cNvSpPr/>
      </dsp:nvSpPr>
      <dsp:spPr>
        <a:xfrm>
          <a:off x="2224218" y="0"/>
          <a:ext cx="5241906" cy="5241906"/>
        </a:xfrm>
        <a:prstGeom prst="diamond">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0ADE243-9A4F-44B5-A6A7-158CAA63EEF0}">
      <dsp:nvSpPr>
        <dsp:cNvPr id="0" name=""/>
        <dsp:cNvSpPr/>
      </dsp:nvSpPr>
      <dsp:spPr>
        <a:xfrm>
          <a:off x="2722199" y="497981"/>
          <a:ext cx="2044343" cy="204434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dirty="0"/>
            <a:t>Digital Natives</a:t>
          </a:r>
        </a:p>
      </dsp:txBody>
      <dsp:txXfrm>
        <a:off x="2821996" y="597778"/>
        <a:ext cx="1844749" cy="1844749"/>
      </dsp:txXfrm>
    </dsp:sp>
    <dsp:sp modelId="{628F4277-CA1D-44BA-B912-AB44A52F4965}">
      <dsp:nvSpPr>
        <dsp:cNvPr id="0" name=""/>
        <dsp:cNvSpPr/>
      </dsp:nvSpPr>
      <dsp:spPr>
        <a:xfrm>
          <a:off x="4923800" y="497981"/>
          <a:ext cx="2044343" cy="204434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dirty="0"/>
            <a:t>Digital Immigrants</a:t>
          </a:r>
        </a:p>
      </dsp:txBody>
      <dsp:txXfrm>
        <a:off x="5023597" y="597778"/>
        <a:ext cx="1844749" cy="1844749"/>
      </dsp:txXfrm>
    </dsp:sp>
    <dsp:sp modelId="{4A161677-7022-4024-BF8A-E41FAE4F6E9E}">
      <dsp:nvSpPr>
        <dsp:cNvPr id="0" name=""/>
        <dsp:cNvSpPr/>
      </dsp:nvSpPr>
      <dsp:spPr>
        <a:xfrm>
          <a:off x="2722199" y="2699582"/>
          <a:ext cx="2044343" cy="204434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dirty="0"/>
            <a:t>Digital Citizens</a:t>
          </a:r>
        </a:p>
      </dsp:txBody>
      <dsp:txXfrm>
        <a:off x="2821996" y="2799379"/>
        <a:ext cx="1844749" cy="1844749"/>
      </dsp:txXfrm>
    </dsp:sp>
    <dsp:sp modelId="{26CDEA69-5365-49E2-AF8A-78A760CD5157}">
      <dsp:nvSpPr>
        <dsp:cNvPr id="0" name=""/>
        <dsp:cNvSpPr/>
      </dsp:nvSpPr>
      <dsp:spPr>
        <a:xfrm>
          <a:off x="4923800" y="2699582"/>
          <a:ext cx="2044343" cy="2044343"/>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dirty="0"/>
            <a:t>Digital Pioneers</a:t>
          </a:r>
        </a:p>
      </dsp:txBody>
      <dsp:txXfrm>
        <a:off x="5023597" y="2799379"/>
        <a:ext cx="1844749" cy="1844749"/>
      </dsp:txXfrm>
    </dsp:sp>
  </dsp:spTree>
</dsp:drawing>
</file>

<file path=ppt/diagrams/layout1.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39DBC91-0B6A-4825-A296-D8914F854D48}" type="datetimeFigureOut">
              <a:rPr lang="en-US" smtClean="0"/>
              <a:t>10/2/2026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CD4C3F-4486-45EC-94DC-7E0C3BEF4F80}" type="slidenum">
              <a:rPr lang="en-US" smtClean="0"/>
              <a:t>‹#›</a:t>
            </a:fld>
            <a:endParaRPr lang="en-US"/>
          </a:p>
        </p:txBody>
      </p:sp>
    </p:spTree>
    <p:extLst>
      <p:ext uri="{BB962C8B-B14F-4D97-AF65-F5344CB8AC3E}">
        <p14:creationId xmlns:p14="http://schemas.microsoft.com/office/powerpoint/2010/main" val="21604847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what is the</a:t>
            </a:r>
            <a:r>
              <a:rPr lang="en-US" baseline="0" dirty="0"/>
              <a:t> BUILDS program</a:t>
            </a:r>
            <a:endParaRPr lang="en-US" dirty="0"/>
          </a:p>
        </p:txBody>
      </p:sp>
      <p:sp>
        <p:nvSpPr>
          <p:cNvPr id="4" name="Slide Number Placeholder 3"/>
          <p:cNvSpPr>
            <a:spLocks noGrp="1"/>
          </p:cNvSpPr>
          <p:nvPr>
            <p:ph type="sldNum" sz="quarter" idx="10"/>
          </p:nvPr>
        </p:nvSpPr>
        <p:spPr/>
        <p:txBody>
          <a:bodyPr/>
          <a:lstStyle/>
          <a:p>
            <a:fld id="{A6CD4C3F-4486-45EC-94DC-7E0C3BEF4F80}" type="slidenum">
              <a:rPr lang="en-US" smtClean="0"/>
              <a:t>1</a:t>
            </a:fld>
            <a:endParaRPr lang="en-US"/>
          </a:p>
        </p:txBody>
      </p:sp>
    </p:spTree>
    <p:extLst>
      <p:ext uri="{BB962C8B-B14F-4D97-AF65-F5344CB8AC3E}">
        <p14:creationId xmlns:p14="http://schemas.microsoft.com/office/powerpoint/2010/main" val="16661321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Mossberger</a:t>
            </a:r>
            <a:r>
              <a:rPr lang="en-US" dirty="0"/>
              <a:t>, K.,</a:t>
            </a:r>
            <a:r>
              <a:rPr lang="en-US" baseline="0" dirty="0"/>
              <a:t> et al. (2008). </a:t>
            </a:r>
            <a:r>
              <a:rPr lang="en-US" dirty="0"/>
              <a:t>Digital Citizenship: The Internet, Society, and Participation.</a:t>
            </a:r>
            <a:r>
              <a:rPr lang="en-US" baseline="0" dirty="0"/>
              <a:t> </a:t>
            </a:r>
            <a:r>
              <a:rPr lang="en-US" dirty="0"/>
              <a:t>Massachusetts Institute of Technology.</a:t>
            </a:r>
          </a:p>
          <a:p>
            <a:r>
              <a:rPr lang="en-US" dirty="0" err="1"/>
              <a:t>Ribble</a:t>
            </a:r>
            <a:r>
              <a:rPr lang="en-US" dirty="0"/>
              <a:t>, M. and Bailey, G. (2007). Digital citizenship in schools. International Society for Technology in Education</a:t>
            </a:r>
          </a:p>
        </p:txBody>
      </p:sp>
      <p:sp>
        <p:nvSpPr>
          <p:cNvPr id="4" name="Slide Number Placeholder 3"/>
          <p:cNvSpPr>
            <a:spLocks noGrp="1"/>
          </p:cNvSpPr>
          <p:nvPr>
            <p:ph type="sldNum" sz="quarter" idx="10"/>
          </p:nvPr>
        </p:nvSpPr>
        <p:spPr/>
        <p:txBody>
          <a:bodyPr/>
          <a:lstStyle/>
          <a:p>
            <a:fld id="{A6CD4C3F-4486-45EC-94DC-7E0C3BEF4F80}" type="slidenum">
              <a:rPr lang="en-US" smtClean="0"/>
              <a:t>4</a:t>
            </a:fld>
            <a:endParaRPr lang="en-US"/>
          </a:p>
        </p:txBody>
      </p:sp>
    </p:spTree>
    <p:extLst>
      <p:ext uri="{BB962C8B-B14F-4D97-AF65-F5344CB8AC3E}">
        <p14:creationId xmlns:p14="http://schemas.microsoft.com/office/powerpoint/2010/main" val="13137347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Keywords: digital divide, equal access,</a:t>
            </a:r>
            <a:r>
              <a:rPr lang="en-US" baseline="0" dirty="0"/>
              <a:t> meeting halfway, a two-way initiative or adjustment</a:t>
            </a:r>
            <a:endParaRPr lang="en-US" dirty="0"/>
          </a:p>
        </p:txBody>
      </p:sp>
      <p:sp>
        <p:nvSpPr>
          <p:cNvPr id="4" name="Slide Number Placeholder 3"/>
          <p:cNvSpPr>
            <a:spLocks noGrp="1"/>
          </p:cNvSpPr>
          <p:nvPr>
            <p:ph type="sldNum" sz="quarter" idx="10"/>
          </p:nvPr>
        </p:nvSpPr>
        <p:spPr/>
        <p:txBody>
          <a:bodyPr/>
          <a:lstStyle/>
          <a:p>
            <a:fld id="{A6CD4C3F-4486-45EC-94DC-7E0C3BEF4F80}" type="slidenum">
              <a:rPr lang="en-US" smtClean="0"/>
              <a:t>6</a:t>
            </a:fld>
            <a:endParaRPr lang="en-US"/>
          </a:p>
        </p:txBody>
      </p:sp>
    </p:spTree>
    <p:extLst>
      <p:ext uri="{BB962C8B-B14F-4D97-AF65-F5344CB8AC3E}">
        <p14:creationId xmlns:p14="http://schemas.microsoft.com/office/powerpoint/2010/main" val="32175682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Keywords: responsible consumerism,</a:t>
            </a:r>
            <a:r>
              <a:rPr lang="en-US" baseline="0" dirty="0"/>
              <a:t> talk about those selling e-books online, some books could be requested or scanned at the library for free, some selling google drive access might contain malwares</a:t>
            </a:r>
            <a:endParaRPr lang="en-US" dirty="0"/>
          </a:p>
        </p:txBody>
      </p:sp>
      <p:sp>
        <p:nvSpPr>
          <p:cNvPr id="4" name="Slide Number Placeholder 3"/>
          <p:cNvSpPr>
            <a:spLocks noGrp="1"/>
          </p:cNvSpPr>
          <p:nvPr>
            <p:ph type="sldNum" sz="quarter" idx="10"/>
          </p:nvPr>
        </p:nvSpPr>
        <p:spPr/>
        <p:txBody>
          <a:bodyPr/>
          <a:lstStyle/>
          <a:p>
            <a:fld id="{A6CD4C3F-4486-45EC-94DC-7E0C3BEF4F80}" type="slidenum">
              <a:rPr lang="en-US" smtClean="0"/>
              <a:t>8</a:t>
            </a:fld>
            <a:endParaRPr lang="en-US"/>
          </a:p>
        </p:txBody>
      </p:sp>
    </p:spTree>
    <p:extLst>
      <p:ext uri="{BB962C8B-B14F-4D97-AF65-F5344CB8AC3E}">
        <p14:creationId xmlns:p14="http://schemas.microsoft.com/office/powerpoint/2010/main" val="39650471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Keywords: there should be</a:t>
            </a:r>
            <a:r>
              <a:rPr lang="en-US" baseline="0" dirty="0"/>
              <a:t> an agreed set of ethical way of communication, mention how this could be discussed further in cyber ethics</a:t>
            </a:r>
            <a:endParaRPr lang="en-US" dirty="0"/>
          </a:p>
        </p:txBody>
      </p:sp>
      <p:sp>
        <p:nvSpPr>
          <p:cNvPr id="4" name="Slide Number Placeholder 3"/>
          <p:cNvSpPr>
            <a:spLocks noGrp="1"/>
          </p:cNvSpPr>
          <p:nvPr>
            <p:ph type="sldNum" sz="quarter" idx="10"/>
          </p:nvPr>
        </p:nvSpPr>
        <p:spPr/>
        <p:txBody>
          <a:bodyPr/>
          <a:lstStyle/>
          <a:p>
            <a:fld id="{A6CD4C3F-4486-45EC-94DC-7E0C3BEF4F80}" type="slidenum">
              <a:rPr lang="en-US" smtClean="0"/>
              <a:t>10</a:t>
            </a:fld>
            <a:endParaRPr lang="en-US"/>
          </a:p>
        </p:txBody>
      </p:sp>
    </p:spTree>
    <p:extLst>
      <p:ext uri="{BB962C8B-B14F-4D97-AF65-F5344CB8AC3E}">
        <p14:creationId xmlns:p14="http://schemas.microsoft.com/office/powerpoint/2010/main" val="17752084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Keywords: explain the difference of information, media, digital, technological, and </a:t>
            </a:r>
            <a:r>
              <a:rPr lang="en-US" dirty="0" err="1"/>
              <a:t>metaliteracy</a:t>
            </a:r>
            <a:endParaRPr lang="en-US" dirty="0"/>
          </a:p>
        </p:txBody>
      </p:sp>
      <p:sp>
        <p:nvSpPr>
          <p:cNvPr id="4" name="Slide Number Placeholder 3"/>
          <p:cNvSpPr>
            <a:spLocks noGrp="1"/>
          </p:cNvSpPr>
          <p:nvPr>
            <p:ph type="sldNum" sz="quarter" idx="10"/>
          </p:nvPr>
        </p:nvSpPr>
        <p:spPr/>
        <p:txBody>
          <a:bodyPr/>
          <a:lstStyle/>
          <a:p>
            <a:fld id="{A6CD4C3F-4486-45EC-94DC-7E0C3BEF4F80}" type="slidenum">
              <a:rPr lang="en-US" smtClean="0"/>
              <a:t>12</a:t>
            </a:fld>
            <a:endParaRPr lang="en-US"/>
          </a:p>
        </p:txBody>
      </p:sp>
    </p:spTree>
    <p:extLst>
      <p:ext uri="{BB962C8B-B14F-4D97-AF65-F5344CB8AC3E}">
        <p14:creationId xmlns:p14="http://schemas.microsoft.com/office/powerpoint/2010/main" val="1073221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Keywords: mention how a while ago was only about communication, this also go about information consumption, data handling and etc.</a:t>
            </a:r>
          </a:p>
        </p:txBody>
      </p:sp>
      <p:sp>
        <p:nvSpPr>
          <p:cNvPr id="4" name="Slide Number Placeholder 3"/>
          <p:cNvSpPr>
            <a:spLocks noGrp="1"/>
          </p:cNvSpPr>
          <p:nvPr>
            <p:ph type="sldNum" sz="quarter" idx="10"/>
          </p:nvPr>
        </p:nvSpPr>
        <p:spPr/>
        <p:txBody>
          <a:bodyPr/>
          <a:lstStyle/>
          <a:p>
            <a:fld id="{A6CD4C3F-4486-45EC-94DC-7E0C3BEF4F80}" type="slidenum">
              <a:rPr lang="en-US" smtClean="0"/>
              <a:t>14</a:t>
            </a:fld>
            <a:endParaRPr lang="en-US"/>
          </a:p>
        </p:txBody>
      </p:sp>
    </p:spTree>
    <p:extLst>
      <p:ext uri="{BB962C8B-B14F-4D97-AF65-F5344CB8AC3E}">
        <p14:creationId xmlns:p14="http://schemas.microsoft.com/office/powerpoint/2010/main" val="9424914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Keywords: what moderates and dictates the ethics discussed earlier</a:t>
            </a:r>
          </a:p>
        </p:txBody>
      </p:sp>
      <p:sp>
        <p:nvSpPr>
          <p:cNvPr id="4" name="Slide Number Placeholder 3"/>
          <p:cNvSpPr>
            <a:spLocks noGrp="1"/>
          </p:cNvSpPr>
          <p:nvPr>
            <p:ph type="sldNum" sz="quarter" idx="10"/>
          </p:nvPr>
        </p:nvSpPr>
        <p:spPr/>
        <p:txBody>
          <a:bodyPr/>
          <a:lstStyle/>
          <a:p>
            <a:fld id="{A6CD4C3F-4486-45EC-94DC-7E0C3BEF4F80}" type="slidenum">
              <a:rPr lang="en-US" smtClean="0"/>
              <a:t>16</a:t>
            </a:fld>
            <a:endParaRPr lang="en-US"/>
          </a:p>
        </p:txBody>
      </p:sp>
    </p:spTree>
    <p:extLst>
      <p:ext uri="{BB962C8B-B14F-4D97-AF65-F5344CB8AC3E}">
        <p14:creationId xmlns:p14="http://schemas.microsoft.com/office/powerpoint/2010/main" val="5875749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1007533" y="0"/>
            <a:ext cx="7934348"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8" name="Rectangle 7"/>
          <p:cNvSpPr/>
          <p:nvPr/>
        </p:nvSpPr>
        <p:spPr>
          <a:xfrm>
            <a:off x="8941881"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p:cNvSpPr>
            <a:spLocks noGrp="1"/>
          </p:cNvSpPr>
          <p:nvPr>
            <p:ph type="ctrTitle"/>
          </p:nvPr>
        </p:nvSpPr>
        <p:spPr>
          <a:xfrm>
            <a:off x="2611808" y="3428998"/>
            <a:ext cx="5518066" cy="2268559"/>
          </a:xfrm>
        </p:spPr>
        <p:txBody>
          <a:bodyPr anchor="t">
            <a:normAutofit/>
          </a:bodyPr>
          <a:lstStyle>
            <a:lvl1pPr algn="r">
              <a:defRPr sz="6000"/>
            </a:lvl1pPr>
          </a:lstStyle>
          <a:p>
            <a:r>
              <a:rPr lang="en-US"/>
              <a:t>Click to edit Master title style</a:t>
            </a:r>
            <a:endParaRPr lang="en-US" dirty="0"/>
          </a:p>
        </p:txBody>
      </p:sp>
      <p:sp>
        <p:nvSpPr>
          <p:cNvPr id="3" name="Subtitle 2"/>
          <p:cNvSpPr>
            <a:spLocks noGrp="1"/>
          </p:cNvSpPr>
          <p:nvPr>
            <p:ph type="subTitle" idx="1"/>
          </p:nvPr>
        </p:nvSpPr>
        <p:spPr>
          <a:xfrm>
            <a:off x="2772274" y="2268786"/>
            <a:ext cx="5357600" cy="1160213"/>
          </a:xfrm>
        </p:spPr>
        <p:txBody>
          <a:bodyPr tIns="0" anchor="b">
            <a:normAutofit/>
          </a:bodyPr>
          <a:lstStyle>
            <a:lvl1pPr marL="0" indent="0" algn="r">
              <a:buNone/>
              <a:defRPr sz="1800" b="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AB3A824-1A51-4B26-AD58-A6D8E14F6C04}" type="datetimeFigureOut">
              <a:rPr lang="en-US" dirty="0"/>
              <a:t>10/2/2026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rIns="45720"/>
          <a:lstStyle/>
          <a:p>
            <a:fld id="{6D22F896-40B5-4ADD-8801-0D06FADFA095}" type="slidenum">
              <a:rPr lang="en-US" dirty="0"/>
              <a:t>‹#›</a:t>
            </a:fld>
            <a:endParaRPr lang="en-US" dirty="0"/>
          </a:p>
        </p:txBody>
      </p:sp>
      <p:sp>
        <p:nvSpPr>
          <p:cNvPr id="13" name="TextBox 12"/>
          <p:cNvSpPr txBox="1"/>
          <p:nvPr/>
        </p:nvSpPr>
        <p:spPr>
          <a:xfrm>
            <a:off x="2191282" y="3262852"/>
            <a:ext cx="415636" cy="461665"/>
          </a:xfrm>
          <a:prstGeom prst="rect">
            <a:avLst/>
          </a:prstGeom>
          <a:noFill/>
        </p:spPr>
        <p:txBody>
          <a:bodyPr wrap="square" rtlCol="0">
            <a:spAutoFit/>
          </a:bodyPr>
          <a:lstStyle/>
          <a:p>
            <a:pPr algn="r"/>
            <a:r>
              <a:rPr lang="en-US" sz="2400" dirty="0">
                <a:solidFill>
                  <a:schemeClr val="accent6"/>
                </a:solidFill>
                <a:latin typeface="Wingdings 3" panose="05040102010807070707" pitchFamily="18" charset="2"/>
              </a:rPr>
              <a:t>z</a:t>
            </a:r>
            <a:endParaRPr lang="en-US" sz="2400" dirty="0">
              <a:solidFill>
                <a:schemeClr val="accent6"/>
              </a:solidFill>
              <a:latin typeface="MS Shell Dlg 2" panose="020B060403050404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9" name="Rectangle 2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9" name="Rectangle 8"/>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7D162C4-EDD9-4389-A98B-B87ECEA2A816}" type="datetimeFigureOut">
              <a:rPr lang="en-US" dirty="0"/>
              <a:t>10/2/2026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
        <p:nvSpPr>
          <p:cNvPr id="7" name="TextBox 6"/>
          <p:cNvSpPr txBox="1"/>
          <p:nvPr/>
        </p:nvSpPr>
        <p:spPr>
          <a:xfrm>
            <a:off x="2194943" y="641225"/>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4" name="Rectangle 2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TextBox 10"/>
          <p:cNvSpPr txBox="1"/>
          <p:nvPr/>
        </p:nvSpPr>
        <p:spPr>
          <a:xfrm>
            <a:off x="2191843" y="2962586"/>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3147254"/>
            <a:ext cx="7956560" cy="1424746"/>
          </a:xfrm>
        </p:spPr>
        <p:txBody>
          <a:bodyPr anchor="t">
            <a:normAutofit/>
          </a:bodyPr>
          <a:lstStyle>
            <a:lvl1pPr algn="r">
              <a:defRPr sz="3200"/>
            </a:lvl1pPr>
          </a:lstStyle>
          <a:p>
            <a:r>
              <a:rPr lang="en-US"/>
              <a:t>Click to edit Master title style</a:t>
            </a:r>
            <a:endParaRPr lang="en-US" dirty="0"/>
          </a:p>
        </p:txBody>
      </p:sp>
      <p:sp>
        <p:nvSpPr>
          <p:cNvPr id="3" name="Text Placeholder 2"/>
          <p:cNvSpPr>
            <a:spLocks noGrp="1"/>
          </p:cNvSpPr>
          <p:nvPr>
            <p:ph type="body" idx="1"/>
          </p:nvPr>
        </p:nvSpPr>
        <p:spPr>
          <a:xfrm>
            <a:off x="2773968" y="2268786"/>
            <a:ext cx="7791931" cy="878468"/>
          </a:xfrm>
        </p:spPr>
        <p:txBody>
          <a:bodyPr tIns="0" anchor="b">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E5059C3-6A89-4494-99FF-5A4D6FFD50EB}" type="datetimeFigureOut">
              <a:rPr lang="en-US" dirty="0"/>
              <a:t>10/2/2026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6" name="Rectangle 25"/>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609873" y="805817"/>
            <a:ext cx="7950984" cy="10817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2605374" y="2052116"/>
            <a:ext cx="3891960" cy="399782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66636" y="2052114"/>
            <a:ext cx="3894222" cy="399782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A954B2F-12DE-47F5-8894-472B206D2E1E}" type="datetimeFigureOut">
              <a:rPr lang="en-US" dirty="0"/>
              <a:t>10/2/2026</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10" name="TextBox 9"/>
          <p:cNvSpPr txBox="1"/>
          <p:nvPr/>
        </p:nvSpPr>
        <p:spPr>
          <a:xfrm>
            <a:off x="2196172" y="641223"/>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0" name="Rectangle 19"/>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Rectangle 20"/>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TextBox 11"/>
          <p:cNvSpPr txBox="1"/>
          <p:nvPr/>
        </p:nvSpPr>
        <p:spPr>
          <a:xfrm>
            <a:off x="2193650" y="636424"/>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805818"/>
            <a:ext cx="7956560" cy="1078348"/>
          </a:xfrm>
        </p:spPr>
        <p:txBody>
          <a:bodyPr/>
          <a:lstStyle/>
          <a:p>
            <a:r>
              <a:rPr lang="en-US"/>
              <a:t>Click to edit Master title style</a:t>
            </a:r>
            <a:endParaRPr lang="en-US" dirty="0"/>
          </a:p>
        </p:txBody>
      </p:sp>
      <p:sp>
        <p:nvSpPr>
          <p:cNvPr id="3" name="Text Placeholder 2"/>
          <p:cNvSpPr>
            <a:spLocks noGrp="1"/>
          </p:cNvSpPr>
          <p:nvPr>
            <p:ph type="body" idx="1"/>
          </p:nvPr>
        </p:nvSpPr>
        <p:spPr>
          <a:xfrm>
            <a:off x="2609285" y="2052115"/>
            <a:ext cx="3896467"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2609285" y="2851331"/>
            <a:ext cx="3893623" cy="307143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666634" y="2052115"/>
            <a:ext cx="3899798"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666635" y="2851331"/>
            <a:ext cx="3899798" cy="307143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F30E46F-7819-4ACF-B48B-48222C2ACC88}" type="datetimeFigureOut">
              <a:rPr lang="en-US" dirty="0"/>
              <a:t>10/2/2026</a:t>
            </a:fld>
            <a:endParaRPr lang="en-US" dirty="0"/>
          </a:p>
        </p:txBody>
      </p:sp>
      <p:sp>
        <p:nvSpPr>
          <p:cNvPr id="8" name="Footer Placeholder 7"/>
          <p:cNvSpPr>
            <a:spLocks noGrp="1"/>
          </p:cNvSpPr>
          <p:nvPr>
            <p:ph type="ftr" sz="quarter" idx="11"/>
          </p:nvPr>
        </p:nvSpPr>
        <p:spPr/>
        <p:txBody>
          <a:bodyPr/>
          <a:lstStyle/>
          <a:p>
            <a:r>
              <a:rPr lang="en-US" dirty="0"/>
              <a:t>
              </a:t>
            </a:r>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3" name="Rectangle 12"/>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Rectangle 13"/>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FAF3416-4057-4DAA-829D-4CA07428D088}" type="datetimeFigureOut">
              <a:rPr lang="en-US" dirty="0"/>
              <a:t>10/2/2026</a:t>
            </a:fld>
            <a:endParaRPr lang="en-US" dirty="0"/>
          </a:p>
        </p:txBody>
      </p:sp>
      <p:sp>
        <p:nvSpPr>
          <p:cNvPr id="4" name="Footer Placeholder 3"/>
          <p:cNvSpPr>
            <a:spLocks noGrp="1"/>
          </p:cNvSpPr>
          <p:nvPr>
            <p:ph type="ftr" sz="quarter" idx="11"/>
          </p:nvPr>
        </p:nvSpPr>
        <p:spPr/>
        <p:txBody>
          <a:bodyPr/>
          <a:lstStyle/>
          <a:p>
            <a:r>
              <a:rPr lang="en-US" dirty="0"/>
              <a:t>
              </a:t>
            </a:r>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
        <p:nvSpPr>
          <p:cNvPr id="8" name="TextBox 7"/>
          <p:cNvSpPr txBox="1"/>
          <p:nvPr/>
        </p:nvSpPr>
        <p:spPr>
          <a:xfrm>
            <a:off x="2196172" y="641226"/>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2" name="Rectangle 11"/>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921D9284-D300-4297-87F7-E791DCC15DB1}" type="datetimeFigureOut">
              <a:rPr lang="en-US" dirty="0"/>
              <a:t>10/2/2026</a:t>
            </a:fld>
            <a:endParaRPr lang="en-US" dirty="0"/>
          </a:p>
        </p:txBody>
      </p:sp>
      <p:sp>
        <p:nvSpPr>
          <p:cNvPr id="3" name="Footer Placeholder 2"/>
          <p:cNvSpPr>
            <a:spLocks noGrp="1"/>
          </p:cNvSpPr>
          <p:nvPr>
            <p:ph type="ftr" sz="quarter" idx="11"/>
          </p:nvPr>
        </p:nvSpPr>
        <p:spPr/>
        <p:txBody>
          <a:bodyPr/>
          <a:lstStyle/>
          <a:p>
            <a:r>
              <a:rPr lang="en-US" dirty="0"/>
              <a:t>
              </a:t>
            </a:r>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5" name="Rectangle 2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Rectangle 2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TextBox 9"/>
          <p:cNvSpPr txBox="1"/>
          <p:nvPr/>
        </p:nvSpPr>
        <p:spPr>
          <a:xfrm>
            <a:off x="1554154" y="1127550"/>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0323" y="1282451"/>
            <a:ext cx="2664361" cy="1903241"/>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120154" y="805818"/>
            <a:ext cx="5446278" cy="5244126"/>
          </a:xfrm>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970322" y="3186154"/>
            <a:ext cx="2664361" cy="2386397"/>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37D525BB-DA17-4BA0-B3C8-3AC3ABC827E6}" type="datetimeFigureOut">
              <a:rPr lang="en-US" dirty="0"/>
              <a:t>10/2/2026</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9" name="Rectangle 1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Rectangle 19"/>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6747062" y="3229"/>
            <a:ext cx="4629734" cy="6858000"/>
          </a:xfrm>
          <a:solidFill>
            <a:schemeClr val="tx1">
              <a:alpha val="10000"/>
            </a:schemeClr>
          </a:solidFill>
          <a:ln w="9525" cap="sq">
            <a:noFill/>
            <a:miter lim="800000"/>
          </a:ln>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0" name="TextBox 9"/>
          <p:cNvSpPr txBox="1"/>
          <p:nvPr/>
        </p:nvSpPr>
        <p:spPr>
          <a:xfrm>
            <a:off x="1554686" y="1127550"/>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1241" y="1282452"/>
            <a:ext cx="3970986" cy="1900473"/>
          </a:xfrm>
        </p:spPr>
        <p:txBody>
          <a:bodyPr anchor="b">
            <a:normAutofit/>
          </a:bodyP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970322" y="3182928"/>
            <a:ext cx="3971874" cy="2386394"/>
          </a:xfrm>
        </p:spPr>
        <p:txBody>
          <a:bodyPr>
            <a:normAutofit/>
          </a:bodyPr>
          <a:lstStyle>
            <a:lvl1pPr marL="0" indent="0" algn="l">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16C4C9A-3960-41CF-A4E9-2A8FB932454B}" type="datetimeFigureOut">
              <a:rPr lang="en-US" dirty="0"/>
              <a:t>10/2/2026</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4" name="Rectangle 1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a:off x="2194236" y="641225"/>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11808" y="808056"/>
            <a:ext cx="7954091" cy="1077229"/>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857E33E-8B18-4087-B112-809917729534}" type="datetimeFigureOut">
              <a:rPr lang="en-US" dirty="0"/>
              <a:t>10/2/2026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5" name="Rectangle 1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Rectangle 1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rot="5400000">
            <a:off x="10337141" y="416061"/>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Vertical Title 1"/>
          <p:cNvSpPr>
            <a:spLocks noGrp="1"/>
          </p:cNvSpPr>
          <p:nvPr>
            <p:ph type="title" orient="vert"/>
          </p:nvPr>
        </p:nvSpPr>
        <p:spPr>
          <a:xfrm>
            <a:off x="9239380" y="805818"/>
            <a:ext cx="1326519" cy="5244126"/>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2608751" y="970410"/>
            <a:ext cx="6466903" cy="5079534"/>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3FFE419-2371-464F-8239-3959401C3561}" type="datetimeFigureOut">
              <a:rPr lang="en-US" dirty="0"/>
              <a:t>10/2/2026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18" name="Picture 17"/>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15" name="Picture 14"/>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8" name="Rectangle 7"/>
          <p:cNvSpPr/>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Placeholder 1"/>
          <p:cNvSpPr>
            <a:spLocks noGrp="1"/>
          </p:cNvSpPr>
          <p:nvPr>
            <p:ph type="title"/>
          </p:nvPr>
        </p:nvSpPr>
        <p:spPr>
          <a:xfrm>
            <a:off x="2611808" y="808056"/>
            <a:ext cx="7958331" cy="1077229"/>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773599" y="2052116"/>
            <a:ext cx="7796540" cy="399782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Eigth level</a:t>
            </a:r>
          </a:p>
          <a:p>
            <a:pPr lvl="8"/>
            <a:r>
              <a:rPr lang="en-US" dirty="0"/>
              <a:t>Ninth level</a:t>
            </a:r>
          </a:p>
        </p:txBody>
      </p:sp>
      <p:sp>
        <p:nvSpPr>
          <p:cNvPr id="4" name="Date Placeholder 3"/>
          <p:cNvSpPr>
            <a:spLocks noGrp="1"/>
          </p:cNvSpPr>
          <p:nvPr>
            <p:ph type="dt" sz="half" idx="2"/>
          </p:nvPr>
        </p:nvSpPr>
        <p:spPr>
          <a:xfrm rot="5400000">
            <a:off x="-810065" y="5270604"/>
            <a:ext cx="2662729" cy="182880"/>
          </a:xfrm>
          <a:prstGeom prst="rect">
            <a:avLst/>
          </a:prstGeom>
        </p:spPr>
        <p:txBody>
          <a:bodyPr vert="horz" lIns="91440" tIns="18288" rIns="91440" bIns="45720" rtlCol="0" anchor="t"/>
          <a:lstStyle>
            <a:lvl1pPr algn="r">
              <a:defRPr sz="800">
                <a:solidFill>
                  <a:schemeClr val="tx1">
                    <a:tint val="75000"/>
                  </a:schemeClr>
                </a:solidFill>
                <a:latin typeface="+mn-lt"/>
              </a:defRPr>
            </a:lvl1pPr>
          </a:lstStyle>
          <a:p>
            <a:fld id="{3CBC1C18-307B-4F68-A007-B5B542270E8D}" type="datetimeFigureOut">
              <a:rPr lang="en-US" dirty="0"/>
              <a:t>10/2/2026</a:t>
            </a:fld>
            <a:endParaRPr lang="en-US" dirty="0"/>
          </a:p>
        </p:txBody>
      </p:sp>
      <p:sp>
        <p:nvSpPr>
          <p:cNvPr id="5" name="Footer Placeholder 4"/>
          <p:cNvSpPr>
            <a:spLocks noGrp="1"/>
          </p:cNvSpPr>
          <p:nvPr>
            <p:ph type="ftr" sz="quarter" idx="3"/>
          </p:nvPr>
        </p:nvSpPr>
        <p:spPr>
          <a:xfrm rot="5400000">
            <a:off x="-2237130" y="3661144"/>
            <a:ext cx="5885352" cy="179176"/>
          </a:xfrm>
          <a:prstGeom prst="rect">
            <a:avLst/>
          </a:prstGeom>
        </p:spPr>
        <p:txBody>
          <a:bodyPr vert="horz" lIns="91440" tIns="45720" rIns="91440" bIns="18288" rtlCol="0" anchor="b"/>
          <a:lstStyle>
            <a:lvl1pPr algn="r">
              <a:defRPr sz="800">
                <a:solidFill>
                  <a:schemeClr val="tx1">
                    <a:tint val="75000"/>
                  </a:schemeClr>
                </a:solidFill>
              </a:defRPr>
            </a:lvl1pPr>
          </a:lstStyle>
          <a:p>
            <a:r>
              <a:rPr lang="en-US" dirty="0"/>
              <a:t>
              </a:t>
            </a:r>
          </a:p>
        </p:txBody>
      </p:sp>
      <p:sp>
        <p:nvSpPr>
          <p:cNvPr id="6" name="Slide Number Placeholder 5"/>
          <p:cNvSpPr>
            <a:spLocks noGrp="1"/>
          </p:cNvSpPr>
          <p:nvPr>
            <p:ph type="sldNum" sz="quarter" idx="4"/>
          </p:nvPr>
        </p:nvSpPr>
        <p:spPr>
          <a:xfrm>
            <a:off x="158407" y="164592"/>
            <a:ext cx="636727" cy="322851"/>
          </a:xfrm>
          <a:prstGeom prst="rect">
            <a:avLst/>
          </a:prstGeom>
        </p:spPr>
        <p:txBody>
          <a:bodyPr vert="horz" lIns="91440" tIns="45720" rIns="45720" bIns="45720" rtlCol="0" anchor="ctr"/>
          <a:lstStyle>
            <a:lvl1pPr algn="r">
              <a:defRPr sz="1800">
                <a:solidFill>
                  <a:schemeClr val="tx1">
                    <a:tint val="75000"/>
                  </a:schemeClr>
                </a:solidFill>
              </a:defRPr>
            </a:lvl1pPr>
          </a:lstStyle>
          <a:p>
            <a:fld id="{6D22F896-40B5-4ADD-8801-0D06FADFA095}" type="slidenum">
              <a:rPr lang="en-US" dirty="0"/>
              <a:pPr/>
              <a:t>‹#›</a:t>
            </a:fld>
            <a:endParaRPr lang="en-US" dirty="0"/>
          </a:p>
        </p:txBody>
      </p:sp>
      <p:sp>
        <p:nvSpPr>
          <p:cNvPr id="57" name="Rectangle 56"/>
          <p:cNvSpPr/>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p:titleStyle>
    <p:bodyStyle>
      <a:lvl1pPr marL="34448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2000" kern="1200">
          <a:solidFill>
            <a:schemeClr val="tx1"/>
          </a:solidFill>
          <a:effectLst/>
          <a:latin typeface="+mn-lt"/>
          <a:ea typeface="+mn-ea"/>
          <a:cs typeface="+mn-cs"/>
        </a:defRPr>
      </a:lvl1pPr>
      <a:lvl2pPr marL="79533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800" kern="1200">
          <a:solidFill>
            <a:schemeClr val="tx1"/>
          </a:solidFill>
          <a:effectLst/>
          <a:latin typeface="+mn-lt"/>
          <a:ea typeface="+mn-ea"/>
          <a:cs typeface="+mn-cs"/>
        </a:defRPr>
      </a:lvl2pPr>
      <a:lvl3pPr marL="125888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600" kern="1200">
          <a:solidFill>
            <a:schemeClr val="tx1"/>
          </a:solidFill>
          <a:effectLst/>
          <a:latin typeface="+mn-lt"/>
          <a:ea typeface="+mn-ea"/>
          <a:cs typeface="+mn-cs"/>
        </a:defRPr>
      </a:lvl3pPr>
      <a:lvl4pPr marL="170973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400" kern="1200">
          <a:solidFill>
            <a:schemeClr val="tx1"/>
          </a:solidFill>
          <a:effectLst/>
          <a:latin typeface="+mn-lt"/>
          <a:ea typeface="+mn-ea"/>
          <a:cs typeface="+mn-cs"/>
        </a:defRPr>
      </a:lvl4pPr>
      <a:lvl5pPr marL="217328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5pPr>
      <a:lvl6pPr marL="2642616"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6pPr>
      <a:lvl7pPr marL="3108960"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7pPr>
      <a:lvl8pPr marL="3575304"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8pPr>
      <a:lvl9pPr marL="404164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Layout" Target="../slideLayouts/slideLayout2.xml"/><Relationship Id="rId5" Type="http://schemas.openxmlformats.org/officeDocument/2006/relationships/image" Target="../media/image7.jpeg"/><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Layout" Target="../slideLayouts/slideLayout2.xml"/><Relationship Id="rId5" Type="http://schemas.openxmlformats.org/officeDocument/2006/relationships/image" Target="../media/image8.jpeg"/><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Layout" Target="../slideLayouts/slideLayout2.xml"/><Relationship Id="rId5" Type="http://schemas.openxmlformats.org/officeDocument/2006/relationships/image" Target="../media/image9.jpeg"/><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Layout" Target="../slideLayouts/slideLayout2.xml"/><Relationship Id="rId5" Type="http://schemas.openxmlformats.org/officeDocument/2006/relationships/image" Target="../media/image10.svg"/><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Layout" Target="../slideLayouts/slideLayout2.xml"/><Relationship Id="rId5" Type="http://schemas.openxmlformats.org/officeDocument/2006/relationships/image" Target="../media/image11.svg"/><Relationship Id="rId4" Type="http://schemas.openxmlformats.org/officeDocument/2006/relationships/image" Target="../media/image3.png"/></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Layout" Target="../slideLayouts/slideLayout2.xml"/><Relationship Id="rId5" Type="http://schemas.openxmlformats.org/officeDocument/2006/relationships/image" Target="../media/image12.svg"/><Relationship Id="rId4" Type="http://schemas.openxmlformats.org/officeDocument/2006/relationships/image" Target="../media/image3.png"/></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Layout" Target="../slideLayouts/slideLayout2.xml"/><Relationship Id="rId5" Type="http://schemas.openxmlformats.org/officeDocument/2006/relationships/image" Target="../media/image13.svg"/><Relationship Id="rId4" Type="http://schemas.openxmlformats.org/officeDocument/2006/relationships/image" Target="../media/image3.png"/></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Layout" Target="../slideLayouts/slideLayout2.xml"/><Relationship Id="rId5" Type="http://schemas.openxmlformats.org/officeDocument/2006/relationships/image" Target="../media/image14.svg"/><Relationship Id="rId4" Type="http://schemas.openxmlformats.org/officeDocument/2006/relationships/image" Target="../media/image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3.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Digital Citizens</a:t>
            </a:r>
          </a:p>
        </p:txBody>
      </p:sp>
      <p:sp>
        <p:nvSpPr>
          <p:cNvPr id="3" name="Subtitle 2"/>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3047148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Objectives</a:t>
            </a:r>
          </a:p>
        </p:txBody>
      </p:sp>
      <p:sp>
        <p:nvSpPr>
          <p:cNvPr id="3" name="Content Placeholder 2"/>
          <p:cNvSpPr>
            <a:spLocks noGrp="1"/>
          </p:cNvSpPr>
          <p:nvPr>
            <p:ph idx="1"/>
          </p:nvPr>
        </p:nvSpPr>
        <p:spPr/>
        <p:txBody>
          <a:bodyPr/>
          <a:lstStyle/>
          <a:p>
            <a:r>
              <a:rPr lang="en-US" dirty="0"/>
              <a:t>Recognize the elements of digital citizenship.</a:t>
            </a:r>
          </a:p>
          <a:p>
            <a:r>
              <a:rPr lang="en-US" dirty="0"/>
              <a:t>Acknowledge the different cyber laws and etiquettes.</a:t>
            </a:r>
          </a:p>
          <a:p>
            <a:r>
              <a:rPr lang="en-US" dirty="0"/>
              <a:t>Identify potential educational platforms and websites.</a:t>
            </a:r>
          </a:p>
          <a:p>
            <a:r>
              <a:rPr lang="en-US" dirty="0"/>
              <a:t>Explore online learning communities and resources.</a:t>
            </a:r>
          </a:p>
        </p:txBody>
      </p:sp>
    </p:spTree>
    <p:extLst>
      <p:ext uri="{BB962C8B-B14F-4D97-AF65-F5344CB8AC3E}">
        <p14:creationId xmlns:p14="http://schemas.microsoft.com/office/powerpoint/2010/main" val="29605887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4063A1-3A5B-F274-2080-343E5E518884}"/>
              </a:ext>
            </a:extLst>
          </p:cNvPr>
          <p:cNvSpPr>
            <a:spLocks noGrp="1"/>
          </p:cNvSpPr>
          <p:nvPr>
            <p:ph type="title"/>
          </p:nvPr>
        </p:nvSpPr>
        <p:spPr/>
        <p:txBody>
          <a:bodyPr/>
          <a:lstStyle/>
          <a:p>
            <a:endParaRPr lang="en-US"/>
          </a:p>
        </p:txBody>
      </p:sp>
      <p:graphicFrame>
        <p:nvGraphicFramePr>
          <p:cNvPr id="4" name="Content Placeholder 3">
            <a:extLst>
              <a:ext uri="{FF2B5EF4-FFF2-40B4-BE49-F238E27FC236}">
                <a16:creationId xmlns:a16="http://schemas.microsoft.com/office/drawing/2014/main" id="{DC739DE3-288D-B45A-BA40-7713FE588208}"/>
              </a:ext>
            </a:extLst>
          </p:cNvPr>
          <p:cNvGraphicFramePr>
            <a:graphicFrameLocks noGrp="1"/>
          </p:cNvGraphicFramePr>
          <p:nvPr>
            <p:ph idx="1"/>
            <p:extLst>
              <p:ext uri="{D42A27DB-BD31-4B8C-83A1-F6EECF244321}">
                <p14:modId xmlns:p14="http://schemas.microsoft.com/office/powerpoint/2010/main" val="574883918"/>
              </p:ext>
            </p:extLst>
          </p:nvPr>
        </p:nvGraphicFramePr>
        <p:xfrm>
          <a:off x="879231" y="808056"/>
          <a:ext cx="9690344" cy="524190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822234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Digital Citizenship</a:t>
            </a:r>
          </a:p>
        </p:txBody>
      </p:sp>
      <p:sp>
        <p:nvSpPr>
          <p:cNvPr id="3" name="Content Placeholder 2"/>
          <p:cNvSpPr>
            <a:spLocks noGrp="1"/>
          </p:cNvSpPr>
          <p:nvPr>
            <p:ph idx="1"/>
          </p:nvPr>
        </p:nvSpPr>
        <p:spPr/>
        <p:txBody>
          <a:bodyPr/>
          <a:lstStyle/>
          <a:p>
            <a:r>
              <a:rPr lang="en-US" dirty="0"/>
              <a:t>‘‘Digital citizenship’’ is the ability to participate in society online (</a:t>
            </a:r>
            <a:r>
              <a:rPr lang="en-US" dirty="0" err="1"/>
              <a:t>Mossberger</a:t>
            </a:r>
            <a:r>
              <a:rPr lang="en-US" dirty="0"/>
              <a:t>, et al., 2008)</a:t>
            </a:r>
          </a:p>
          <a:p>
            <a:r>
              <a:rPr lang="en-US" dirty="0"/>
              <a:t>Digital citizenship can be described as the norms of appropriate, responsible behavior with regard to technology use (</a:t>
            </a:r>
            <a:r>
              <a:rPr lang="en-US" dirty="0" err="1"/>
              <a:t>Ribble</a:t>
            </a:r>
            <a:r>
              <a:rPr lang="en-US" dirty="0"/>
              <a:t> and Bailey, 2007)</a:t>
            </a:r>
          </a:p>
        </p:txBody>
      </p:sp>
    </p:spTree>
    <p:extLst>
      <p:ext uri="{BB962C8B-B14F-4D97-AF65-F5344CB8AC3E}">
        <p14:creationId xmlns:p14="http://schemas.microsoft.com/office/powerpoint/2010/main" val="16038441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9 Elements of Digital Citizenship</a:t>
            </a:r>
          </a:p>
        </p:txBody>
      </p:sp>
      <p:sp>
        <p:nvSpPr>
          <p:cNvPr id="3" name="Content Placeholder 2"/>
          <p:cNvSpPr>
            <a:spLocks noGrp="1"/>
          </p:cNvSpPr>
          <p:nvPr>
            <p:ph idx="1"/>
          </p:nvPr>
        </p:nvSpPr>
        <p:spPr/>
        <p:txBody>
          <a:bodyPr/>
          <a:lstStyle/>
          <a:p>
            <a:r>
              <a:rPr lang="en-US" dirty="0"/>
              <a:t>This is elaborated in the Chapter 2 of the Digital Citizenship in School (</a:t>
            </a:r>
            <a:r>
              <a:rPr lang="en-US" dirty="0" err="1"/>
              <a:t>Ribble</a:t>
            </a:r>
            <a:r>
              <a:rPr lang="en-US" dirty="0"/>
              <a:t> and Bailey, 2007)</a:t>
            </a:r>
          </a:p>
          <a:p>
            <a:r>
              <a:rPr lang="en-US" dirty="0"/>
              <a:t>The resource could be requested at the library for your reference</a:t>
            </a:r>
          </a:p>
        </p:txBody>
      </p:sp>
    </p:spTree>
    <p:extLst>
      <p:ext uri="{BB962C8B-B14F-4D97-AF65-F5344CB8AC3E}">
        <p14:creationId xmlns:p14="http://schemas.microsoft.com/office/powerpoint/2010/main" val="23748164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 Digital Access</a:t>
            </a:r>
            <a:br>
              <a:rPr lang="en-US" dirty="0"/>
            </a:br>
            <a:r>
              <a:rPr lang="en-US" dirty="0"/>
              <a:t>(Full electronic participation in society)</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264004577"/>
              </p:ext>
            </p:extLst>
          </p:nvPr>
        </p:nvGraphicFramePr>
        <p:xfrm>
          <a:off x="2266369" y="2052638"/>
          <a:ext cx="3898388" cy="3820345"/>
        </p:xfrm>
        <a:graphic>
          <a:graphicData uri="http://schemas.openxmlformats.org/drawingml/2006/table">
            <a:tbl>
              <a:tblPr firstRow="1" bandRow="1">
                <a:tableStyleId>{5C22544A-7EE6-4342-B048-85BDC9FD1C3A}</a:tableStyleId>
              </a:tblPr>
              <a:tblGrid>
                <a:gridCol w="3898388">
                  <a:extLst>
                    <a:ext uri="{9D8B030D-6E8A-4147-A177-3AD203B41FA5}">
                      <a16:colId xmlns:a16="http://schemas.microsoft.com/office/drawing/2014/main" val="3414190583"/>
                    </a:ext>
                  </a:extLst>
                </a:gridCol>
              </a:tblGrid>
              <a:tr h="437065">
                <a:tc>
                  <a:txBody>
                    <a:bodyPr/>
                    <a:lstStyle/>
                    <a:p>
                      <a:pPr algn="ctr"/>
                      <a:r>
                        <a:rPr lang="en-US" dirty="0"/>
                        <a:t>Educator</a:t>
                      </a:r>
                    </a:p>
                  </a:txBody>
                  <a:tcPr/>
                </a:tc>
                <a:extLst>
                  <a:ext uri="{0D108BD9-81ED-4DB2-BD59-A6C34878D82A}">
                    <a16:rowId xmlns:a16="http://schemas.microsoft.com/office/drawing/2014/main" val="503059948"/>
                  </a:ext>
                </a:extLst>
              </a:tr>
              <a:tr h="3319027">
                <a:tc>
                  <a:txBody>
                    <a:bodyPr/>
                    <a:lstStyle/>
                    <a:p>
                      <a:pPr algn="l"/>
                      <a:r>
                        <a:rPr lang="en-US" sz="2400" dirty="0"/>
                        <a:t>-Encourage</a:t>
                      </a:r>
                      <a:r>
                        <a:rPr lang="en-US" sz="2400" baseline="0" dirty="0"/>
                        <a:t> the use of technology by using it in the classroom</a:t>
                      </a:r>
                    </a:p>
                    <a:p>
                      <a:pPr algn="l"/>
                      <a:r>
                        <a:rPr lang="en-US" sz="2400" baseline="0" dirty="0"/>
                        <a:t>-Be mindful of the divide, the divide between ‘haves and have nots’.</a:t>
                      </a:r>
                    </a:p>
                    <a:p>
                      <a:pPr algn="l"/>
                      <a:r>
                        <a:rPr lang="en-US" sz="2400" baseline="0" dirty="0"/>
                        <a:t>-In technology integration, consider access as a factor.</a:t>
                      </a:r>
                      <a:endParaRPr lang="en-US" sz="2400" dirty="0"/>
                    </a:p>
                  </a:txBody>
                  <a:tcPr/>
                </a:tc>
                <a:extLst>
                  <a:ext uri="{0D108BD9-81ED-4DB2-BD59-A6C34878D82A}">
                    <a16:rowId xmlns:a16="http://schemas.microsoft.com/office/drawing/2014/main" val="2062458979"/>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2444880712"/>
              </p:ext>
            </p:extLst>
          </p:nvPr>
        </p:nvGraphicFramePr>
        <p:xfrm>
          <a:off x="6671751" y="2059193"/>
          <a:ext cx="3898388" cy="3813790"/>
        </p:xfrm>
        <a:graphic>
          <a:graphicData uri="http://schemas.openxmlformats.org/drawingml/2006/table">
            <a:tbl>
              <a:tblPr firstRow="1" bandRow="1">
                <a:tableStyleId>{5C22544A-7EE6-4342-B048-85BDC9FD1C3A}</a:tableStyleId>
              </a:tblPr>
              <a:tblGrid>
                <a:gridCol w="3898388">
                  <a:extLst>
                    <a:ext uri="{9D8B030D-6E8A-4147-A177-3AD203B41FA5}">
                      <a16:colId xmlns:a16="http://schemas.microsoft.com/office/drawing/2014/main" val="4110652284"/>
                    </a:ext>
                  </a:extLst>
                </a:gridCol>
              </a:tblGrid>
              <a:tr h="443779">
                <a:tc>
                  <a:txBody>
                    <a:bodyPr/>
                    <a:lstStyle/>
                    <a:p>
                      <a:pPr algn="ctr"/>
                      <a:r>
                        <a:rPr lang="en-US" dirty="0"/>
                        <a:t>Learner</a:t>
                      </a:r>
                    </a:p>
                  </a:txBody>
                  <a:tcPr/>
                </a:tc>
                <a:extLst>
                  <a:ext uri="{0D108BD9-81ED-4DB2-BD59-A6C34878D82A}">
                    <a16:rowId xmlns:a16="http://schemas.microsoft.com/office/drawing/2014/main" val="2692239052"/>
                  </a:ext>
                </a:extLst>
              </a:tr>
              <a:tr h="3370011">
                <a:tc>
                  <a:txBody>
                    <a:bodyPr/>
                    <a:lstStyle/>
                    <a:p>
                      <a:pPr algn="l"/>
                      <a:r>
                        <a:rPr lang="en-US" sz="2400" dirty="0"/>
                        <a:t>-Always meet your teachers halfway.</a:t>
                      </a:r>
                    </a:p>
                    <a:p>
                      <a:pPr algn="l"/>
                      <a:r>
                        <a:rPr lang="en-US" sz="2400" dirty="0"/>
                        <a:t>-Understand that they too</a:t>
                      </a:r>
                    </a:p>
                    <a:p>
                      <a:pPr algn="l"/>
                      <a:r>
                        <a:rPr lang="en-US" sz="2400" dirty="0"/>
                        <a:t>are also adjusting.</a:t>
                      </a:r>
                    </a:p>
                    <a:p>
                      <a:pPr algn="l"/>
                      <a:r>
                        <a:rPr lang="en-US" sz="2400" dirty="0"/>
                        <a:t>-Find</a:t>
                      </a:r>
                      <a:r>
                        <a:rPr lang="en-US" sz="2400" baseline="0" dirty="0"/>
                        <a:t> ways or alternatives to have access and not settle to “I just can’t have it or access it”</a:t>
                      </a:r>
                      <a:endParaRPr lang="en-US" sz="2400" dirty="0"/>
                    </a:p>
                  </a:txBody>
                  <a:tcPr/>
                </a:tc>
                <a:extLst>
                  <a:ext uri="{0D108BD9-81ED-4DB2-BD59-A6C34878D82A}">
                    <a16:rowId xmlns:a16="http://schemas.microsoft.com/office/drawing/2014/main" val="3399189027"/>
                  </a:ext>
                </a:extLst>
              </a:tr>
            </a:tbl>
          </a:graphicData>
        </a:graphic>
      </p:graphicFrame>
    </p:spTree>
    <p:extLst>
      <p:ext uri="{BB962C8B-B14F-4D97-AF65-F5344CB8AC3E}">
        <p14:creationId xmlns:p14="http://schemas.microsoft.com/office/powerpoint/2010/main" val="37921526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5E2A66-483E-E1C2-F187-BF7D068B05E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9C99BFC-609F-470B-5E90-BF4CDFE2FD7D}"/>
              </a:ext>
            </a:extLst>
          </p:cNvPr>
          <p:cNvSpPr>
            <a:spLocks noGrp="1"/>
          </p:cNvSpPr>
          <p:nvPr>
            <p:ph idx="1"/>
          </p:nvPr>
        </p:nvSpPr>
        <p:spPr/>
        <p:txBody>
          <a:bodyPr>
            <a:normAutofit fontScale="92500" lnSpcReduction="10000"/>
          </a:bodyPr>
          <a:lstStyle/>
          <a:p>
            <a:r>
              <a:rPr lang="en-US" sz="4000" dirty="0"/>
              <a:t>Before integrating digital technologies, such as requirements and activities that involve devices and internet connectivity, assess your learners’ privileges.</a:t>
            </a:r>
          </a:p>
        </p:txBody>
      </p:sp>
    </p:spTree>
    <p:extLst>
      <p:ext uri="{BB962C8B-B14F-4D97-AF65-F5344CB8AC3E}">
        <p14:creationId xmlns:p14="http://schemas.microsoft.com/office/powerpoint/2010/main" val="12407307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 Digital Commerce</a:t>
            </a:r>
            <a:br>
              <a:rPr lang="en-US" dirty="0"/>
            </a:br>
            <a:r>
              <a:rPr lang="en-US" dirty="0"/>
              <a:t>(The buying and selling of goods online)</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234316853"/>
              </p:ext>
            </p:extLst>
          </p:nvPr>
        </p:nvGraphicFramePr>
        <p:xfrm>
          <a:off x="2266369" y="2052638"/>
          <a:ext cx="3898388" cy="3820345"/>
        </p:xfrm>
        <a:graphic>
          <a:graphicData uri="http://schemas.openxmlformats.org/drawingml/2006/table">
            <a:tbl>
              <a:tblPr firstRow="1" bandRow="1">
                <a:tableStyleId>{5C22544A-7EE6-4342-B048-85BDC9FD1C3A}</a:tableStyleId>
              </a:tblPr>
              <a:tblGrid>
                <a:gridCol w="3898388">
                  <a:extLst>
                    <a:ext uri="{9D8B030D-6E8A-4147-A177-3AD203B41FA5}">
                      <a16:colId xmlns:a16="http://schemas.microsoft.com/office/drawing/2014/main" val="3414190583"/>
                    </a:ext>
                  </a:extLst>
                </a:gridCol>
              </a:tblGrid>
              <a:tr h="437065">
                <a:tc>
                  <a:txBody>
                    <a:bodyPr/>
                    <a:lstStyle/>
                    <a:p>
                      <a:pPr algn="ctr"/>
                      <a:r>
                        <a:rPr lang="en-US" dirty="0"/>
                        <a:t>Educator</a:t>
                      </a:r>
                    </a:p>
                  </a:txBody>
                  <a:tcPr/>
                </a:tc>
                <a:extLst>
                  <a:ext uri="{0D108BD9-81ED-4DB2-BD59-A6C34878D82A}">
                    <a16:rowId xmlns:a16="http://schemas.microsoft.com/office/drawing/2014/main" val="503059948"/>
                  </a:ext>
                </a:extLst>
              </a:tr>
              <a:tr h="3319027">
                <a:tc>
                  <a:txBody>
                    <a:bodyPr/>
                    <a:lstStyle/>
                    <a:p>
                      <a:pPr algn="l"/>
                      <a:r>
                        <a:rPr lang="en-US" sz="2400" dirty="0"/>
                        <a:t>-Must take the role of teaching responsibility in online consumerism</a:t>
                      </a:r>
                      <a:endParaRPr lang="en-US" sz="2400" baseline="0" dirty="0"/>
                    </a:p>
                    <a:p>
                      <a:pPr algn="l"/>
                      <a:r>
                        <a:rPr lang="en-US" sz="2400" baseline="0" dirty="0"/>
                        <a:t>-When it comes to educational resources like e-books, partner with your school or college librarians regarding purchasing resources.</a:t>
                      </a:r>
                    </a:p>
                  </a:txBody>
                  <a:tcPr/>
                </a:tc>
                <a:extLst>
                  <a:ext uri="{0D108BD9-81ED-4DB2-BD59-A6C34878D82A}">
                    <a16:rowId xmlns:a16="http://schemas.microsoft.com/office/drawing/2014/main" val="2062458979"/>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1985912971"/>
              </p:ext>
            </p:extLst>
          </p:nvPr>
        </p:nvGraphicFramePr>
        <p:xfrm>
          <a:off x="6671751" y="2059193"/>
          <a:ext cx="3898388" cy="3813790"/>
        </p:xfrm>
        <a:graphic>
          <a:graphicData uri="http://schemas.openxmlformats.org/drawingml/2006/table">
            <a:tbl>
              <a:tblPr firstRow="1" bandRow="1">
                <a:tableStyleId>{5C22544A-7EE6-4342-B048-85BDC9FD1C3A}</a:tableStyleId>
              </a:tblPr>
              <a:tblGrid>
                <a:gridCol w="3898388">
                  <a:extLst>
                    <a:ext uri="{9D8B030D-6E8A-4147-A177-3AD203B41FA5}">
                      <a16:colId xmlns:a16="http://schemas.microsoft.com/office/drawing/2014/main" val="4110652284"/>
                    </a:ext>
                  </a:extLst>
                </a:gridCol>
              </a:tblGrid>
              <a:tr h="443779">
                <a:tc>
                  <a:txBody>
                    <a:bodyPr/>
                    <a:lstStyle/>
                    <a:p>
                      <a:pPr algn="ctr"/>
                      <a:r>
                        <a:rPr lang="en-US" dirty="0"/>
                        <a:t>Learner</a:t>
                      </a:r>
                    </a:p>
                  </a:txBody>
                  <a:tcPr/>
                </a:tc>
                <a:extLst>
                  <a:ext uri="{0D108BD9-81ED-4DB2-BD59-A6C34878D82A}">
                    <a16:rowId xmlns:a16="http://schemas.microsoft.com/office/drawing/2014/main" val="2692239052"/>
                  </a:ext>
                </a:extLst>
              </a:tr>
              <a:tr h="3370011">
                <a:tc>
                  <a:txBody>
                    <a:bodyPr/>
                    <a:lstStyle/>
                    <a:p>
                      <a:pPr algn="l"/>
                      <a:r>
                        <a:rPr lang="en-US" sz="2400" dirty="0"/>
                        <a:t>-Consult adults or experts through reviews, recommendations, comments,</a:t>
                      </a:r>
                      <a:r>
                        <a:rPr lang="en-US" sz="2400" baseline="0" dirty="0"/>
                        <a:t> ratings and feedbacks,</a:t>
                      </a:r>
                      <a:endParaRPr lang="en-US" sz="2400" dirty="0"/>
                    </a:p>
                    <a:p>
                      <a:pPr algn="l"/>
                      <a:r>
                        <a:rPr lang="en-US" sz="2400" dirty="0"/>
                        <a:t>-We all have our part in</a:t>
                      </a:r>
                      <a:r>
                        <a:rPr lang="en-US" sz="2400" baseline="0" dirty="0"/>
                        <a:t> creating a good guide to future consumers.</a:t>
                      </a:r>
                      <a:endParaRPr lang="en-US" sz="2400" dirty="0"/>
                    </a:p>
                  </a:txBody>
                  <a:tcPr/>
                </a:tc>
                <a:extLst>
                  <a:ext uri="{0D108BD9-81ED-4DB2-BD59-A6C34878D82A}">
                    <a16:rowId xmlns:a16="http://schemas.microsoft.com/office/drawing/2014/main" val="3399189027"/>
                  </a:ext>
                </a:extLst>
              </a:tr>
            </a:tbl>
          </a:graphicData>
        </a:graphic>
      </p:graphicFrame>
    </p:spTree>
    <p:extLst>
      <p:ext uri="{BB962C8B-B14F-4D97-AF65-F5344CB8AC3E}">
        <p14:creationId xmlns:p14="http://schemas.microsoft.com/office/powerpoint/2010/main" val="14052668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5E2A66-483E-E1C2-F187-BF7D068B05E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9C99BFC-609F-470B-5E90-BF4CDFE2FD7D}"/>
              </a:ext>
            </a:extLst>
          </p:cNvPr>
          <p:cNvSpPr>
            <a:spLocks noGrp="1"/>
          </p:cNvSpPr>
          <p:nvPr>
            <p:ph idx="1"/>
          </p:nvPr>
        </p:nvSpPr>
        <p:spPr/>
        <p:txBody>
          <a:bodyPr>
            <a:normAutofit/>
          </a:bodyPr>
          <a:lstStyle/>
          <a:p>
            <a:r>
              <a:rPr lang="en-US" sz="4000" dirty="0"/>
              <a:t>Everyone is socially obliged to leave reviews, comments, ratings, feedbacks, or experiences on digital products.</a:t>
            </a:r>
          </a:p>
        </p:txBody>
      </p:sp>
    </p:spTree>
    <p:extLst>
      <p:ext uri="{BB962C8B-B14F-4D97-AF65-F5344CB8AC3E}">
        <p14:creationId xmlns:p14="http://schemas.microsoft.com/office/powerpoint/2010/main" val="31729155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3. Digital Communication </a:t>
            </a:r>
            <a:br>
              <a:rPr lang="en-US" dirty="0"/>
            </a:br>
            <a:r>
              <a:rPr lang="en-US" dirty="0"/>
              <a:t>(The electronic exchange of information)</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294167245"/>
              </p:ext>
            </p:extLst>
          </p:nvPr>
        </p:nvGraphicFramePr>
        <p:xfrm>
          <a:off x="2266369" y="2052638"/>
          <a:ext cx="3898388" cy="4186105"/>
        </p:xfrm>
        <a:graphic>
          <a:graphicData uri="http://schemas.openxmlformats.org/drawingml/2006/table">
            <a:tbl>
              <a:tblPr firstRow="1" bandRow="1">
                <a:tableStyleId>{5C22544A-7EE6-4342-B048-85BDC9FD1C3A}</a:tableStyleId>
              </a:tblPr>
              <a:tblGrid>
                <a:gridCol w="3898388">
                  <a:extLst>
                    <a:ext uri="{9D8B030D-6E8A-4147-A177-3AD203B41FA5}">
                      <a16:colId xmlns:a16="http://schemas.microsoft.com/office/drawing/2014/main" val="3414190583"/>
                    </a:ext>
                  </a:extLst>
                </a:gridCol>
              </a:tblGrid>
              <a:tr h="437065">
                <a:tc>
                  <a:txBody>
                    <a:bodyPr/>
                    <a:lstStyle/>
                    <a:p>
                      <a:pPr algn="ctr"/>
                      <a:r>
                        <a:rPr lang="en-US" dirty="0"/>
                        <a:t>Educator</a:t>
                      </a:r>
                    </a:p>
                  </a:txBody>
                  <a:tcPr/>
                </a:tc>
                <a:extLst>
                  <a:ext uri="{0D108BD9-81ED-4DB2-BD59-A6C34878D82A}">
                    <a16:rowId xmlns:a16="http://schemas.microsoft.com/office/drawing/2014/main" val="503059948"/>
                  </a:ext>
                </a:extLst>
              </a:tr>
              <a:tr h="3319027">
                <a:tc>
                  <a:txBody>
                    <a:bodyPr/>
                    <a:lstStyle/>
                    <a:p>
                      <a:pPr algn="l"/>
                      <a:r>
                        <a:rPr lang="en-US" sz="2400" dirty="0"/>
                        <a:t>-Take advantage of these platforms, like the chat, messaging, blogging, and content creation.</a:t>
                      </a:r>
                      <a:endParaRPr lang="en-US" sz="2400" baseline="0" dirty="0"/>
                    </a:p>
                    <a:p>
                      <a:pPr algn="l"/>
                      <a:r>
                        <a:rPr lang="en-US" sz="2400" baseline="0" dirty="0"/>
                        <a:t>-Instill the values of respecting time and appropriateness (schedules of consultation or when not to use communication devices)</a:t>
                      </a:r>
                    </a:p>
                  </a:txBody>
                  <a:tcPr/>
                </a:tc>
                <a:extLst>
                  <a:ext uri="{0D108BD9-81ED-4DB2-BD59-A6C34878D82A}">
                    <a16:rowId xmlns:a16="http://schemas.microsoft.com/office/drawing/2014/main" val="2062458979"/>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2709763638"/>
              </p:ext>
            </p:extLst>
          </p:nvPr>
        </p:nvGraphicFramePr>
        <p:xfrm>
          <a:off x="6671751" y="2059193"/>
          <a:ext cx="3898388" cy="4192819"/>
        </p:xfrm>
        <a:graphic>
          <a:graphicData uri="http://schemas.openxmlformats.org/drawingml/2006/table">
            <a:tbl>
              <a:tblPr firstRow="1" bandRow="1">
                <a:tableStyleId>{5C22544A-7EE6-4342-B048-85BDC9FD1C3A}</a:tableStyleId>
              </a:tblPr>
              <a:tblGrid>
                <a:gridCol w="3898388">
                  <a:extLst>
                    <a:ext uri="{9D8B030D-6E8A-4147-A177-3AD203B41FA5}">
                      <a16:colId xmlns:a16="http://schemas.microsoft.com/office/drawing/2014/main" val="4110652284"/>
                    </a:ext>
                  </a:extLst>
                </a:gridCol>
              </a:tblGrid>
              <a:tr h="443779">
                <a:tc>
                  <a:txBody>
                    <a:bodyPr/>
                    <a:lstStyle/>
                    <a:p>
                      <a:pPr algn="ctr"/>
                      <a:r>
                        <a:rPr lang="en-US" dirty="0"/>
                        <a:t>Learner</a:t>
                      </a:r>
                    </a:p>
                  </a:txBody>
                  <a:tcPr/>
                </a:tc>
                <a:extLst>
                  <a:ext uri="{0D108BD9-81ED-4DB2-BD59-A6C34878D82A}">
                    <a16:rowId xmlns:a16="http://schemas.microsoft.com/office/drawing/2014/main" val="2692239052"/>
                  </a:ext>
                </a:extLst>
              </a:tr>
              <a:tr h="3370011">
                <a:tc>
                  <a:txBody>
                    <a:bodyPr/>
                    <a:lstStyle/>
                    <a:p>
                      <a:pPr algn="l"/>
                      <a:r>
                        <a:rPr lang="en-US" sz="2400" dirty="0"/>
                        <a:t>-Students are always being warned</a:t>
                      </a:r>
                      <a:r>
                        <a:rPr lang="en-US" sz="2400" baseline="0" dirty="0"/>
                        <a:t> about how communication through online is unsafe.</a:t>
                      </a:r>
                    </a:p>
                    <a:p>
                      <a:pPr algn="l"/>
                      <a:r>
                        <a:rPr lang="en-US" sz="2400" baseline="0" dirty="0"/>
                        <a:t>-Understand that it does not always respect rights, privacy, and you as a person.</a:t>
                      </a:r>
                    </a:p>
                    <a:p>
                      <a:pPr algn="l"/>
                      <a:r>
                        <a:rPr lang="en-US" sz="2400" baseline="0" dirty="0"/>
                        <a:t>-Read, think, before you share.</a:t>
                      </a:r>
                      <a:endParaRPr lang="en-US" sz="2400" dirty="0"/>
                    </a:p>
                  </a:txBody>
                  <a:tcPr/>
                </a:tc>
                <a:extLst>
                  <a:ext uri="{0D108BD9-81ED-4DB2-BD59-A6C34878D82A}">
                    <a16:rowId xmlns:a16="http://schemas.microsoft.com/office/drawing/2014/main" val="3399189027"/>
                  </a:ext>
                </a:extLst>
              </a:tr>
            </a:tbl>
          </a:graphicData>
        </a:graphic>
      </p:graphicFrame>
    </p:spTree>
    <p:extLst>
      <p:ext uri="{BB962C8B-B14F-4D97-AF65-F5344CB8AC3E}">
        <p14:creationId xmlns:p14="http://schemas.microsoft.com/office/powerpoint/2010/main" val="16366316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5E2A66-483E-E1C2-F187-BF7D068B05E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9C99BFC-609F-470B-5E90-BF4CDFE2FD7D}"/>
              </a:ext>
            </a:extLst>
          </p:cNvPr>
          <p:cNvSpPr>
            <a:spLocks noGrp="1"/>
          </p:cNvSpPr>
          <p:nvPr>
            <p:ph idx="1"/>
          </p:nvPr>
        </p:nvSpPr>
        <p:spPr/>
        <p:txBody>
          <a:bodyPr>
            <a:normAutofit/>
          </a:bodyPr>
          <a:lstStyle/>
          <a:p>
            <a:r>
              <a:rPr lang="en-US" sz="4000" dirty="0"/>
              <a:t>Educators must establish house-rules, protocols, and etiquettes to be practiced in communication platforms.</a:t>
            </a:r>
          </a:p>
        </p:txBody>
      </p:sp>
    </p:spTree>
    <p:extLst>
      <p:ext uri="{BB962C8B-B14F-4D97-AF65-F5344CB8AC3E}">
        <p14:creationId xmlns:p14="http://schemas.microsoft.com/office/powerpoint/2010/main" val="19169720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11808" y="506994"/>
            <a:ext cx="7958331" cy="1378291"/>
          </a:xfrm>
        </p:spPr>
        <p:txBody>
          <a:bodyPr>
            <a:normAutofit fontScale="90000"/>
          </a:bodyPr>
          <a:lstStyle/>
          <a:p>
            <a:r>
              <a:rPr lang="en-US" dirty="0"/>
              <a:t>4. Digital Literacy </a:t>
            </a:r>
            <a:br>
              <a:rPr lang="en-US" dirty="0"/>
            </a:br>
            <a:r>
              <a:rPr lang="en-US" dirty="0"/>
              <a:t>(The capability to use digital technology and knowing when to use it)</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092314749"/>
              </p:ext>
            </p:extLst>
          </p:nvPr>
        </p:nvGraphicFramePr>
        <p:xfrm>
          <a:off x="2275422" y="1898395"/>
          <a:ext cx="3898388" cy="4917625"/>
        </p:xfrm>
        <a:graphic>
          <a:graphicData uri="http://schemas.openxmlformats.org/drawingml/2006/table">
            <a:tbl>
              <a:tblPr firstRow="1" bandRow="1">
                <a:tableStyleId>{5C22544A-7EE6-4342-B048-85BDC9FD1C3A}</a:tableStyleId>
              </a:tblPr>
              <a:tblGrid>
                <a:gridCol w="3898388">
                  <a:extLst>
                    <a:ext uri="{9D8B030D-6E8A-4147-A177-3AD203B41FA5}">
                      <a16:colId xmlns:a16="http://schemas.microsoft.com/office/drawing/2014/main" val="3414190583"/>
                    </a:ext>
                  </a:extLst>
                </a:gridCol>
              </a:tblGrid>
              <a:tr h="437065">
                <a:tc>
                  <a:txBody>
                    <a:bodyPr/>
                    <a:lstStyle/>
                    <a:p>
                      <a:pPr algn="ctr"/>
                      <a:r>
                        <a:rPr lang="en-US" dirty="0"/>
                        <a:t>Educator</a:t>
                      </a:r>
                    </a:p>
                  </a:txBody>
                  <a:tcPr/>
                </a:tc>
                <a:extLst>
                  <a:ext uri="{0D108BD9-81ED-4DB2-BD59-A6C34878D82A}">
                    <a16:rowId xmlns:a16="http://schemas.microsoft.com/office/drawing/2014/main" val="503059948"/>
                  </a:ext>
                </a:extLst>
              </a:tr>
              <a:tr h="3319027">
                <a:tc>
                  <a:txBody>
                    <a:bodyPr/>
                    <a:lstStyle/>
                    <a:p>
                      <a:pPr algn="l"/>
                      <a:r>
                        <a:rPr lang="en-US" sz="2400" dirty="0"/>
                        <a:t>-Update skills and try exploring digital technology software</a:t>
                      </a:r>
                      <a:r>
                        <a:rPr lang="en-US" sz="2400" baseline="0" dirty="0"/>
                        <a:t> (image and video processing, audio-visual editing, material enhancement, file format conversion, word-processing, learning management systems).</a:t>
                      </a:r>
                    </a:p>
                    <a:p>
                      <a:pPr algn="l"/>
                      <a:r>
                        <a:rPr lang="en-US" sz="2400" baseline="0" dirty="0"/>
                        <a:t>-Educate students on how to locate, evaluate, and use.</a:t>
                      </a:r>
                    </a:p>
                  </a:txBody>
                  <a:tcPr/>
                </a:tc>
                <a:extLst>
                  <a:ext uri="{0D108BD9-81ED-4DB2-BD59-A6C34878D82A}">
                    <a16:rowId xmlns:a16="http://schemas.microsoft.com/office/drawing/2014/main" val="2062458979"/>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172758621"/>
              </p:ext>
            </p:extLst>
          </p:nvPr>
        </p:nvGraphicFramePr>
        <p:xfrm>
          <a:off x="6671751" y="1898395"/>
          <a:ext cx="3898388" cy="4917625"/>
        </p:xfrm>
        <a:graphic>
          <a:graphicData uri="http://schemas.openxmlformats.org/drawingml/2006/table">
            <a:tbl>
              <a:tblPr firstRow="1" bandRow="1">
                <a:tableStyleId>{5C22544A-7EE6-4342-B048-85BDC9FD1C3A}</a:tableStyleId>
              </a:tblPr>
              <a:tblGrid>
                <a:gridCol w="3898388">
                  <a:extLst>
                    <a:ext uri="{9D8B030D-6E8A-4147-A177-3AD203B41FA5}">
                      <a16:colId xmlns:a16="http://schemas.microsoft.com/office/drawing/2014/main" val="4110652284"/>
                    </a:ext>
                  </a:extLst>
                </a:gridCol>
              </a:tblGrid>
              <a:tr h="478733">
                <a:tc>
                  <a:txBody>
                    <a:bodyPr/>
                    <a:lstStyle/>
                    <a:p>
                      <a:pPr algn="ctr"/>
                      <a:r>
                        <a:rPr lang="en-US" dirty="0"/>
                        <a:t>Learner</a:t>
                      </a:r>
                    </a:p>
                  </a:txBody>
                  <a:tcPr/>
                </a:tc>
                <a:extLst>
                  <a:ext uri="{0D108BD9-81ED-4DB2-BD59-A6C34878D82A}">
                    <a16:rowId xmlns:a16="http://schemas.microsoft.com/office/drawing/2014/main" val="2692239052"/>
                  </a:ext>
                </a:extLst>
              </a:tr>
              <a:tr h="4438892">
                <a:tc>
                  <a:txBody>
                    <a:bodyPr/>
                    <a:lstStyle/>
                    <a:p>
                      <a:pPr algn="l"/>
                      <a:r>
                        <a:rPr lang="en-US" sz="2400" dirty="0"/>
                        <a:t>-Learn how to locate, evaluate, and use information.</a:t>
                      </a:r>
                    </a:p>
                    <a:p>
                      <a:pPr algn="l"/>
                      <a:r>
                        <a:rPr lang="en-US" sz="2400" dirty="0"/>
                        <a:t>-Digital</a:t>
                      </a:r>
                      <a:r>
                        <a:rPr lang="en-US" sz="2400" baseline="0" dirty="0"/>
                        <a:t> society and information society made things easy but also complicated.</a:t>
                      </a:r>
                    </a:p>
                    <a:p>
                      <a:pPr algn="l"/>
                      <a:r>
                        <a:rPr lang="en-US" sz="2400" baseline="0" dirty="0"/>
                        <a:t>-Take advantage of learning resources and guides made available for your online.</a:t>
                      </a:r>
                      <a:endParaRPr lang="en-US" sz="2400" dirty="0"/>
                    </a:p>
                  </a:txBody>
                  <a:tcPr/>
                </a:tc>
                <a:extLst>
                  <a:ext uri="{0D108BD9-81ED-4DB2-BD59-A6C34878D82A}">
                    <a16:rowId xmlns:a16="http://schemas.microsoft.com/office/drawing/2014/main" val="3399189027"/>
                  </a:ext>
                </a:extLst>
              </a:tr>
            </a:tbl>
          </a:graphicData>
        </a:graphic>
      </p:graphicFrame>
    </p:spTree>
    <p:extLst>
      <p:ext uri="{BB962C8B-B14F-4D97-AF65-F5344CB8AC3E}">
        <p14:creationId xmlns:p14="http://schemas.microsoft.com/office/powerpoint/2010/main" val="10981156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5E2A66-483E-E1C2-F187-BF7D068B05E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9C99BFC-609F-470B-5E90-BF4CDFE2FD7D}"/>
              </a:ext>
            </a:extLst>
          </p:cNvPr>
          <p:cNvSpPr>
            <a:spLocks noGrp="1"/>
          </p:cNvSpPr>
          <p:nvPr>
            <p:ph idx="1"/>
          </p:nvPr>
        </p:nvSpPr>
        <p:spPr/>
        <p:txBody>
          <a:bodyPr>
            <a:normAutofit/>
          </a:bodyPr>
          <a:lstStyle/>
          <a:p>
            <a:r>
              <a:rPr lang="en-US" sz="4000" dirty="0"/>
              <a:t>Everyone must equip themselves with digital literacies to be properly integrate themselves in the digital world.</a:t>
            </a:r>
          </a:p>
        </p:txBody>
      </p:sp>
    </p:spTree>
    <p:extLst>
      <p:ext uri="{BB962C8B-B14F-4D97-AF65-F5344CB8AC3E}">
        <p14:creationId xmlns:p14="http://schemas.microsoft.com/office/powerpoint/2010/main" val="22963220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11808" y="506994"/>
            <a:ext cx="7958331" cy="1378291"/>
          </a:xfrm>
        </p:spPr>
        <p:txBody>
          <a:bodyPr>
            <a:normAutofit fontScale="90000"/>
          </a:bodyPr>
          <a:lstStyle/>
          <a:p>
            <a:r>
              <a:rPr lang="en-US" dirty="0"/>
              <a:t>5. Digital Etiquette </a:t>
            </a:r>
            <a:br>
              <a:rPr lang="en-US" dirty="0"/>
            </a:br>
            <a:r>
              <a:rPr lang="en-US" dirty="0"/>
              <a:t>(The standards of conduct expected by other digital technology users)</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718407103"/>
              </p:ext>
            </p:extLst>
          </p:nvPr>
        </p:nvGraphicFramePr>
        <p:xfrm>
          <a:off x="2275422" y="1898395"/>
          <a:ext cx="3898388" cy="4186105"/>
        </p:xfrm>
        <a:graphic>
          <a:graphicData uri="http://schemas.openxmlformats.org/drawingml/2006/table">
            <a:tbl>
              <a:tblPr firstRow="1" bandRow="1">
                <a:tableStyleId>{5C22544A-7EE6-4342-B048-85BDC9FD1C3A}</a:tableStyleId>
              </a:tblPr>
              <a:tblGrid>
                <a:gridCol w="3898388">
                  <a:extLst>
                    <a:ext uri="{9D8B030D-6E8A-4147-A177-3AD203B41FA5}">
                      <a16:colId xmlns:a16="http://schemas.microsoft.com/office/drawing/2014/main" val="3414190583"/>
                    </a:ext>
                  </a:extLst>
                </a:gridCol>
              </a:tblGrid>
              <a:tr h="437065">
                <a:tc>
                  <a:txBody>
                    <a:bodyPr/>
                    <a:lstStyle/>
                    <a:p>
                      <a:pPr algn="ctr"/>
                      <a:r>
                        <a:rPr lang="en-US" dirty="0"/>
                        <a:t>Educator</a:t>
                      </a:r>
                    </a:p>
                  </a:txBody>
                  <a:tcPr/>
                </a:tc>
                <a:extLst>
                  <a:ext uri="{0D108BD9-81ED-4DB2-BD59-A6C34878D82A}">
                    <a16:rowId xmlns:a16="http://schemas.microsoft.com/office/drawing/2014/main" val="503059948"/>
                  </a:ext>
                </a:extLst>
              </a:tr>
              <a:tr h="3319027">
                <a:tc>
                  <a:txBody>
                    <a:bodyPr/>
                    <a:lstStyle/>
                    <a:p>
                      <a:pPr algn="l"/>
                      <a:r>
                        <a:rPr lang="en-US" sz="2400" dirty="0"/>
                        <a:t>-Encourage the use of digital</a:t>
                      </a:r>
                      <a:r>
                        <a:rPr lang="en-US" sz="2400" baseline="0" dirty="0"/>
                        <a:t> technologies that have positive impact or effect to others.</a:t>
                      </a:r>
                    </a:p>
                    <a:p>
                      <a:pPr algn="l"/>
                      <a:r>
                        <a:rPr lang="en-US" sz="2400" baseline="0" dirty="0"/>
                        <a:t>-Educate students on how to be respectful, how to address themselves, how to express intentions online, and the basic dos and don’ts.</a:t>
                      </a:r>
                    </a:p>
                  </a:txBody>
                  <a:tcPr/>
                </a:tc>
                <a:extLst>
                  <a:ext uri="{0D108BD9-81ED-4DB2-BD59-A6C34878D82A}">
                    <a16:rowId xmlns:a16="http://schemas.microsoft.com/office/drawing/2014/main" val="2062458979"/>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4004713296"/>
              </p:ext>
            </p:extLst>
          </p:nvPr>
        </p:nvGraphicFramePr>
        <p:xfrm>
          <a:off x="6671751" y="1898395"/>
          <a:ext cx="3898388" cy="4186105"/>
        </p:xfrm>
        <a:graphic>
          <a:graphicData uri="http://schemas.openxmlformats.org/drawingml/2006/table">
            <a:tbl>
              <a:tblPr firstRow="1" bandRow="1">
                <a:tableStyleId>{5C22544A-7EE6-4342-B048-85BDC9FD1C3A}</a:tableStyleId>
              </a:tblPr>
              <a:tblGrid>
                <a:gridCol w="3898388">
                  <a:extLst>
                    <a:ext uri="{9D8B030D-6E8A-4147-A177-3AD203B41FA5}">
                      <a16:colId xmlns:a16="http://schemas.microsoft.com/office/drawing/2014/main" val="4110652284"/>
                    </a:ext>
                  </a:extLst>
                </a:gridCol>
              </a:tblGrid>
              <a:tr h="407519">
                <a:tc>
                  <a:txBody>
                    <a:bodyPr/>
                    <a:lstStyle/>
                    <a:p>
                      <a:pPr algn="ctr"/>
                      <a:r>
                        <a:rPr lang="en-US" dirty="0"/>
                        <a:t>Learner</a:t>
                      </a:r>
                    </a:p>
                  </a:txBody>
                  <a:tcPr/>
                </a:tc>
                <a:extLst>
                  <a:ext uri="{0D108BD9-81ED-4DB2-BD59-A6C34878D82A}">
                    <a16:rowId xmlns:a16="http://schemas.microsoft.com/office/drawing/2014/main" val="2692239052"/>
                  </a:ext>
                </a:extLst>
              </a:tr>
              <a:tr h="3778586">
                <a:tc>
                  <a:txBody>
                    <a:bodyPr/>
                    <a:lstStyle/>
                    <a:p>
                      <a:pPr algn="l"/>
                      <a:r>
                        <a:rPr lang="en-US" sz="2400" dirty="0"/>
                        <a:t>-Work with their teachers to understand what information can be shared</a:t>
                      </a:r>
                    </a:p>
                    <a:p>
                      <a:pPr algn="l"/>
                      <a:r>
                        <a:rPr lang="en-US" sz="2400" dirty="0"/>
                        <a:t>from their handheld device and when it is appropriate to do so.</a:t>
                      </a:r>
                    </a:p>
                    <a:p>
                      <a:pPr algn="l"/>
                      <a:r>
                        <a:rPr lang="en-US" sz="2400" dirty="0"/>
                        <a:t>-Learn rules</a:t>
                      </a:r>
                      <a:r>
                        <a:rPr lang="en-US" sz="2400" baseline="0" dirty="0"/>
                        <a:t> and know enough information before engaging in a conversation.</a:t>
                      </a:r>
                      <a:endParaRPr lang="en-US" sz="2400" dirty="0"/>
                    </a:p>
                  </a:txBody>
                  <a:tcPr/>
                </a:tc>
                <a:extLst>
                  <a:ext uri="{0D108BD9-81ED-4DB2-BD59-A6C34878D82A}">
                    <a16:rowId xmlns:a16="http://schemas.microsoft.com/office/drawing/2014/main" val="3399189027"/>
                  </a:ext>
                </a:extLst>
              </a:tr>
            </a:tbl>
          </a:graphicData>
        </a:graphic>
      </p:graphicFrame>
    </p:spTree>
    <p:extLst>
      <p:ext uri="{BB962C8B-B14F-4D97-AF65-F5344CB8AC3E}">
        <p14:creationId xmlns:p14="http://schemas.microsoft.com/office/powerpoint/2010/main" val="35934072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5E2A66-483E-E1C2-F187-BF7D068B05E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9C99BFC-609F-470B-5E90-BF4CDFE2FD7D}"/>
              </a:ext>
            </a:extLst>
          </p:cNvPr>
          <p:cNvSpPr>
            <a:spLocks noGrp="1"/>
          </p:cNvSpPr>
          <p:nvPr>
            <p:ph idx="1"/>
          </p:nvPr>
        </p:nvSpPr>
        <p:spPr/>
        <p:txBody>
          <a:bodyPr>
            <a:normAutofit/>
          </a:bodyPr>
          <a:lstStyle/>
          <a:p>
            <a:r>
              <a:rPr lang="en-US" sz="4000" dirty="0"/>
              <a:t>Think of boundaries in physical world and try to at least mimic them in the cyberspace.</a:t>
            </a:r>
          </a:p>
        </p:txBody>
      </p:sp>
    </p:spTree>
    <p:extLst>
      <p:ext uri="{BB962C8B-B14F-4D97-AF65-F5344CB8AC3E}">
        <p14:creationId xmlns:p14="http://schemas.microsoft.com/office/powerpoint/2010/main" val="16860233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11808" y="506994"/>
            <a:ext cx="7958331" cy="1378291"/>
          </a:xfrm>
        </p:spPr>
        <p:txBody>
          <a:bodyPr>
            <a:normAutofit fontScale="90000"/>
          </a:bodyPr>
          <a:lstStyle/>
          <a:p>
            <a:r>
              <a:rPr lang="en-US" dirty="0"/>
              <a:t>6. Digital Law </a:t>
            </a:r>
            <a:br>
              <a:rPr lang="en-US" dirty="0"/>
            </a:br>
            <a:r>
              <a:rPr lang="en-US" dirty="0"/>
              <a:t>(The legal rights and restrictions governing technology use)</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001451268"/>
              </p:ext>
            </p:extLst>
          </p:nvPr>
        </p:nvGraphicFramePr>
        <p:xfrm>
          <a:off x="2275422" y="1898395"/>
          <a:ext cx="3898388" cy="4186105"/>
        </p:xfrm>
        <a:graphic>
          <a:graphicData uri="http://schemas.openxmlformats.org/drawingml/2006/table">
            <a:tbl>
              <a:tblPr firstRow="1" bandRow="1">
                <a:tableStyleId>{5C22544A-7EE6-4342-B048-85BDC9FD1C3A}</a:tableStyleId>
              </a:tblPr>
              <a:tblGrid>
                <a:gridCol w="3898388">
                  <a:extLst>
                    <a:ext uri="{9D8B030D-6E8A-4147-A177-3AD203B41FA5}">
                      <a16:colId xmlns:a16="http://schemas.microsoft.com/office/drawing/2014/main" val="3414190583"/>
                    </a:ext>
                  </a:extLst>
                </a:gridCol>
              </a:tblGrid>
              <a:tr h="437065">
                <a:tc>
                  <a:txBody>
                    <a:bodyPr/>
                    <a:lstStyle/>
                    <a:p>
                      <a:pPr algn="ctr"/>
                      <a:r>
                        <a:rPr lang="en-US" dirty="0"/>
                        <a:t>Educator</a:t>
                      </a:r>
                    </a:p>
                  </a:txBody>
                  <a:tcPr/>
                </a:tc>
                <a:extLst>
                  <a:ext uri="{0D108BD9-81ED-4DB2-BD59-A6C34878D82A}">
                    <a16:rowId xmlns:a16="http://schemas.microsoft.com/office/drawing/2014/main" val="503059948"/>
                  </a:ext>
                </a:extLst>
              </a:tr>
              <a:tr h="3319027">
                <a:tc>
                  <a:txBody>
                    <a:bodyPr/>
                    <a:lstStyle/>
                    <a:p>
                      <a:pPr algn="l"/>
                      <a:r>
                        <a:rPr lang="en-US" sz="2400" dirty="0"/>
                        <a:t>-Teach copyright, fair use, plagiarism, data privacy and other legal issues that involves information and digital</a:t>
                      </a:r>
                      <a:r>
                        <a:rPr lang="en-US" sz="2400" baseline="0" dirty="0"/>
                        <a:t> technologies.</a:t>
                      </a:r>
                    </a:p>
                    <a:p>
                      <a:pPr algn="l"/>
                      <a:r>
                        <a:rPr lang="en-US" sz="2400" baseline="0" dirty="0"/>
                        <a:t>-This also includes piracy, stealing, spreading fake news, and accountability in the contents we are sharing.</a:t>
                      </a:r>
                    </a:p>
                  </a:txBody>
                  <a:tcPr/>
                </a:tc>
                <a:extLst>
                  <a:ext uri="{0D108BD9-81ED-4DB2-BD59-A6C34878D82A}">
                    <a16:rowId xmlns:a16="http://schemas.microsoft.com/office/drawing/2014/main" val="2062458979"/>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1553461228"/>
              </p:ext>
            </p:extLst>
          </p:nvPr>
        </p:nvGraphicFramePr>
        <p:xfrm>
          <a:off x="6671751" y="1898395"/>
          <a:ext cx="3898388" cy="4186105"/>
        </p:xfrm>
        <a:graphic>
          <a:graphicData uri="http://schemas.openxmlformats.org/drawingml/2006/table">
            <a:tbl>
              <a:tblPr firstRow="1" bandRow="1">
                <a:tableStyleId>{5C22544A-7EE6-4342-B048-85BDC9FD1C3A}</a:tableStyleId>
              </a:tblPr>
              <a:tblGrid>
                <a:gridCol w="3898388">
                  <a:extLst>
                    <a:ext uri="{9D8B030D-6E8A-4147-A177-3AD203B41FA5}">
                      <a16:colId xmlns:a16="http://schemas.microsoft.com/office/drawing/2014/main" val="4110652284"/>
                    </a:ext>
                  </a:extLst>
                </a:gridCol>
              </a:tblGrid>
              <a:tr h="407519">
                <a:tc>
                  <a:txBody>
                    <a:bodyPr/>
                    <a:lstStyle/>
                    <a:p>
                      <a:pPr algn="ctr"/>
                      <a:r>
                        <a:rPr lang="en-US" dirty="0"/>
                        <a:t>Learner</a:t>
                      </a:r>
                    </a:p>
                  </a:txBody>
                  <a:tcPr/>
                </a:tc>
                <a:extLst>
                  <a:ext uri="{0D108BD9-81ED-4DB2-BD59-A6C34878D82A}">
                    <a16:rowId xmlns:a16="http://schemas.microsoft.com/office/drawing/2014/main" val="2692239052"/>
                  </a:ext>
                </a:extLst>
              </a:tr>
              <a:tr h="3778586">
                <a:tc>
                  <a:txBody>
                    <a:bodyPr/>
                    <a:lstStyle/>
                    <a:p>
                      <a:pPr algn="l"/>
                      <a:r>
                        <a:rPr lang="en-US" sz="2400" dirty="0"/>
                        <a:t>-Be aware that all of these offenses</a:t>
                      </a:r>
                      <a:r>
                        <a:rPr lang="en-US" sz="2400" baseline="0" dirty="0"/>
                        <a:t> can be detected and are punishable under the student code of conduct.</a:t>
                      </a:r>
                    </a:p>
                    <a:p>
                      <a:pPr algn="l"/>
                      <a:r>
                        <a:rPr lang="en-US" sz="2400" baseline="0" dirty="0"/>
                        <a:t>-Cyber libel and slander could be committed due to irresponsibility and rash actions.</a:t>
                      </a:r>
                      <a:endParaRPr lang="en-US" sz="2400" dirty="0"/>
                    </a:p>
                  </a:txBody>
                  <a:tcPr/>
                </a:tc>
                <a:extLst>
                  <a:ext uri="{0D108BD9-81ED-4DB2-BD59-A6C34878D82A}">
                    <a16:rowId xmlns:a16="http://schemas.microsoft.com/office/drawing/2014/main" val="3399189027"/>
                  </a:ext>
                </a:extLst>
              </a:tr>
            </a:tbl>
          </a:graphicData>
        </a:graphic>
      </p:graphicFrame>
    </p:spTree>
    <p:extLst>
      <p:ext uri="{BB962C8B-B14F-4D97-AF65-F5344CB8AC3E}">
        <p14:creationId xmlns:p14="http://schemas.microsoft.com/office/powerpoint/2010/main" val="21125476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5E2A66-483E-E1C2-F187-BF7D068B05E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9C99BFC-609F-470B-5E90-BF4CDFE2FD7D}"/>
              </a:ext>
            </a:extLst>
          </p:cNvPr>
          <p:cNvSpPr>
            <a:spLocks noGrp="1"/>
          </p:cNvSpPr>
          <p:nvPr>
            <p:ph idx="1"/>
          </p:nvPr>
        </p:nvSpPr>
        <p:spPr/>
        <p:txBody>
          <a:bodyPr>
            <a:normAutofit/>
          </a:bodyPr>
          <a:lstStyle/>
          <a:p>
            <a:r>
              <a:rPr lang="en-US" sz="4000" dirty="0"/>
              <a:t>Be mindful that there are now laws punishing those who violate laws.</a:t>
            </a:r>
          </a:p>
        </p:txBody>
      </p:sp>
    </p:spTree>
    <p:extLst>
      <p:ext uri="{BB962C8B-B14F-4D97-AF65-F5344CB8AC3E}">
        <p14:creationId xmlns:p14="http://schemas.microsoft.com/office/powerpoint/2010/main" val="42908975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11518" y="407406"/>
            <a:ext cx="8958622" cy="1477879"/>
          </a:xfrm>
        </p:spPr>
        <p:txBody>
          <a:bodyPr>
            <a:normAutofit fontScale="90000"/>
          </a:bodyPr>
          <a:lstStyle/>
          <a:p>
            <a:r>
              <a:rPr lang="en-US" dirty="0"/>
              <a:t>7. Digital Rights and Responsibility </a:t>
            </a:r>
            <a:br>
              <a:rPr lang="en-US" dirty="0"/>
            </a:br>
            <a:r>
              <a:rPr lang="en-US" dirty="0"/>
              <a:t>(The privileges and freedoms extended to all and the behavioral expectations that come with them)</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741148590"/>
              </p:ext>
            </p:extLst>
          </p:nvPr>
        </p:nvGraphicFramePr>
        <p:xfrm>
          <a:off x="2275422" y="1898395"/>
          <a:ext cx="3898388" cy="3756092"/>
        </p:xfrm>
        <a:graphic>
          <a:graphicData uri="http://schemas.openxmlformats.org/drawingml/2006/table">
            <a:tbl>
              <a:tblPr firstRow="1" bandRow="1">
                <a:tableStyleId>{5C22544A-7EE6-4342-B048-85BDC9FD1C3A}</a:tableStyleId>
              </a:tblPr>
              <a:tblGrid>
                <a:gridCol w="3898388">
                  <a:extLst>
                    <a:ext uri="{9D8B030D-6E8A-4147-A177-3AD203B41FA5}">
                      <a16:colId xmlns:a16="http://schemas.microsoft.com/office/drawing/2014/main" val="3414190583"/>
                    </a:ext>
                  </a:extLst>
                </a:gridCol>
              </a:tblGrid>
              <a:tr h="437065">
                <a:tc>
                  <a:txBody>
                    <a:bodyPr/>
                    <a:lstStyle/>
                    <a:p>
                      <a:pPr algn="ctr"/>
                      <a:r>
                        <a:rPr lang="en-US" dirty="0"/>
                        <a:t>Educator</a:t>
                      </a:r>
                    </a:p>
                  </a:txBody>
                  <a:tcPr/>
                </a:tc>
                <a:extLst>
                  <a:ext uri="{0D108BD9-81ED-4DB2-BD59-A6C34878D82A}">
                    <a16:rowId xmlns:a16="http://schemas.microsoft.com/office/drawing/2014/main" val="503059948"/>
                  </a:ext>
                </a:extLst>
              </a:tr>
              <a:tr h="3319027">
                <a:tc>
                  <a:txBody>
                    <a:bodyPr/>
                    <a:lstStyle/>
                    <a:p>
                      <a:pPr algn="l"/>
                      <a:r>
                        <a:rPr lang="en-US" sz="2400" dirty="0"/>
                        <a:t>-Explain the concepts and how they apply on the classroom and outside</a:t>
                      </a:r>
                    </a:p>
                    <a:p>
                      <a:pPr algn="l"/>
                      <a:r>
                        <a:rPr lang="en-US" sz="2400" dirty="0"/>
                        <a:t>     -Right</a:t>
                      </a:r>
                      <a:r>
                        <a:rPr lang="en-US" sz="2400" baseline="0" dirty="0"/>
                        <a:t> to freedom of    expression</a:t>
                      </a:r>
                    </a:p>
                    <a:p>
                      <a:pPr algn="l"/>
                      <a:r>
                        <a:rPr lang="en-US" sz="2400" baseline="0" dirty="0"/>
                        <a:t>     -Right to information</a:t>
                      </a:r>
                    </a:p>
                    <a:p>
                      <a:pPr algn="l"/>
                      <a:r>
                        <a:rPr lang="en-US" sz="2400" baseline="0" dirty="0"/>
                        <a:t>     -Bill of rights</a:t>
                      </a:r>
                    </a:p>
                    <a:p>
                      <a:pPr algn="l"/>
                      <a:r>
                        <a:rPr lang="en-US" sz="2400" baseline="0" dirty="0"/>
                        <a:t>     -Human Rights</a:t>
                      </a:r>
                    </a:p>
                  </a:txBody>
                  <a:tcPr/>
                </a:tc>
                <a:extLst>
                  <a:ext uri="{0D108BD9-81ED-4DB2-BD59-A6C34878D82A}">
                    <a16:rowId xmlns:a16="http://schemas.microsoft.com/office/drawing/2014/main" val="2062458979"/>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3376196857"/>
              </p:ext>
            </p:extLst>
          </p:nvPr>
        </p:nvGraphicFramePr>
        <p:xfrm>
          <a:off x="6671751" y="1898396"/>
          <a:ext cx="3898388" cy="3756195"/>
        </p:xfrm>
        <a:graphic>
          <a:graphicData uri="http://schemas.openxmlformats.org/drawingml/2006/table">
            <a:tbl>
              <a:tblPr firstRow="1" bandRow="1">
                <a:tableStyleId>{5C22544A-7EE6-4342-B048-85BDC9FD1C3A}</a:tableStyleId>
              </a:tblPr>
              <a:tblGrid>
                <a:gridCol w="3898388">
                  <a:extLst>
                    <a:ext uri="{9D8B030D-6E8A-4147-A177-3AD203B41FA5}">
                      <a16:colId xmlns:a16="http://schemas.microsoft.com/office/drawing/2014/main" val="4110652284"/>
                    </a:ext>
                  </a:extLst>
                </a:gridCol>
              </a:tblGrid>
              <a:tr h="365657">
                <a:tc>
                  <a:txBody>
                    <a:bodyPr/>
                    <a:lstStyle/>
                    <a:p>
                      <a:pPr algn="ctr"/>
                      <a:r>
                        <a:rPr lang="en-US" dirty="0"/>
                        <a:t>Learner</a:t>
                      </a:r>
                    </a:p>
                  </a:txBody>
                  <a:tcPr/>
                </a:tc>
                <a:extLst>
                  <a:ext uri="{0D108BD9-81ED-4DB2-BD59-A6C34878D82A}">
                    <a16:rowId xmlns:a16="http://schemas.microsoft.com/office/drawing/2014/main" val="2692239052"/>
                  </a:ext>
                </a:extLst>
              </a:tr>
              <a:tr h="3390435">
                <a:tc>
                  <a:txBody>
                    <a:bodyPr/>
                    <a:lstStyle/>
                    <a:p>
                      <a:pPr algn="l"/>
                      <a:r>
                        <a:rPr lang="en-US" sz="2400" dirty="0"/>
                        <a:t>- Learn that every right has a responsibility.</a:t>
                      </a:r>
                    </a:p>
                    <a:p>
                      <a:pPr marL="342900" indent="-342900" algn="l">
                        <a:buFontTx/>
                        <a:buChar char="-"/>
                      </a:pPr>
                      <a:r>
                        <a:rPr lang="en-US" sz="2400" dirty="0"/>
                        <a:t>Acknowledge that privileges also come with a cost.</a:t>
                      </a:r>
                    </a:p>
                    <a:p>
                      <a:pPr marL="342900" indent="-342900" algn="l">
                        <a:buFontTx/>
                        <a:buChar char="-"/>
                      </a:pPr>
                      <a:r>
                        <a:rPr lang="en-US" sz="2400" dirty="0"/>
                        <a:t>Be warned that these rights and privileges are easier waived in the digital world.</a:t>
                      </a:r>
                    </a:p>
                  </a:txBody>
                  <a:tcPr/>
                </a:tc>
                <a:extLst>
                  <a:ext uri="{0D108BD9-81ED-4DB2-BD59-A6C34878D82A}">
                    <a16:rowId xmlns:a16="http://schemas.microsoft.com/office/drawing/2014/main" val="3399189027"/>
                  </a:ext>
                </a:extLst>
              </a:tr>
            </a:tbl>
          </a:graphicData>
        </a:graphic>
      </p:graphicFrame>
    </p:spTree>
    <p:extLst>
      <p:ext uri="{BB962C8B-B14F-4D97-AF65-F5344CB8AC3E}">
        <p14:creationId xmlns:p14="http://schemas.microsoft.com/office/powerpoint/2010/main" val="21989737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5E2A66-483E-E1C2-F187-BF7D068B05E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9C99BFC-609F-470B-5E90-BF4CDFE2FD7D}"/>
              </a:ext>
            </a:extLst>
          </p:cNvPr>
          <p:cNvSpPr>
            <a:spLocks noGrp="1"/>
          </p:cNvSpPr>
          <p:nvPr>
            <p:ph idx="1"/>
          </p:nvPr>
        </p:nvSpPr>
        <p:spPr/>
        <p:txBody>
          <a:bodyPr>
            <a:normAutofit/>
          </a:bodyPr>
          <a:lstStyle/>
          <a:p>
            <a:r>
              <a:rPr lang="en-US" sz="4000" dirty="0"/>
              <a:t>Always read Terms and Conditions, Terms of Service, Terms of Use, and EULA.</a:t>
            </a:r>
          </a:p>
        </p:txBody>
      </p:sp>
    </p:spTree>
    <p:extLst>
      <p:ext uri="{BB962C8B-B14F-4D97-AF65-F5344CB8AC3E}">
        <p14:creationId xmlns:p14="http://schemas.microsoft.com/office/powerpoint/2010/main" val="24248993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11518" y="407406"/>
            <a:ext cx="8958622" cy="1477879"/>
          </a:xfrm>
        </p:spPr>
        <p:txBody>
          <a:bodyPr>
            <a:normAutofit fontScale="90000"/>
          </a:bodyPr>
          <a:lstStyle/>
          <a:p>
            <a:r>
              <a:rPr lang="en-US" dirty="0"/>
              <a:t>8. Digital Health and Wellness</a:t>
            </a:r>
            <a:br>
              <a:rPr lang="en-US" dirty="0"/>
            </a:br>
            <a:r>
              <a:rPr lang="en-US" dirty="0"/>
              <a:t>(The elements of physical and psychological well-being related to digital technology use)</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706221855"/>
              </p:ext>
            </p:extLst>
          </p:nvPr>
        </p:nvGraphicFramePr>
        <p:xfrm>
          <a:off x="2275422" y="1898395"/>
          <a:ext cx="3898388" cy="3756092"/>
        </p:xfrm>
        <a:graphic>
          <a:graphicData uri="http://schemas.openxmlformats.org/drawingml/2006/table">
            <a:tbl>
              <a:tblPr firstRow="1" bandRow="1">
                <a:tableStyleId>{5C22544A-7EE6-4342-B048-85BDC9FD1C3A}</a:tableStyleId>
              </a:tblPr>
              <a:tblGrid>
                <a:gridCol w="3898388">
                  <a:extLst>
                    <a:ext uri="{9D8B030D-6E8A-4147-A177-3AD203B41FA5}">
                      <a16:colId xmlns:a16="http://schemas.microsoft.com/office/drawing/2014/main" val="3414190583"/>
                    </a:ext>
                  </a:extLst>
                </a:gridCol>
              </a:tblGrid>
              <a:tr h="437065">
                <a:tc>
                  <a:txBody>
                    <a:bodyPr/>
                    <a:lstStyle/>
                    <a:p>
                      <a:pPr algn="ctr"/>
                      <a:r>
                        <a:rPr lang="en-US" dirty="0"/>
                        <a:t>Educator</a:t>
                      </a:r>
                    </a:p>
                  </a:txBody>
                  <a:tcPr/>
                </a:tc>
                <a:extLst>
                  <a:ext uri="{0D108BD9-81ED-4DB2-BD59-A6C34878D82A}">
                    <a16:rowId xmlns:a16="http://schemas.microsoft.com/office/drawing/2014/main" val="503059948"/>
                  </a:ext>
                </a:extLst>
              </a:tr>
              <a:tr h="3319027">
                <a:tc>
                  <a:txBody>
                    <a:bodyPr/>
                    <a:lstStyle/>
                    <a:p>
                      <a:pPr algn="l"/>
                      <a:r>
                        <a:rPr lang="en-US" sz="2400" dirty="0"/>
                        <a:t>-Understand</a:t>
                      </a:r>
                      <a:r>
                        <a:rPr lang="en-US" sz="2400" baseline="0" dirty="0"/>
                        <a:t> bandwidth and students workload.</a:t>
                      </a:r>
                    </a:p>
                    <a:p>
                      <a:pPr marL="0" marR="0" indent="0" algn="l" defTabSz="914400" rtl="0" eaLnBrk="1" fontAlgn="auto" latinLnBrk="0" hangingPunct="1">
                        <a:lnSpc>
                          <a:spcPct val="100000"/>
                        </a:lnSpc>
                        <a:spcBef>
                          <a:spcPts val="0"/>
                        </a:spcBef>
                        <a:spcAft>
                          <a:spcPts val="0"/>
                        </a:spcAft>
                        <a:buClrTx/>
                        <a:buSzTx/>
                        <a:buFontTx/>
                        <a:buNone/>
                        <a:tabLst/>
                        <a:defRPr/>
                      </a:pPr>
                      <a:r>
                        <a:rPr lang="en-US" sz="2400" baseline="0" dirty="0"/>
                        <a:t>-Practice ergonomic use of computers.</a:t>
                      </a:r>
                    </a:p>
                    <a:p>
                      <a:pPr algn="l"/>
                      <a:r>
                        <a:rPr lang="en-US" sz="2400" baseline="0" dirty="0"/>
                        <a:t>-Also take a break from time to time.</a:t>
                      </a:r>
                    </a:p>
                    <a:p>
                      <a:pPr algn="l"/>
                      <a:r>
                        <a:rPr lang="en-US" sz="2400" baseline="0" dirty="0"/>
                        <a:t>-Social media detox.</a:t>
                      </a:r>
                    </a:p>
                    <a:p>
                      <a:pPr algn="l"/>
                      <a:endParaRPr lang="en-US" sz="2400" baseline="0" dirty="0"/>
                    </a:p>
                  </a:txBody>
                  <a:tcPr/>
                </a:tc>
                <a:extLst>
                  <a:ext uri="{0D108BD9-81ED-4DB2-BD59-A6C34878D82A}">
                    <a16:rowId xmlns:a16="http://schemas.microsoft.com/office/drawing/2014/main" val="2062458979"/>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3856276772"/>
              </p:ext>
            </p:extLst>
          </p:nvPr>
        </p:nvGraphicFramePr>
        <p:xfrm>
          <a:off x="6671751" y="1898396"/>
          <a:ext cx="3898388" cy="3756195"/>
        </p:xfrm>
        <a:graphic>
          <a:graphicData uri="http://schemas.openxmlformats.org/drawingml/2006/table">
            <a:tbl>
              <a:tblPr firstRow="1" bandRow="1">
                <a:tableStyleId>{5C22544A-7EE6-4342-B048-85BDC9FD1C3A}</a:tableStyleId>
              </a:tblPr>
              <a:tblGrid>
                <a:gridCol w="3898388">
                  <a:extLst>
                    <a:ext uri="{9D8B030D-6E8A-4147-A177-3AD203B41FA5}">
                      <a16:colId xmlns:a16="http://schemas.microsoft.com/office/drawing/2014/main" val="4110652284"/>
                    </a:ext>
                  </a:extLst>
                </a:gridCol>
              </a:tblGrid>
              <a:tr h="365657">
                <a:tc>
                  <a:txBody>
                    <a:bodyPr/>
                    <a:lstStyle/>
                    <a:p>
                      <a:pPr algn="ctr"/>
                      <a:r>
                        <a:rPr lang="en-US" dirty="0"/>
                        <a:t>Learner</a:t>
                      </a:r>
                    </a:p>
                  </a:txBody>
                  <a:tcPr/>
                </a:tc>
                <a:extLst>
                  <a:ext uri="{0D108BD9-81ED-4DB2-BD59-A6C34878D82A}">
                    <a16:rowId xmlns:a16="http://schemas.microsoft.com/office/drawing/2014/main" val="2692239052"/>
                  </a:ext>
                </a:extLst>
              </a:tr>
              <a:tr h="3390435">
                <a:tc>
                  <a:txBody>
                    <a:bodyPr/>
                    <a:lstStyle/>
                    <a:p>
                      <a:pPr algn="l"/>
                      <a:r>
                        <a:rPr lang="en-US" sz="2400" dirty="0"/>
                        <a:t>-Time</a:t>
                      </a:r>
                      <a:r>
                        <a:rPr lang="en-US" sz="2400" baseline="0" dirty="0"/>
                        <a:t> management and scheduling.</a:t>
                      </a:r>
                    </a:p>
                    <a:p>
                      <a:pPr algn="l"/>
                      <a:r>
                        <a:rPr lang="en-US" sz="2400" baseline="0" dirty="0"/>
                        <a:t>-Practice ergonomic use of computers.</a:t>
                      </a:r>
                    </a:p>
                    <a:p>
                      <a:pPr marL="0" marR="0" indent="0" algn="l" defTabSz="914400" rtl="0" eaLnBrk="1" fontAlgn="auto" latinLnBrk="0" hangingPunct="1">
                        <a:lnSpc>
                          <a:spcPct val="100000"/>
                        </a:lnSpc>
                        <a:spcBef>
                          <a:spcPts val="0"/>
                        </a:spcBef>
                        <a:spcAft>
                          <a:spcPts val="0"/>
                        </a:spcAft>
                        <a:buClrTx/>
                        <a:buSzTx/>
                        <a:buFontTx/>
                        <a:buNone/>
                        <a:tabLst/>
                        <a:defRPr/>
                      </a:pPr>
                      <a:r>
                        <a:rPr lang="en-US" sz="2400" baseline="0" dirty="0"/>
                        <a:t>-Also take a break from time to time.</a:t>
                      </a:r>
                    </a:p>
                    <a:p>
                      <a:pPr algn="l"/>
                      <a:r>
                        <a:rPr lang="en-US" sz="2400" baseline="0" dirty="0"/>
                        <a:t>-Social media detox.</a:t>
                      </a:r>
                      <a:endParaRPr lang="en-US" sz="2400" dirty="0"/>
                    </a:p>
                  </a:txBody>
                  <a:tcPr/>
                </a:tc>
                <a:extLst>
                  <a:ext uri="{0D108BD9-81ED-4DB2-BD59-A6C34878D82A}">
                    <a16:rowId xmlns:a16="http://schemas.microsoft.com/office/drawing/2014/main" val="3399189027"/>
                  </a:ext>
                </a:extLst>
              </a:tr>
            </a:tbl>
          </a:graphicData>
        </a:graphic>
      </p:graphicFrame>
    </p:spTree>
    <p:extLst>
      <p:ext uri="{BB962C8B-B14F-4D97-AF65-F5344CB8AC3E}">
        <p14:creationId xmlns:p14="http://schemas.microsoft.com/office/powerpoint/2010/main" val="37206417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Short disclaimer: I will be sharing few videos that might help explain some of the things discussed. These materials are educational while lifting some scriptural insights.</a:t>
            </a:r>
          </a:p>
        </p:txBody>
      </p:sp>
    </p:spTree>
    <p:extLst>
      <p:ext uri="{BB962C8B-B14F-4D97-AF65-F5344CB8AC3E}">
        <p14:creationId xmlns:p14="http://schemas.microsoft.com/office/powerpoint/2010/main" val="19908249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11518" y="108642"/>
            <a:ext cx="8958622" cy="1776643"/>
          </a:xfrm>
        </p:spPr>
        <p:txBody>
          <a:bodyPr>
            <a:normAutofit fontScale="90000"/>
          </a:bodyPr>
          <a:lstStyle/>
          <a:p>
            <a:r>
              <a:rPr lang="en-US" dirty="0"/>
              <a:t>9. Digital Security</a:t>
            </a:r>
            <a:br>
              <a:rPr lang="en-US" dirty="0"/>
            </a:br>
            <a:r>
              <a:rPr lang="en-US" dirty="0"/>
              <a:t>(The precautions that all technology users must take to guarantee their personal safety and security of their network)</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50666357"/>
              </p:ext>
            </p:extLst>
          </p:nvPr>
        </p:nvGraphicFramePr>
        <p:xfrm>
          <a:off x="2275422" y="1898395"/>
          <a:ext cx="8294718" cy="3820345"/>
        </p:xfrm>
        <a:graphic>
          <a:graphicData uri="http://schemas.openxmlformats.org/drawingml/2006/table">
            <a:tbl>
              <a:tblPr firstRow="1" bandRow="1">
                <a:tableStyleId>{5C22544A-7EE6-4342-B048-85BDC9FD1C3A}</a:tableStyleId>
              </a:tblPr>
              <a:tblGrid>
                <a:gridCol w="8294718">
                  <a:extLst>
                    <a:ext uri="{9D8B030D-6E8A-4147-A177-3AD203B41FA5}">
                      <a16:colId xmlns:a16="http://schemas.microsoft.com/office/drawing/2014/main" val="3414190583"/>
                    </a:ext>
                  </a:extLst>
                </a:gridCol>
              </a:tblGrid>
              <a:tr h="437065">
                <a:tc>
                  <a:txBody>
                    <a:bodyPr/>
                    <a:lstStyle/>
                    <a:p>
                      <a:pPr algn="ctr"/>
                      <a:r>
                        <a:rPr lang="en-US" dirty="0"/>
                        <a:t>Educator and Educators</a:t>
                      </a:r>
                    </a:p>
                  </a:txBody>
                  <a:tcPr/>
                </a:tc>
                <a:extLst>
                  <a:ext uri="{0D108BD9-81ED-4DB2-BD59-A6C34878D82A}">
                    <a16:rowId xmlns:a16="http://schemas.microsoft.com/office/drawing/2014/main" val="503059948"/>
                  </a:ext>
                </a:extLst>
              </a:tr>
              <a:tr h="3319027">
                <a:tc>
                  <a:txBody>
                    <a:bodyPr/>
                    <a:lstStyle/>
                    <a:p>
                      <a:pPr algn="l"/>
                      <a:r>
                        <a:rPr lang="en-US" sz="2400" dirty="0"/>
                        <a:t>-Update passwords.</a:t>
                      </a:r>
                    </a:p>
                    <a:p>
                      <a:pPr algn="l"/>
                      <a:r>
                        <a:rPr lang="en-US" sz="2400" baseline="0" dirty="0"/>
                        <a:t>-Use authentic verification accounts.</a:t>
                      </a:r>
                    </a:p>
                    <a:p>
                      <a:pPr algn="l"/>
                      <a:r>
                        <a:rPr lang="en-US" sz="2400" baseline="0" dirty="0"/>
                        <a:t>-Have separate personal (social) and corporate (student or work) emails.</a:t>
                      </a:r>
                    </a:p>
                    <a:p>
                      <a:pPr marL="0" marR="0" indent="0" algn="l" defTabSz="914400" rtl="0" eaLnBrk="1" fontAlgn="auto" latinLnBrk="0" hangingPunct="1">
                        <a:lnSpc>
                          <a:spcPct val="100000"/>
                        </a:lnSpc>
                        <a:spcBef>
                          <a:spcPts val="0"/>
                        </a:spcBef>
                        <a:spcAft>
                          <a:spcPts val="0"/>
                        </a:spcAft>
                        <a:buClrTx/>
                        <a:buSzTx/>
                        <a:buFontTx/>
                        <a:buNone/>
                        <a:tabLst/>
                        <a:defRPr/>
                      </a:pPr>
                      <a:r>
                        <a:rPr lang="en-US" sz="2400" baseline="0" dirty="0"/>
                        <a:t>-Do not click suspicious links.</a:t>
                      </a:r>
                    </a:p>
                    <a:p>
                      <a:pPr marL="0" marR="0" indent="0" algn="l" defTabSz="914400" rtl="0" eaLnBrk="1" fontAlgn="auto" latinLnBrk="0" hangingPunct="1">
                        <a:lnSpc>
                          <a:spcPct val="100000"/>
                        </a:lnSpc>
                        <a:spcBef>
                          <a:spcPts val="0"/>
                        </a:spcBef>
                        <a:spcAft>
                          <a:spcPts val="0"/>
                        </a:spcAft>
                        <a:buClrTx/>
                        <a:buSzTx/>
                        <a:buFontTx/>
                        <a:buNone/>
                        <a:tabLst/>
                        <a:defRPr/>
                      </a:pPr>
                      <a:r>
                        <a:rPr lang="en-US" sz="2400" baseline="0" dirty="0"/>
                        <a:t>-Install anti-virus and protection.</a:t>
                      </a:r>
                    </a:p>
                    <a:p>
                      <a:pPr marL="0" marR="0" indent="0" algn="l" defTabSz="914400" rtl="0" eaLnBrk="1" fontAlgn="auto" latinLnBrk="0" hangingPunct="1">
                        <a:lnSpc>
                          <a:spcPct val="100000"/>
                        </a:lnSpc>
                        <a:spcBef>
                          <a:spcPts val="0"/>
                        </a:spcBef>
                        <a:spcAft>
                          <a:spcPts val="0"/>
                        </a:spcAft>
                        <a:buClrTx/>
                        <a:buSzTx/>
                        <a:buFontTx/>
                        <a:buNone/>
                        <a:tabLst/>
                        <a:defRPr/>
                      </a:pPr>
                      <a:r>
                        <a:rPr lang="en-US" sz="2400" baseline="0" dirty="0"/>
                        <a:t>-Avoid installing crack versions of applications.</a:t>
                      </a:r>
                    </a:p>
                    <a:p>
                      <a:pPr marL="0" marR="0" indent="0" algn="l" defTabSz="914400" rtl="0" eaLnBrk="1" fontAlgn="auto" latinLnBrk="0" hangingPunct="1">
                        <a:lnSpc>
                          <a:spcPct val="100000"/>
                        </a:lnSpc>
                        <a:spcBef>
                          <a:spcPts val="0"/>
                        </a:spcBef>
                        <a:spcAft>
                          <a:spcPts val="0"/>
                        </a:spcAft>
                        <a:buClrTx/>
                        <a:buSzTx/>
                        <a:buFontTx/>
                        <a:buNone/>
                        <a:tabLst/>
                        <a:defRPr/>
                      </a:pPr>
                      <a:r>
                        <a:rPr lang="en-US" sz="2400" baseline="0" dirty="0"/>
                        <a:t>-Do not download from malicious websites.</a:t>
                      </a:r>
                    </a:p>
                    <a:p>
                      <a:pPr marL="0" marR="0" indent="0" algn="l" defTabSz="914400" rtl="0" eaLnBrk="1" fontAlgn="auto" latinLnBrk="0" hangingPunct="1">
                        <a:lnSpc>
                          <a:spcPct val="100000"/>
                        </a:lnSpc>
                        <a:spcBef>
                          <a:spcPts val="0"/>
                        </a:spcBef>
                        <a:spcAft>
                          <a:spcPts val="0"/>
                        </a:spcAft>
                        <a:buClrTx/>
                        <a:buSzTx/>
                        <a:buFontTx/>
                        <a:buNone/>
                        <a:tabLst/>
                        <a:defRPr/>
                      </a:pPr>
                      <a:r>
                        <a:rPr lang="en-US" sz="2400" baseline="0" dirty="0"/>
                        <a:t>-Beware of phishing, pharming, and </a:t>
                      </a:r>
                      <a:r>
                        <a:rPr lang="en-US" sz="2400" baseline="0" dirty="0" err="1"/>
                        <a:t>smishing</a:t>
                      </a:r>
                      <a:r>
                        <a:rPr lang="en-US" sz="2400" baseline="0" dirty="0"/>
                        <a:t>.</a:t>
                      </a:r>
                    </a:p>
                  </a:txBody>
                  <a:tcPr/>
                </a:tc>
                <a:extLst>
                  <a:ext uri="{0D108BD9-81ED-4DB2-BD59-A6C34878D82A}">
                    <a16:rowId xmlns:a16="http://schemas.microsoft.com/office/drawing/2014/main" val="2062458979"/>
                  </a:ext>
                </a:extLst>
              </a:tr>
            </a:tbl>
          </a:graphicData>
        </a:graphic>
      </p:graphicFrame>
    </p:spTree>
    <p:extLst>
      <p:ext uri="{BB962C8B-B14F-4D97-AF65-F5344CB8AC3E}">
        <p14:creationId xmlns:p14="http://schemas.microsoft.com/office/powerpoint/2010/main" val="9847531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Teaching Students Digital Citizenship</a:t>
            </a:r>
          </a:p>
        </p:txBody>
      </p:sp>
      <p:sp>
        <p:nvSpPr>
          <p:cNvPr id="3" name="Content Placeholder 2"/>
          <p:cNvSpPr>
            <a:spLocks noGrp="1"/>
          </p:cNvSpPr>
          <p:nvPr>
            <p:ph idx="1"/>
          </p:nvPr>
        </p:nvSpPr>
        <p:spPr/>
        <p:txBody>
          <a:bodyPr>
            <a:normAutofit/>
          </a:bodyPr>
          <a:lstStyle/>
          <a:p>
            <a:pPr marL="6160" indent="0">
              <a:buNone/>
            </a:pPr>
            <a:r>
              <a:rPr lang="en-US" sz="2800" dirty="0"/>
              <a:t>Stages</a:t>
            </a:r>
          </a:p>
          <a:p>
            <a:r>
              <a:rPr lang="en-US" sz="2800" dirty="0"/>
              <a:t>Awareness</a:t>
            </a:r>
          </a:p>
          <a:p>
            <a:r>
              <a:rPr lang="en-US" sz="2800" dirty="0"/>
              <a:t>Guided practice</a:t>
            </a:r>
          </a:p>
          <a:p>
            <a:r>
              <a:rPr lang="en-US" sz="2800" dirty="0"/>
              <a:t>Modelling and demonstration</a:t>
            </a:r>
          </a:p>
          <a:p>
            <a:r>
              <a:rPr lang="en-US" sz="2800" dirty="0"/>
              <a:t>Feedback and analysis</a:t>
            </a:r>
          </a:p>
        </p:txBody>
      </p:sp>
    </p:spTree>
    <p:extLst>
      <p:ext uri="{BB962C8B-B14F-4D97-AF65-F5344CB8AC3E}">
        <p14:creationId xmlns:p14="http://schemas.microsoft.com/office/powerpoint/2010/main" val="22677407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rotWithShape="1">
          <a:blip r:embed="rId2"/>
          <a:stretch/>
        </a:blipFill>
        <a:effectLst/>
      </p:bgPr>
    </p:bg>
    <p:spTree>
      <p:nvGrpSpPr>
        <p:cNvPr id="1" name=""/>
        <p:cNvGrpSpPr/>
        <p:nvPr/>
      </p:nvGrpSpPr>
      <p:grpSpPr>
        <a:xfrm>
          <a:off x="0" y="0"/>
          <a:ext cx="0" cy="0"/>
          <a:chOff x="0" y="0"/>
          <a:chExt cx="0" cy="0"/>
        </a:xfrm>
      </p:grpSpPr>
      <p:pic>
        <p:nvPicPr>
          <p:cNvPr id="1048" name="Picture 1047">
            <a:extLst>
              <a:ext uri="{FF2B5EF4-FFF2-40B4-BE49-F238E27FC236}">
                <a16:creationId xmlns:a16="http://schemas.microsoft.com/office/drawing/2014/main" id="{01AF5FBB-9FDC-4D75-9DD6-DAF01ED197A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1050" name="Picture 1049">
            <a:extLst>
              <a:ext uri="{FF2B5EF4-FFF2-40B4-BE49-F238E27FC236}">
                <a16:creationId xmlns:a16="http://schemas.microsoft.com/office/drawing/2014/main" id="{933BBBE6-F4CF-483E-BA74-B51421B4D93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1052" name="Rectangle 1051">
            <a:extLst>
              <a:ext uri="{FF2B5EF4-FFF2-40B4-BE49-F238E27FC236}">
                <a16:creationId xmlns:a16="http://schemas.microsoft.com/office/drawing/2014/main" id="{4C790028-99AE-4AE4-8269-9913E2D506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54" name="Rectangle 1053">
            <a:extLst>
              <a:ext uri="{FF2B5EF4-FFF2-40B4-BE49-F238E27FC236}">
                <a16:creationId xmlns:a16="http://schemas.microsoft.com/office/drawing/2014/main" id="{06936A2A-FE08-4EE0-A409-3EF3FA244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56" name="Rectangle 1055">
            <a:extLst>
              <a:ext uri="{FF2B5EF4-FFF2-40B4-BE49-F238E27FC236}">
                <a16:creationId xmlns:a16="http://schemas.microsoft.com/office/drawing/2014/main" id="{BAF0407B-48CB-4C05-B0D7-7A69A0D407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7533" y="0"/>
            <a:ext cx="7934348"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58" name="Rectangle 1057">
            <a:extLst>
              <a:ext uri="{FF2B5EF4-FFF2-40B4-BE49-F238E27FC236}">
                <a16:creationId xmlns:a16="http://schemas.microsoft.com/office/drawing/2014/main" id="{ADC50C3D-0DA0-4914-B5B4-D1819CC698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41881"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60" name="TextBox 1059">
            <a:extLst>
              <a:ext uri="{FF2B5EF4-FFF2-40B4-BE49-F238E27FC236}">
                <a16:creationId xmlns:a16="http://schemas.microsoft.com/office/drawing/2014/main" id="{8CF9E583-1A92-4144-B4FA-81D98317FA04}"/>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91282" y="3262852"/>
            <a:ext cx="415636" cy="461665"/>
          </a:xfrm>
          <a:prstGeom prst="rect">
            <a:avLst/>
          </a:prstGeom>
          <a:noFill/>
        </p:spPr>
        <p:txBody>
          <a:bodyPr wrap="square" rtlCol="0">
            <a:spAutoFit/>
          </a:bodyPr>
          <a:lstStyle/>
          <a:p>
            <a:pPr algn="r">
              <a:spcAft>
                <a:spcPts val="600"/>
              </a:spcAft>
            </a:pPr>
            <a:r>
              <a:rPr lang="en-US" sz="2400" dirty="0">
                <a:solidFill>
                  <a:schemeClr val="accent6"/>
                </a:solidFill>
                <a:latin typeface="Wingdings 3" panose="05040102010807070707" pitchFamily="18" charset="2"/>
              </a:rPr>
              <a:t>z</a:t>
            </a:r>
            <a:endParaRPr lang="en-US" sz="2400" dirty="0">
              <a:solidFill>
                <a:schemeClr val="accent6"/>
              </a:solidFill>
              <a:latin typeface="MS Shell Dlg 2" panose="020B0604030504040204" pitchFamily="34" charset="0"/>
            </a:endParaRPr>
          </a:p>
        </p:txBody>
      </p:sp>
      <p:sp useBgFill="1">
        <p:nvSpPr>
          <p:cNvPr id="1062" name="Rectangle 1061">
            <a:extLst>
              <a:ext uri="{FF2B5EF4-FFF2-40B4-BE49-F238E27FC236}">
                <a16:creationId xmlns:a16="http://schemas.microsoft.com/office/drawing/2014/main" id="{034E919F-0039-45A9-8A1B-B05CD878FC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9867" cy="685528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64" name="Picture 1063">
            <a:extLst>
              <a:ext uri="{FF2B5EF4-FFF2-40B4-BE49-F238E27FC236}">
                <a16:creationId xmlns:a16="http://schemas.microsoft.com/office/drawing/2014/main" id="{EC9C5A0E-1D2A-4F4B-8123-B963AD56DC3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1066" name="Picture 1065">
            <a:extLst>
              <a:ext uri="{FF2B5EF4-FFF2-40B4-BE49-F238E27FC236}">
                <a16:creationId xmlns:a16="http://schemas.microsoft.com/office/drawing/2014/main" id="{9C3A7CDD-5E6D-48B6-9D66-F8AFFB7D27A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alphaModFix/>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1068" name="Rectangle 1067">
            <a:extLst>
              <a:ext uri="{FF2B5EF4-FFF2-40B4-BE49-F238E27FC236}">
                <a16:creationId xmlns:a16="http://schemas.microsoft.com/office/drawing/2014/main" id="{A5AA4037-397A-4467-A120-C510DDD429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0" name="Rectangle 1069">
            <a:extLst>
              <a:ext uri="{FF2B5EF4-FFF2-40B4-BE49-F238E27FC236}">
                <a16:creationId xmlns:a16="http://schemas.microsoft.com/office/drawing/2014/main" id="{38E7B4B2-19E8-410A-A89F-7A2E0485D9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2" name="Rectangle 1071">
            <a:extLst>
              <a:ext uri="{FF2B5EF4-FFF2-40B4-BE49-F238E27FC236}">
                <a16:creationId xmlns:a16="http://schemas.microsoft.com/office/drawing/2014/main" id="{206D98D2-ED53-4A46-95A8-7A0D05291C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7533" y="0"/>
            <a:ext cx="442832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19221BE-C42F-5CB8-A746-A2D5D4668A67}"/>
              </a:ext>
            </a:extLst>
          </p:cNvPr>
          <p:cNvSpPr>
            <a:spLocks noGrp="1"/>
          </p:cNvSpPr>
          <p:nvPr>
            <p:ph type="title"/>
          </p:nvPr>
        </p:nvSpPr>
        <p:spPr>
          <a:xfrm>
            <a:off x="1926216" y="912501"/>
            <a:ext cx="2658856" cy="2268559"/>
          </a:xfrm>
        </p:spPr>
        <p:txBody>
          <a:bodyPr vert="horz" lIns="91440" tIns="45720" rIns="91440" bIns="45720" rtlCol="0" anchor="t">
            <a:normAutofit/>
          </a:bodyPr>
          <a:lstStyle/>
          <a:p>
            <a:r>
              <a:rPr lang="en-US" sz="2700" dirty="0"/>
              <a:t>Social, Ethical, and Legal Responsibilities</a:t>
            </a:r>
          </a:p>
        </p:txBody>
      </p:sp>
      <p:sp>
        <p:nvSpPr>
          <p:cNvPr id="3" name="Content Placeholder 2">
            <a:extLst>
              <a:ext uri="{FF2B5EF4-FFF2-40B4-BE49-F238E27FC236}">
                <a16:creationId xmlns:a16="http://schemas.microsoft.com/office/drawing/2014/main" id="{51304EAF-0753-1558-C1DD-D25E0E01EA34}"/>
              </a:ext>
            </a:extLst>
          </p:cNvPr>
          <p:cNvSpPr>
            <a:spLocks noGrp="1"/>
          </p:cNvSpPr>
          <p:nvPr>
            <p:ph idx="1"/>
          </p:nvPr>
        </p:nvSpPr>
        <p:spPr>
          <a:xfrm>
            <a:off x="2017343" y="1630145"/>
            <a:ext cx="2503753" cy="1160213"/>
          </a:xfrm>
        </p:spPr>
        <p:txBody>
          <a:bodyPr vert="horz" lIns="91440" tIns="0" rIns="91440" bIns="45720" rtlCol="0" anchor="b">
            <a:normAutofit/>
          </a:bodyPr>
          <a:lstStyle/>
          <a:p>
            <a:pPr marL="0" indent="0" algn="r">
              <a:spcBef>
                <a:spcPts val="1000"/>
              </a:spcBef>
              <a:buNone/>
            </a:pPr>
            <a:r>
              <a:rPr lang="en-US" sz="1600" dirty="0"/>
              <a:t>Summarized by TECHSMART</a:t>
            </a:r>
          </a:p>
        </p:txBody>
      </p:sp>
      <p:sp>
        <p:nvSpPr>
          <p:cNvPr id="1074" name="Rectangle 1073">
            <a:extLst>
              <a:ext uri="{FF2B5EF4-FFF2-40B4-BE49-F238E27FC236}">
                <a16:creationId xmlns:a16="http://schemas.microsoft.com/office/drawing/2014/main" id="{698BC5BE-3558-4B92-867F-8CD65C7BEF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33113" y="0"/>
            <a:ext cx="594852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No photo description available.">
            <a:extLst>
              <a:ext uri="{FF2B5EF4-FFF2-40B4-BE49-F238E27FC236}">
                <a16:creationId xmlns:a16="http://schemas.microsoft.com/office/drawing/2014/main" id="{CDE3C0BD-4E2C-238E-78EA-30182FCB6C6B}"/>
              </a:ext>
            </a:extLst>
          </p:cNvPr>
          <p:cNvPicPr>
            <a:picLocks noChangeAspect="1" noChangeArrowheads="1"/>
          </p:cNvPicPr>
          <p:nvPr/>
        </p:nvPicPr>
        <p:blipFill>
          <a:blip r:embed="rId5">
            <a:extLst>
              <a:ext uri="{28A0092B-C50C-407E-A947-70E740481C1C}">
                <a14:useLocalDpi xmlns:a14="http://schemas.microsoft.com/office/drawing/2010/main" val="0"/>
              </a:ext>
            </a:extLst>
          </a:blip>
          <a:stretch>
            <a:fillRect/>
          </a:stretch>
        </p:blipFill>
        <p:spPr bwMode="auto">
          <a:xfrm>
            <a:off x="5769658" y="786895"/>
            <a:ext cx="5284209" cy="5284209"/>
          </a:xfrm>
          <a:prstGeom prst="rect">
            <a:avLst/>
          </a:prstGeom>
          <a:noFill/>
          <a:ln w="12700">
            <a:noFill/>
          </a:ln>
          <a:extLst>
            <a:ext uri="{909E8E84-426E-40DD-AFC4-6F175D3DCCD1}">
              <a14:hiddenFill xmlns:a14="http://schemas.microsoft.com/office/drawing/2010/main">
                <a:solidFill>
                  <a:srgbClr val="FFFFFF"/>
                </a:solidFill>
              </a14:hiddenFill>
            </a:ext>
          </a:extLst>
        </p:spPr>
      </p:pic>
      <p:sp>
        <p:nvSpPr>
          <p:cNvPr id="1076" name="Rectangle 1075">
            <a:extLst>
              <a:ext uri="{FF2B5EF4-FFF2-40B4-BE49-F238E27FC236}">
                <a16:creationId xmlns:a16="http://schemas.microsoft.com/office/drawing/2014/main" id="{F8C4208F-A711-4F9F-B74B-CA7E99A5B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7920" y="236475"/>
            <a:ext cx="5439984" cy="6385049"/>
          </a:xfrm>
          <a:prstGeom prst="rect">
            <a:avLst/>
          </a:prstGeom>
          <a:noFill/>
          <a:ln w="9525">
            <a:solidFill>
              <a:schemeClr val="accent6">
                <a:lumMod val="60000"/>
                <a:lumOff val="40000"/>
                <a:alpha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8" name="Rectangle 1077">
            <a:extLst>
              <a:ext uri="{FF2B5EF4-FFF2-40B4-BE49-F238E27FC236}">
                <a16:creationId xmlns:a16="http://schemas.microsoft.com/office/drawing/2014/main" id="{4A542E5A-150E-4078-B605-939EE9F3F9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387666" y="-2718"/>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849650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rotWithShape="1">
          <a:blip r:embed="rId2"/>
          <a:stretch/>
        </a:blip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3D02AEE-30DC-4942-A9CA-7A14F8B8E2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9867" cy="685528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FD5823F2-909F-442D-BD72-0681CCC1407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13" name="Picture 12">
            <a:extLst>
              <a:ext uri="{FF2B5EF4-FFF2-40B4-BE49-F238E27FC236}">
                <a16:creationId xmlns:a16="http://schemas.microsoft.com/office/drawing/2014/main" id="{4231EAF6-FA22-4615-A4D3-D171F7E17A5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alphaModFix/>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15" name="Rectangle 14">
            <a:extLst>
              <a:ext uri="{FF2B5EF4-FFF2-40B4-BE49-F238E27FC236}">
                <a16:creationId xmlns:a16="http://schemas.microsoft.com/office/drawing/2014/main" id="{F2699857-2714-4E6A-8E11-6BEB9DF7FC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346078E7-FDC0-448B-97DE-4EDA7702EE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7266E038-37B1-43CF-AFE0-B21E9F572C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7533" y="0"/>
            <a:ext cx="10378001"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50ABDA3-42A6-69F8-0DC5-92AE0C1EBEC4}"/>
              </a:ext>
            </a:extLst>
          </p:cNvPr>
          <p:cNvSpPr>
            <a:spLocks noGrp="1"/>
          </p:cNvSpPr>
          <p:nvPr>
            <p:ph type="title"/>
          </p:nvPr>
        </p:nvSpPr>
        <p:spPr>
          <a:xfrm>
            <a:off x="1964444" y="808056"/>
            <a:ext cx="3319381" cy="1077229"/>
          </a:xfrm>
        </p:spPr>
        <p:txBody>
          <a:bodyPr>
            <a:normAutofit/>
          </a:bodyPr>
          <a:lstStyle/>
          <a:p>
            <a:pPr algn="l"/>
            <a:r>
              <a:rPr lang="en-US" sz="2100" b="1" i="0">
                <a:effectLst/>
                <a:latin typeface="roboto" panose="02000000000000000000" pitchFamily="2" charset="0"/>
              </a:rPr>
              <a:t>Take care of technology equipment.</a:t>
            </a:r>
            <a:endParaRPr lang="en-US" sz="2100"/>
          </a:p>
        </p:txBody>
      </p:sp>
      <p:sp>
        <p:nvSpPr>
          <p:cNvPr id="3" name="Content Placeholder 2">
            <a:extLst>
              <a:ext uri="{FF2B5EF4-FFF2-40B4-BE49-F238E27FC236}">
                <a16:creationId xmlns:a16="http://schemas.microsoft.com/office/drawing/2014/main" id="{7EEEE3C2-C41B-F56B-BD47-27430F42C51F}"/>
              </a:ext>
            </a:extLst>
          </p:cNvPr>
          <p:cNvSpPr>
            <a:spLocks noGrp="1"/>
          </p:cNvSpPr>
          <p:nvPr>
            <p:ph idx="1"/>
          </p:nvPr>
        </p:nvSpPr>
        <p:spPr>
          <a:xfrm>
            <a:off x="1964444" y="2052116"/>
            <a:ext cx="3319381" cy="3997828"/>
          </a:xfrm>
        </p:spPr>
        <p:txBody>
          <a:bodyPr>
            <a:normAutofit/>
          </a:bodyPr>
          <a:lstStyle/>
          <a:p>
            <a:r>
              <a:rPr lang="en-US" sz="1800" b="0" i="0">
                <a:effectLst/>
                <a:latin typeface="roboto" panose="02000000000000000000" pitchFamily="2" charset="0"/>
              </a:rPr>
              <a:t>With malware and viruses running rampant, students must learn to watch what they download, click and share.</a:t>
            </a:r>
            <a:endParaRPr lang="en-US" sz="1800"/>
          </a:p>
        </p:txBody>
      </p:sp>
      <p:pic>
        <p:nvPicPr>
          <p:cNvPr id="5" name="Picture 4" descr="Stethoscope">
            <a:extLst>
              <a:ext uri="{FF2B5EF4-FFF2-40B4-BE49-F238E27FC236}">
                <a16:creationId xmlns:a16="http://schemas.microsoft.com/office/drawing/2014/main" id="{BCF2004B-1559-4D57-6258-70BEF1086F5F}"/>
              </a:ext>
            </a:extLst>
          </p:cNvPr>
          <p:cNvPicPr>
            <a:picLocks noChangeAspect="1"/>
          </p:cNvPicPr>
          <p:nvPr/>
        </p:nvPicPr>
        <p:blipFill rotWithShape="1">
          <a:blip r:embed="rId5"/>
          <a:srcRect l="27027" r="21499" b="-2"/>
          <a:stretch/>
        </p:blipFill>
        <p:spPr>
          <a:xfrm>
            <a:off x="6096543" y="227"/>
            <a:ext cx="5288377" cy="6858000"/>
          </a:xfrm>
          <a:prstGeom prst="rect">
            <a:avLst/>
          </a:prstGeom>
          <a:ln w="12700">
            <a:solidFill>
              <a:schemeClr val="tx1"/>
            </a:solidFill>
          </a:ln>
        </p:spPr>
      </p:pic>
      <p:sp>
        <p:nvSpPr>
          <p:cNvPr id="21" name="Rectangle 20">
            <a:extLst>
              <a:ext uri="{FF2B5EF4-FFF2-40B4-BE49-F238E27FC236}">
                <a16:creationId xmlns:a16="http://schemas.microsoft.com/office/drawing/2014/main" id="{31E37FC9-ED36-42CE-9877-9EAB50FA84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382586"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815716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rotWithShape="1">
          <a:blip r:embed="rId2"/>
          <a:stretch/>
        </a:blipFill>
        <a:effectLst/>
      </p:bgPr>
    </p:bg>
    <p:spTree>
      <p:nvGrpSpPr>
        <p:cNvPr id="1" name=""/>
        <p:cNvGrpSpPr/>
        <p:nvPr/>
      </p:nvGrpSpPr>
      <p:grpSpPr>
        <a:xfrm>
          <a:off x="0" y="0"/>
          <a:ext cx="0" cy="0"/>
          <a:chOff x="0" y="0"/>
          <a:chExt cx="0" cy="0"/>
        </a:xfrm>
      </p:grpSpPr>
      <p:sp useBgFill="1">
        <p:nvSpPr>
          <p:cNvPr id="34" name="Rectangle 33">
            <a:extLst>
              <a:ext uri="{FF2B5EF4-FFF2-40B4-BE49-F238E27FC236}">
                <a16:creationId xmlns:a16="http://schemas.microsoft.com/office/drawing/2014/main" id="{93D02AEE-30DC-4942-A9CA-7A14F8B8E2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9867" cy="685528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6" name="Picture 35">
            <a:extLst>
              <a:ext uri="{FF2B5EF4-FFF2-40B4-BE49-F238E27FC236}">
                <a16:creationId xmlns:a16="http://schemas.microsoft.com/office/drawing/2014/main" id="{FD5823F2-909F-442D-BD72-0681CCC1407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38" name="Picture 37">
            <a:extLst>
              <a:ext uri="{FF2B5EF4-FFF2-40B4-BE49-F238E27FC236}">
                <a16:creationId xmlns:a16="http://schemas.microsoft.com/office/drawing/2014/main" id="{4231EAF6-FA22-4615-A4D3-D171F7E17A5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alphaModFix/>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40" name="Rectangle 39">
            <a:extLst>
              <a:ext uri="{FF2B5EF4-FFF2-40B4-BE49-F238E27FC236}">
                <a16:creationId xmlns:a16="http://schemas.microsoft.com/office/drawing/2014/main" id="{F2699857-2714-4E6A-8E11-6BEB9DF7FC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346078E7-FDC0-448B-97DE-4EDA7702EE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7266E038-37B1-43CF-AFE0-B21E9F572C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7533" y="0"/>
            <a:ext cx="10378001"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1DA0484-FC52-1F41-C382-4FE9A62B3220}"/>
              </a:ext>
            </a:extLst>
          </p:cNvPr>
          <p:cNvSpPr>
            <a:spLocks noGrp="1"/>
          </p:cNvSpPr>
          <p:nvPr>
            <p:ph type="title"/>
          </p:nvPr>
        </p:nvSpPr>
        <p:spPr>
          <a:xfrm>
            <a:off x="1964444" y="808056"/>
            <a:ext cx="3319381" cy="1077229"/>
          </a:xfrm>
        </p:spPr>
        <p:txBody>
          <a:bodyPr>
            <a:normAutofit/>
          </a:bodyPr>
          <a:lstStyle/>
          <a:p>
            <a:pPr algn="l"/>
            <a:r>
              <a:rPr lang="en-US" sz="2100" b="1" i="0">
                <a:effectLst/>
                <a:latin typeface="roboto" panose="02000000000000000000" pitchFamily="2" charset="0"/>
              </a:rPr>
              <a:t>Explore appropriate and safe sites for learning and research.</a:t>
            </a:r>
            <a:endParaRPr lang="en-US" sz="2100"/>
          </a:p>
        </p:txBody>
      </p:sp>
      <p:sp>
        <p:nvSpPr>
          <p:cNvPr id="3" name="Content Placeholder 2">
            <a:extLst>
              <a:ext uri="{FF2B5EF4-FFF2-40B4-BE49-F238E27FC236}">
                <a16:creationId xmlns:a16="http://schemas.microsoft.com/office/drawing/2014/main" id="{A6B39A8E-A0F5-7B3B-83A9-71B62AAE0EB8}"/>
              </a:ext>
            </a:extLst>
          </p:cNvPr>
          <p:cNvSpPr>
            <a:spLocks noGrp="1"/>
          </p:cNvSpPr>
          <p:nvPr>
            <p:ph idx="1"/>
          </p:nvPr>
        </p:nvSpPr>
        <p:spPr>
          <a:xfrm>
            <a:off x="1964444" y="2052116"/>
            <a:ext cx="3319381" cy="3997828"/>
          </a:xfrm>
        </p:spPr>
        <p:txBody>
          <a:bodyPr>
            <a:normAutofit/>
          </a:bodyPr>
          <a:lstStyle/>
          <a:p>
            <a:r>
              <a:rPr lang="en-US" sz="1800" b="0" i="0" dirty="0">
                <a:effectLst/>
                <a:latin typeface="roboto" panose="02000000000000000000" pitchFamily="2" charset="0"/>
              </a:rPr>
              <a:t>Many websites contain inaccurate or false information. Teachers can provide a list of approved websites. Students need to learn how to evaluate websites and assess whether they can trust the content.</a:t>
            </a:r>
            <a:endParaRPr lang="en-US" sz="1800" dirty="0"/>
          </a:p>
        </p:txBody>
      </p:sp>
      <p:pic>
        <p:nvPicPr>
          <p:cNvPr id="28" name="Picture 27" descr="Glasses on top of a book">
            <a:extLst>
              <a:ext uri="{FF2B5EF4-FFF2-40B4-BE49-F238E27FC236}">
                <a16:creationId xmlns:a16="http://schemas.microsoft.com/office/drawing/2014/main" id="{6DEA7033-DAD0-1534-C8F9-221C0B21C3BA}"/>
              </a:ext>
            </a:extLst>
          </p:cNvPr>
          <p:cNvPicPr>
            <a:picLocks noChangeAspect="1"/>
          </p:cNvPicPr>
          <p:nvPr/>
        </p:nvPicPr>
        <p:blipFill rotWithShape="1">
          <a:blip r:embed="rId5"/>
          <a:srcRect l="12136" r="36776" b="-1"/>
          <a:stretch/>
        </p:blipFill>
        <p:spPr>
          <a:xfrm>
            <a:off x="6096543" y="227"/>
            <a:ext cx="5288377" cy="6858000"/>
          </a:xfrm>
          <a:prstGeom prst="rect">
            <a:avLst/>
          </a:prstGeom>
          <a:ln w="12700">
            <a:solidFill>
              <a:schemeClr val="tx1"/>
            </a:solidFill>
          </a:ln>
        </p:spPr>
      </p:pic>
      <p:sp>
        <p:nvSpPr>
          <p:cNvPr id="46" name="Rectangle 45">
            <a:extLst>
              <a:ext uri="{FF2B5EF4-FFF2-40B4-BE49-F238E27FC236}">
                <a16:creationId xmlns:a16="http://schemas.microsoft.com/office/drawing/2014/main" id="{31E37FC9-ED36-42CE-9877-9EAB50FA84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382586"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1194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rotWithShape="1">
          <a:blip r:embed="rId2"/>
          <a:stretch/>
        </a:blip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3D02AEE-30DC-4942-A9CA-7A14F8B8E2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9867" cy="685528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FD5823F2-909F-442D-BD72-0681CCC1407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13" name="Picture 12">
            <a:extLst>
              <a:ext uri="{FF2B5EF4-FFF2-40B4-BE49-F238E27FC236}">
                <a16:creationId xmlns:a16="http://schemas.microsoft.com/office/drawing/2014/main" id="{4231EAF6-FA22-4615-A4D3-D171F7E17A5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alphaModFix/>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15" name="Rectangle 14">
            <a:extLst>
              <a:ext uri="{FF2B5EF4-FFF2-40B4-BE49-F238E27FC236}">
                <a16:creationId xmlns:a16="http://schemas.microsoft.com/office/drawing/2014/main" id="{F2699857-2714-4E6A-8E11-6BEB9DF7FC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346078E7-FDC0-448B-97DE-4EDA7702EE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7266E038-37B1-43CF-AFE0-B21E9F572C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7533" y="0"/>
            <a:ext cx="10378001"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268D6E0-5D90-6A2A-437B-0C5AEC99AB52}"/>
              </a:ext>
            </a:extLst>
          </p:cNvPr>
          <p:cNvSpPr>
            <a:spLocks noGrp="1"/>
          </p:cNvSpPr>
          <p:nvPr>
            <p:ph type="title"/>
          </p:nvPr>
        </p:nvSpPr>
        <p:spPr>
          <a:xfrm>
            <a:off x="1964444" y="808056"/>
            <a:ext cx="3319381" cy="1077229"/>
          </a:xfrm>
        </p:spPr>
        <p:txBody>
          <a:bodyPr>
            <a:normAutofit/>
          </a:bodyPr>
          <a:lstStyle/>
          <a:p>
            <a:pPr algn="l"/>
            <a:r>
              <a:rPr lang="en-US" sz="2100" b="1" i="0">
                <a:effectLst/>
                <a:latin typeface="roboto" panose="02000000000000000000" pitchFamily="2" charset="0"/>
              </a:rPr>
              <a:t>Copyright law, Fair Use Act and Creative Commons matter.</a:t>
            </a:r>
            <a:endParaRPr lang="en-US" sz="2100"/>
          </a:p>
        </p:txBody>
      </p:sp>
      <p:sp>
        <p:nvSpPr>
          <p:cNvPr id="3" name="Content Placeholder 2">
            <a:extLst>
              <a:ext uri="{FF2B5EF4-FFF2-40B4-BE49-F238E27FC236}">
                <a16:creationId xmlns:a16="http://schemas.microsoft.com/office/drawing/2014/main" id="{AB9810A0-5D82-5FA9-AAB5-E316A138C42C}"/>
              </a:ext>
            </a:extLst>
          </p:cNvPr>
          <p:cNvSpPr>
            <a:spLocks noGrp="1"/>
          </p:cNvSpPr>
          <p:nvPr>
            <p:ph idx="1"/>
          </p:nvPr>
        </p:nvSpPr>
        <p:spPr>
          <a:xfrm>
            <a:off x="1964444" y="2052116"/>
            <a:ext cx="3319381" cy="3997828"/>
          </a:xfrm>
        </p:spPr>
        <p:txBody>
          <a:bodyPr>
            <a:normAutofit/>
          </a:bodyPr>
          <a:lstStyle/>
          <a:p>
            <a:r>
              <a:rPr lang="en-US" sz="1800" b="0" i="0">
                <a:effectLst/>
                <a:latin typeface="roboto" panose="02000000000000000000" pitchFamily="2" charset="0"/>
              </a:rPr>
              <a:t>Students learn how to copy and paste without realizing the copyright implications. Understanding copyright and related laws will help ensure students follow the rules in using and sharing content.</a:t>
            </a:r>
            <a:endParaRPr lang="en-US" sz="1800"/>
          </a:p>
        </p:txBody>
      </p:sp>
      <p:pic>
        <p:nvPicPr>
          <p:cNvPr id="5" name="Picture 4" descr="Abstract blurred public library with bookshelves">
            <a:extLst>
              <a:ext uri="{FF2B5EF4-FFF2-40B4-BE49-F238E27FC236}">
                <a16:creationId xmlns:a16="http://schemas.microsoft.com/office/drawing/2014/main" id="{4A46421F-02B9-88B8-126E-CA0CE2FF4AE2}"/>
              </a:ext>
            </a:extLst>
          </p:cNvPr>
          <p:cNvPicPr>
            <a:picLocks noChangeAspect="1"/>
          </p:cNvPicPr>
          <p:nvPr/>
        </p:nvPicPr>
        <p:blipFill rotWithShape="1">
          <a:blip r:embed="rId5"/>
          <a:srcRect l="13094" r="35433" b="-2"/>
          <a:stretch/>
        </p:blipFill>
        <p:spPr>
          <a:xfrm>
            <a:off x="6096543" y="227"/>
            <a:ext cx="5288377" cy="6858000"/>
          </a:xfrm>
          <a:prstGeom prst="rect">
            <a:avLst/>
          </a:prstGeom>
          <a:ln w="12700">
            <a:solidFill>
              <a:schemeClr val="tx1"/>
            </a:solidFill>
          </a:ln>
        </p:spPr>
      </p:pic>
      <p:sp>
        <p:nvSpPr>
          <p:cNvPr id="21" name="Rectangle 20">
            <a:extLst>
              <a:ext uri="{FF2B5EF4-FFF2-40B4-BE49-F238E27FC236}">
                <a16:creationId xmlns:a16="http://schemas.microsoft.com/office/drawing/2014/main" id="{31E37FC9-ED36-42CE-9877-9EAB50FA84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382586"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422246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rotWithShape="1">
          <a:blip r:embed="rId2"/>
          <a:stretch/>
        </a:blip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BB306D4-894F-4A1C-8DE5-1D54B03FD1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9867" cy="685528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9509F6F8-AAE1-4937-902A-BEF577F4E37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13" name="Picture 12">
            <a:extLst>
              <a:ext uri="{FF2B5EF4-FFF2-40B4-BE49-F238E27FC236}">
                <a16:creationId xmlns:a16="http://schemas.microsoft.com/office/drawing/2014/main" id="{D4FACF2C-80C1-44CC-8817-9EDADE5FF0E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alphaModFix/>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15" name="Rectangle 14">
            <a:extLst>
              <a:ext uri="{FF2B5EF4-FFF2-40B4-BE49-F238E27FC236}">
                <a16:creationId xmlns:a16="http://schemas.microsoft.com/office/drawing/2014/main" id="{9610983A-DB5E-4133-A02A-03DA961CE0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674C9817-74DF-4960-9446-47B3FEBCBC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4736E5F1-0280-40B7-BC3A-353B312A67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7533" y="0"/>
            <a:ext cx="10378001"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92E4510-038C-61EB-6D4F-576D977A384C}"/>
              </a:ext>
            </a:extLst>
          </p:cNvPr>
          <p:cNvSpPr>
            <a:spLocks noGrp="1"/>
          </p:cNvSpPr>
          <p:nvPr>
            <p:ph type="title"/>
          </p:nvPr>
        </p:nvSpPr>
        <p:spPr>
          <a:xfrm>
            <a:off x="2295928" y="808056"/>
            <a:ext cx="4203364" cy="1077229"/>
          </a:xfrm>
        </p:spPr>
        <p:txBody>
          <a:bodyPr>
            <a:normAutofit/>
          </a:bodyPr>
          <a:lstStyle/>
          <a:p>
            <a:pPr algn="l"/>
            <a:r>
              <a:rPr lang="en-US" b="1" i="0" dirty="0">
                <a:effectLst/>
                <a:latin typeface="roboto" panose="02000000000000000000" pitchFamily="2" charset="0"/>
              </a:rPr>
              <a:t>Help prevent cyberbullying.</a:t>
            </a:r>
            <a:endParaRPr lang="en-US"/>
          </a:p>
        </p:txBody>
      </p:sp>
      <p:sp>
        <p:nvSpPr>
          <p:cNvPr id="3" name="Content Placeholder 2">
            <a:extLst>
              <a:ext uri="{FF2B5EF4-FFF2-40B4-BE49-F238E27FC236}">
                <a16:creationId xmlns:a16="http://schemas.microsoft.com/office/drawing/2014/main" id="{B63D56C6-E384-ACEF-CE0D-6ECC09C50671}"/>
              </a:ext>
            </a:extLst>
          </p:cNvPr>
          <p:cNvSpPr>
            <a:spLocks noGrp="1"/>
          </p:cNvSpPr>
          <p:nvPr>
            <p:ph idx="1"/>
          </p:nvPr>
        </p:nvSpPr>
        <p:spPr>
          <a:xfrm>
            <a:off x="2295929" y="2052116"/>
            <a:ext cx="4203364" cy="3997828"/>
          </a:xfrm>
        </p:spPr>
        <p:txBody>
          <a:bodyPr>
            <a:normAutofit/>
          </a:bodyPr>
          <a:lstStyle/>
          <a:p>
            <a:pPr>
              <a:lnSpc>
                <a:spcPct val="110000"/>
              </a:lnSpc>
            </a:pPr>
            <a:r>
              <a:rPr lang="en-US" sz="1700" b="0" i="0">
                <a:effectLst/>
                <a:latin typeface="roboto" panose="02000000000000000000" pitchFamily="2" charset="0"/>
              </a:rPr>
              <a:t>The anonymity of the internet and not seeing faces makes it easy to “say” things one would not utter in person. Teaching students about cyberbullying requires discussing not only its definition but also how hurtful and damaging it can be. Give examples of cyberbullying and encourage students to report any cyberbullying incident to teachers, counselors, administrators or their parents.</a:t>
            </a:r>
            <a:endParaRPr lang="en-US" sz="1700"/>
          </a:p>
          <a:p>
            <a:pPr>
              <a:lnSpc>
                <a:spcPct val="110000"/>
              </a:lnSpc>
            </a:pPr>
            <a:endParaRPr lang="en-US" sz="1700"/>
          </a:p>
        </p:txBody>
      </p:sp>
      <p:pic>
        <p:nvPicPr>
          <p:cNvPr id="5" name="Picture 4" descr="Empty speech bubbles">
            <a:extLst>
              <a:ext uri="{FF2B5EF4-FFF2-40B4-BE49-F238E27FC236}">
                <a16:creationId xmlns:a16="http://schemas.microsoft.com/office/drawing/2014/main" id="{70DB0887-59A6-2F4D-398F-7DB259A2D05E}"/>
              </a:ext>
            </a:extLst>
          </p:cNvPr>
          <p:cNvPicPr>
            <a:picLocks noChangeAspect="1"/>
          </p:cNvPicPr>
          <p:nvPr/>
        </p:nvPicPr>
        <p:blipFill rotWithShape="1">
          <a:blip r:embed="rId5"/>
          <a:srcRect l="34460" r="25964" b="-2"/>
          <a:stretch/>
        </p:blipFill>
        <p:spPr>
          <a:xfrm>
            <a:off x="7318874" y="227"/>
            <a:ext cx="4066046" cy="6858000"/>
          </a:xfrm>
          <a:prstGeom prst="rect">
            <a:avLst/>
          </a:prstGeom>
          <a:ln w="12700">
            <a:solidFill>
              <a:schemeClr val="tx1"/>
            </a:solidFill>
          </a:ln>
        </p:spPr>
      </p:pic>
      <p:sp>
        <p:nvSpPr>
          <p:cNvPr id="21" name="Rectangle 20">
            <a:extLst>
              <a:ext uri="{FF2B5EF4-FFF2-40B4-BE49-F238E27FC236}">
                <a16:creationId xmlns:a16="http://schemas.microsoft.com/office/drawing/2014/main" id="{8FB3060F-E739-42D0-B49B-587B1F7C0F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382586"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2264437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rotWithShape="1">
          <a:blip r:embed="rId2"/>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EF43F25-3F1B-4633-965B-1C70B06E0C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9867" cy="685528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D0D07EC4-9216-467D-867B-377ED24E40B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14" name="Picture 13">
            <a:extLst>
              <a:ext uri="{FF2B5EF4-FFF2-40B4-BE49-F238E27FC236}">
                <a16:creationId xmlns:a16="http://schemas.microsoft.com/office/drawing/2014/main" id="{B4E6DF90-6C31-4858-95A6-AADB5BA090D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alphaModFix/>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16" name="Rectangle 15">
            <a:extLst>
              <a:ext uri="{FF2B5EF4-FFF2-40B4-BE49-F238E27FC236}">
                <a16:creationId xmlns:a16="http://schemas.microsoft.com/office/drawing/2014/main" id="{E49E0580-60FE-4CFC-B3E0-7FF65AC64E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D5186DD6-3FF0-48CB-8800-B058514731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B3D07173-FFBA-40D1-8E7A-0DBBF76052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7533" y="0"/>
            <a:ext cx="10378001"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FD2E4D4-F21A-6528-0600-779A6C60CDCA}"/>
              </a:ext>
            </a:extLst>
          </p:cNvPr>
          <p:cNvSpPr>
            <a:spLocks noGrp="1"/>
          </p:cNvSpPr>
          <p:nvPr>
            <p:ph type="title"/>
          </p:nvPr>
        </p:nvSpPr>
        <p:spPr>
          <a:xfrm>
            <a:off x="2287850" y="808056"/>
            <a:ext cx="4567985" cy="1077229"/>
          </a:xfrm>
        </p:spPr>
        <p:txBody>
          <a:bodyPr>
            <a:normAutofit/>
          </a:bodyPr>
          <a:lstStyle/>
          <a:p>
            <a:pPr algn="l"/>
            <a:r>
              <a:rPr lang="en-US" b="1" i="0">
                <a:effectLst/>
                <a:latin typeface="roboto" panose="02000000000000000000" pitchFamily="2" charset="0"/>
              </a:rPr>
              <a:t>Self-image is important.</a:t>
            </a:r>
            <a:endParaRPr lang="en-US"/>
          </a:p>
        </p:txBody>
      </p:sp>
      <p:sp>
        <p:nvSpPr>
          <p:cNvPr id="3" name="Content Placeholder 2">
            <a:extLst>
              <a:ext uri="{FF2B5EF4-FFF2-40B4-BE49-F238E27FC236}">
                <a16:creationId xmlns:a16="http://schemas.microsoft.com/office/drawing/2014/main" id="{43C113C0-3B63-271A-9F9E-236F1E0C14D8}"/>
              </a:ext>
            </a:extLst>
          </p:cNvPr>
          <p:cNvSpPr>
            <a:spLocks noGrp="1"/>
          </p:cNvSpPr>
          <p:nvPr>
            <p:ph idx="1"/>
          </p:nvPr>
        </p:nvSpPr>
        <p:spPr>
          <a:xfrm>
            <a:off x="2287850" y="2052116"/>
            <a:ext cx="4537179" cy="3997828"/>
          </a:xfrm>
        </p:spPr>
        <p:txBody>
          <a:bodyPr>
            <a:normAutofit/>
          </a:bodyPr>
          <a:lstStyle/>
          <a:p>
            <a:r>
              <a:rPr lang="en-US" sz="1800" b="0" i="0">
                <a:effectLst/>
                <a:latin typeface="roboto" panose="02000000000000000000" pitchFamily="2" charset="0"/>
              </a:rPr>
              <a:t>Without seeing faces, people can easily overshare in a digital world. Kids need to learn how future employers look up candidates’ social media accounts to see how they represent themselves in public.</a:t>
            </a:r>
            <a:endParaRPr lang="en-US" sz="1800"/>
          </a:p>
        </p:txBody>
      </p:sp>
      <p:sp>
        <p:nvSpPr>
          <p:cNvPr id="22" name="Rectangle 21">
            <a:extLst>
              <a:ext uri="{FF2B5EF4-FFF2-40B4-BE49-F238E27FC236}">
                <a16:creationId xmlns:a16="http://schemas.microsoft.com/office/drawing/2014/main" id="{F72507E0-79C9-402C-9361-4F1FD9A0AE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30604" y="641224"/>
            <a:ext cx="3120416" cy="557803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descr="Target Audience">
            <a:extLst>
              <a:ext uri="{FF2B5EF4-FFF2-40B4-BE49-F238E27FC236}">
                <a16:creationId xmlns:a16="http://schemas.microsoft.com/office/drawing/2014/main" id="{7B4A1E43-0F2F-0F42-C6A4-C7AD4ECF088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960208" y="2195019"/>
            <a:ext cx="2469200" cy="2469200"/>
          </a:xfrm>
          <a:prstGeom prst="rect">
            <a:avLst/>
          </a:prstGeom>
          <a:ln>
            <a:noFill/>
          </a:ln>
        </p:spPr>
      </p:pic>
      <p:sp>
        <p:nvSpPr>
          <p:cNvPr id="24" name="Rectangle 23">
            <a:extLst>
              <a:ext uri="{FF2B5EF4-FFF2-40B4-BE49-F238E27FC236}">
                <a16:creationId xmlns:a16="http://schemas.microsoft.com/office/drawing/2014/main" id="{CAB3F863-EDBB-484D-84DE-9180F8BE2B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80199" y="890907"/>
            <a:ext cx="2623652" cy="5077948"/>
          </a:xfrm>
          <a:prstGeom prst="rect">
            <a:avLst/>
          </a:prstGeom>
          <a:noFill/>
          <a:ln w="9525">
            <a:solidFill>
              <a:schemeClr val="accent6">
                <a:lumMod val="60000"/>
                <a:lumOff val="40000"/>
                <a:alpha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50F859FC-1669-4A5D-A4BC-E630FB6A67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387666" y="-2718"/>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836528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rotWithShape="1">
          <a:blip r:embed="rId2"/>
          <a:stretch/>
        </a:blipFill>
        <a:effectLst/>
      </p:bgPr>
    </p:bg>
    <p:spTree>
      <p:nvGrpSpPr>
        <p:cNvPr id="1" name=""/>
        <p:cNvGrpSpPr/>
        <p:nvPr/>
      </p:nvGrpSpPr>
      <p:grpSpPr>
        <a:xfrm>
          <a:off x="0" y="0"/>
          <a:ext cx="0" cy="0"/>
          <a:chOff x="0" y="0"/>
          <a:chExt cx="0" cy="0"/>
        </a:xfrm>
      </p:grpSpPr>
      <p:sp useBgFill="1">
        <p:nvSpPr>
          <p:cNvPr id="52" name="Rectangle 51">
            <a:extLst>
              <a:ext uri="{FF2B5EF4-FFF2-40B4-BE49-F238E27FC236}">
                <a16:creationId xmlns:a16="http://schemas.microsoft.com/office/drawing/2014/main" id="{CEF43F25-3F1B-4633-965B-1C70B06E0C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9867" cy="685528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4" name="Picture 53">
            <a:extLst>
              <a:ext uri="{FF2B5EF4-FFF2-40B4-BE49-F238E27FC236}">
                <a16:creationId xmlns:a16="http://schemas.microsoft.com/office/drawing/2014/main" id="{D0D07EC4-9216-467D-867B-377ED24E40B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56" name="Picture 55">
            <a:extLst>
              <a:ext uri="{FF2B5EF4-FFF2-40B4-BE49-F238E27FC236}">
                <a16:creationId xmlns:a16="http://schemas.microsoft.com/office/drawing/2014/main" id="{B4E6DF90-6C31-4858-95A6-AADB5BA090D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alphaModFix/>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58" name="Rectangle 57">
            <a:extLst>
              <a:ext uri="{FF2B5EF4-FFF2-40B4-BE49-F238E27FC236}">
                <a16:creationId xmlns:a16="http://schemas.microsoft.com/office/drawing/2014/main" id="{E49E0580-60FE-4CFC-B3E0-7FF65AC64E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59">
            <a:extLst>
              <a:ext uri="{FF2B5EF4-FFF2-40B4-BE49-F238E27FC236}">
                <a16:creationId xmlns:a16="http://schemas.microsoft.com/office/drawing/2014/main" id="{D5186DD6-3FF0-48CB-8800-B058514731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61">
            <a:extLst>
              <a:ext uri="{FF2B5EF4-FFF2-40B4-BE49-F238E27FC236}">
                <a16:creationId xmlns:a16="http://schemas.microsoft.com/office/drawing/2014/main" id="{B3D07173-FFBA-40D1-8E7A-0DBBF76052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7533" y="0"/>
            <a:ext cx="10378001"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F5EFE60-1E90-4961-AD7A-35EA4BA91D6D}"/>
              </a:ext>
            </a:extLst>
          </p:cNvPr>
          <p:cNvSpPr>
            <a:spLocks noGrp="1"/>
          </p:cNvSpPr>
          <p:nvPr>
            <p:ph type="title"/>
          </p:nvPr>
        </p:nvSpPr>
        <p:spPr>
          <a:xfrm>
            <a:off x="2287850" y="808056"/>
            <a:ext cx="4567985" cy="1077229"/>
          </a:xfrm>
        </p:spPr>
        <p:txBody>
          <a:bodyPr>
            <a:normAutofit/>
          </a:bodyPr>
          <a:lstStyle/>
          <a:p>
            <a:pPr algn="l"/>
            <a:r>
              <a:rPr lang="en-US" b="1" i="0">
                <a:effectLst/>
                <a:latin typeface="roboto" panose="02000000000000000000" pitchFamily="2" charset="0"/>
              </a:rPr>
              <a:t>Make use of netiquette.</a:t>
            </a:r>
            <a:endParaRPr lang="en-US"/>
          </a:p>
        </p:txBody>
      </p:sp>
      <p:sp>
        <p:nvSpPr>
          <p:cNvPr id="3" name="Content Placeholder 2">
            <a:extLst>
              <a:ext uri="{FF2B5EF4-FFF2-40B4-BE49-F238E27FC236}">
                <a16:creationId xmlns:a16="http://schemas.microsoft.com/office/drawing/2014/main" id="{7E0C8D27-0F7C-18A2-6298-C0429B32B3DB}"/>
              </a:ext>
            </a:extLst>
          </p:cNvPr>
          <p:cNvSpPr>
            <a:spLocks noGrp="1"/>
          </p:cNvSpPr>
          <p:nvPr>
            <p:ph idx="1"/>
          </p:nvPr>
        </p:nvSpPr>
        <p:spPr>
          <a:xfrm>
            <a:off x="2287850" y="2052116"/>
            <a:ext cx="4537179" cy="3997828"/>
          </a:xfrm>
        </p:spPr>
        <p:txBody>
          <a:bodyPr>
            <a:normAutofit/>
          </a:bodyPr>
          <a:lstStyle/>
          <a:p>
            <a:r>
              <a:rPr lang="en-US" sz="1800" b="0" i="0">
                <a:effectLst/>
                <a:latin typeface="roboto" panose="02000000000000000000" pitchFamily="2" charset="0"/>
              </a:rPr>
              <a:t>Netiquette comprises the rules of an online community. Sloppy writing in online forums, device distraction while in conversation, and sending of unsolicited emails are a few examples of poor netiquette. Learners need to understand what makes good and bad netiquette and why.</a:t>
            </a:r>
            <a:endParaRPr lang="en-US" sz="1800"/>
          </a:p>
        </p:txBody>
      </p:sp>
      <p:sp>
        <p:nvSpPr>
          <p:cNvPr id="64" name="Rectangle 63">
            <a:extLst>
              <a:ext uri="{FF2B5EF4-FFF2-40B4-BE49-F238E27FC236}">
                <a16:creationId xmlns:a16="http://schemas.microsoft.com/office/drawing/2014/main" id="{F72507E0-79C9-402C-9361-4F1FD9A0AE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30604" y="641224"/>
            <a:ext cx="3120416" cy="557803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descr="Chat">
            <a:extLst>
              <a:ext uri="{FF2B5EF4-FFF2-40B4-BE49-F238E27FC236}">
                <a16:creationId xmlns:a16="http://schemas.microsoft.com/office/drawing/2014/main" id="{FF3F39EB-63D9-6B2E-98A3-E0136D28507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960208" y="2195019"/>
            <a:ext cx="2469200" cy="2469200"/>
          </a:xfrm>
          <a:prstGeom prst="rect">
            <a:avLst/>
          </a:prstGeom>
          <a:ln>
            <a:noFill/>
          </a:ln>
        </p:spPr>
      </p:pic>
      <p:sp>
        <p:nvSpPr>
          <p:cNvPr id="66" name="Rectangle 65">
            <a:extLst>
              <a:ext uri="{FF2B5EF4-FFF2-40B4-BE49-F238E27FC236}">
                <a16:creationId xmlns:a16="http://schemas.microsoft.com/office/drawing/2014/main" id="{CAB3F863-EDBB-484D-84DE-9180F8BE2B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80199" y="890907"/>
            <a:ext cx="2623652" cy="5077948"/>
          </a:xfrm>
          <a:prstGeom prst="rect">
            <a:avLst/>
          </a:prstGeom>
          <a:noFill/>
          <a:ln w="9525">
            <a:solidFill>
              <a:schemeClr val="accent6">
                <a:lumMod val="60000"/>
                <a:lumOff val="40000"/>
                <a:alpha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67">
            <a:extLst>
              <a:ext uri="{FF2B5EF4-FFF2-40B4-BE49-F238E27FC236}">
                <a16:creationId xmlns:a16="http://schemas.microsoft.com/office/drawing/2014/main" id="{50F859FC-1669-4A5D-A4BC-E630FB6A67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387666" y="-2718"/>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8875574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rotWithShape="1">
          <a:blip r:embed="rId2"/>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EF43F25-3F1B-4633-965B-1C70B06E0C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9867" cy="685528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D0D07EC4-9216-467D-867B-377ED24E40B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14" name="Picture 13">
            <a:extLst>
              <a:ext uri="{FF2B5EF4-FFF2-40B4-BE49-F238E27FC236}">
                <a16:creationId xmlns:a16="http://schemas.microsoft.com/office/drawing/2014/main" id="{B4E6DF90-6C31-4858-95A6-AADB5BA090D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alphaModFix/>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16" name="Rectangle 15">
            <a:extLst>
              <a:ext uri="{FF2B5EF4-FFF2-40B4-BE49-F238E27FC236}">
                <a16:creationId xmlns:a16="http://schemas.microsoft.com/office/drawing/2014/main" id="{E49E0580-60FE-4CFC-B3E0-7FF65AC64E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D5186DD6-3FF0-48CB-8800-B058514731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B3D07173-FFBA-40D1-8E7A-0DBBF76052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7533" y="0"/>
            <a:ext cx="10378001"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DD70F2A-04BD-E68E-8620-CBCD5DA8B349}"/>
              </a:ext>
            </a:extLst>
          </p:cNvPr>
          <p:cNvSpPr>
            <a:spLocks noGrp="1"/>
          </p:cNvSpPr>
          <p:nvPr>
            <p:ph type="title"/>
          </p:nvPr>
        </p:nvSpPr>
        <p:spPr>
          <a:xfrm>
            <a:off x="2287850" y="808056"/>
            <a:ext cx="4567985" cy="1077229"/>
          </a:xfrm>
        </p:spPr>
        <p:txBody>
          <a:bodyPr>
            <a:normAutofit/>
          </a:bodyPr>
          <a:lstStyle/>
          <a:p>
            <a:pPr algn="l"/>
            <a:r>
              <a:rPr lang="en-US" b="1" i="0">
                <a:effectLst/>
                <a:latin typeface="roboto" panose="02000000000000000000" pitchFamily="2" charset="0"/>
              </a:rPr>
              <a:t>Always give credit to original source.</a:t>
            </a:r>
            <a:endParaRPr lang="en-US"/>
          </a:p>
        </p:txBody>
      </p:sp>
      <p:sp>
        <p:nvSpPr>
          <p:cNvPr id="3" name="Content Placeholder 2">
            <a:extLst>
              <a:ext uri="{FF2B5EF4-FFF2-40B4-BE49-F238E27FC236}">
                <a16:creationId xmlns:a16="http://schemas.microsoft.com/office/drawing/2014/main" id="{189410C4-0D90-1D26-CDD5-468226B31CCB}"/>
              </a:ext>
            </a:extLst>
          </p:cNvPr>
          <p:cNvSpPr>
            <a:spLocks noGrp="1"/>
          </p:cNvSpPr>
          <p:nvPr>
            <p:ph idx="1"/>
          </p:nvPr>
        </p:nvSpPr>
        <p:spPr>
          <a:xfrm>
            <a:off x="2287850" y="2052116"/>
            <a:ext cx="4537179" cy="3997828"/>
          </a:xfrm>
        </p:spPr>
        <p:txBody>
          <a:bodyPr>
            <a:normAutofit/>
          </a:bodyPr>
          <a:lstStyle/>
          <a:p>
            <a:r>
              <a:rPr lang="en-US" sz="1800" b="0" i="0">
                <a:effectLst/>
                <a:latin typeface="roboto" panose="02000000000000000000" pitchFamily="2" charset="0"/>
              </a:rPr>
              <a:t>Like citing references in term papers, students learn about the importance of using online citations to respect copyright laws and eschew plagiarism.</a:t>
            </a:r>
            <a:endParaRPr lang="en-US" sz="1800"/>
          </a:p>
        </p:txBody>
      </p:sp>
      <p:sp>
        <p:nvSpPr>
          <p:cNvPr id="22" name="Rectangle 21">
            <a:extLst>
              <a:ext uri="{FF2B5EF4-FFF2-40B4-BE49-F238E27FC236}">
                <a16:creationId xmlns:a16="http://schemas.microsoft.com/office/drawing/2014/main" id="{F72507E0-79C9-402C-9361-4F1FD9A0AE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30604" y="641224"/>
            <a:ext cx="3120416" cy="557803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descr="Books">
            <a:extLst>
              <a:ext uri="{FF2B5EF4-FFF2-40B4-BE49-F238E27FC236}">
                <a16:creationId xmlns:a16="http://schemas.microsoft.com/office/drawing/2014/main" id="{92335FE8-0669-E086-ED51-4F7DB36DC08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960208" y="2195019"/>
            <a:ext cx="2469200" cy="2469200"/>
          </a:xfrm>
          <a:prstGeom prst="rect">
            <a:avLst/>
          </a:prstGeom>
          <a:ln>
            <a:noFill/>
          </a:ln>
        </p:spPr>
      </p:pic>
      <p:sp>
        <p:nvSpPr>
          <p:cNvPr id="24" name="Rectangle 23">
            <a:extLst>
              <a:ext uri="{FF2B5EF4-FFF2-40B4-BE49-F238E27FC236}">
                <a16:creationId xmlns:a16="http://schemas.microsoft.com/office/drawing/2014/main" id="{CAB3F863-EDBB-484D-84DE-9180F8BE2B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80199" y="890907"/>
            <a:ext cx="2623652" cy="5077948"/>
          </a:xfrm>
          <a:prstGeom prst="rect">
            <a:avLst/>
          </a:prstGeom>
          <a:noFill/>
          <a:ln w="9525">
            <a:solidFill>
              <a:schemeClr val="accent6">
                <a:lumMod val="60000"/>
                <a:lumOff val="40000"/>
                <a:alpha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50F859FC-1669-4A5D-A4BC-E630FB6A67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387666" y="-2718"/>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5907213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rotWithShape="1">
          <a:blip r:embed="rId2"/>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EF43F25-3F1B-4633-965B-1C70B06E0C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9867" cy="685528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D0D07EC4-9216-467D-867B-377ED24E40B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14" name="Picture 13">
            <a:extLst>
              <a:ext uri="{FF2B5EF4-FFF2-40B4-BE49-F238E27FC236}">
                <a16:creationId xmlns:a16="http://schemas.microsoft.com/office/drawing/2014/main" id="{B4E6DF90-6C31-4858-95A6-AADB5BA090D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alphaModFix/>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16" name="Rectangle 15">
            <a:extLst>
              <a:ext uri="{FF2B5EF4-FFF2-40B4-BE49-F238E27FC236}">
                <a16:creationId xmlns:a16="http://schemas.microsoft.com/office/drawing/2014/main" id="{E49E0580-60FE-4CFC-B3E0-7FF65AC64E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D5186DD6-3FF0-48CB-8800-B058514731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B3D07173-FFBA-40D1-8E7A-0DBBF76052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7533" y="0"/>
            <a:ext cx="10378001"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B015ED-5762-F89A-2446-BB833ABE6543}"/>
              </a:ext>
            </a:extLst>
          </p:cNvPr>
          <p:cNvSpPr>
            <a:spLocks noGrp="1"/>
          </p:cNvSpPr>
          <p:nvPr>
            <p:ph type="title"/>
          </p:nvPr>
        </p:nvSpPr>
        <p:spPr>
          <a:xfrm>
            <a:off x="2287850" y="808056"/>
            <a:ext cx="4567985" cy="1077229"/>
          </a:xfrm>
        </p:spPr>
        <p:txBody>
          <a:bodyPr>
            <a:normAutofit/>
          </a:bodyPr>
          <a:lstStyle/>
          <a:p>
            <a:pPr algn="l"/>
            <a:r>
              <a:rPr lang="en-US" sz="2100" b="1" i="0">
                <a:effectLst/>
                <a:latin typeface="roboto" panose="02000000000000000000" pitchFamily="2" charset="0"/>
              </a:rPr>
              <a:t>Remember to be effective, thoughtful and ethical digital creators.</a:t>
            </a:r>
            <a:endParaRPr lang="en-US" sz="2100"/>
          </a:p>
        </p:txBody>
      </p:sp>
      <p:sp>
        <p:nvSpPr>
          <p:cNvPr id="3" name="Content Placeholder 2">
            <a:extLst>
              <a:ext uri="{FF2B5EF4-FFF2-40B4-BE49-F238E27FC236}">
                <a16:creationId xmlns:a16="http://schemas.microsoft.com/office/drawing/2014/main" id="{21C66218-6274-C369-2C38-7D686030D7C2}"/>
              </a:ext>
            </a:extLst>
          </p:cNvPr>
          <p:cNvSpPr>
            <a:spLocks noGrp="1"/>
          </p:cNvSpPr>
          <p:nvPr>
            <p:ph idx="1"/>
          </p:nvPr>
        </p:nvSpPr>
        <p:spPr>
          <a:xfrm>
            <a:off x="2287850" y="2052116"/>
            <a:ext cx="4537179" cy="3997828"/>
          </a:xfrm>
        </p:spPr>
        <p:txBody>
          <a:bodyPr>
            <a:normAutofit/>
          </a:bodyPr>
          <a:lstStyle/>
          <a:p>
            <a:r>
              <a:rPr lang="en-US" sz="1800" b="0" i="0" dirty="0">
                <a:effectLst/>
                <a:latin typeface="roboto" panose="02000000000000000000" pitchFamily="2" charset="0"/>
              </a:rPr>
              <a:t>Teachers can incorporate assignments that use digital tools in the classroom. This allows students to learn how to use technology responsibly with teacher oversight.</a:t>
            </a:r>
            <a:endParaRPr lang="en-US" sz="1800" dirty="0"/>
          </a:p>
        </p:txBody>
      </p:sp>
      <p:sp>
        <p:nvSpPr>
          <p:cNvPr id="22" name="Rectangle 21">
            <a:extLst>
              <a:ext uri="{FF2B5EF4-FFF2-40B4-BE49-F238E27FC236}">
                <a16:creationId xmlns:a16="http://schemas.microsoft.com/office/drawing/2014/main" id="{F72507E0-79C9-402C-9361-4F1FD9A0AE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30604" y="641224"/>
            <a:ext cx="3120416" cy="557803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descr="Teacher">
            <a:extLst>
              <a:ext uri="{FF2B5EF4-FFF2-40B4-BE49-F238E27FC236}">
                <a16:creationId xmlns:a16="http://schemas.microsoft.com/office/drawing/2014/main" id="{C46CB7F8-5194-79FD-A74C-273964062B8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960208" y="2195019"/>
            <a:ext cx="2469200" cy="2469200"/>
          </a:xfrm>
          <a:prstGeom prst="rect">
            <a:avLst/>
          </a:prstGeom>
          <a:ln>
            <a:noFill/>
          </a:ln>
        </p:spPr>
      </p:pic>
      <p:sp>
        <p:nvSpPr>
          <p:cNvPr id="24" name="Rectangle 23">
            <a:extLst>
              <a:ext uri="{FF2B5EF4-FFF2-40B4-BE49-F238E27FC236}">
                <a16:creationId xmlns:a16="http://schemas.microsoft.com/office/drawing/2014/main" id="{CAB3F863-EDBB-484D-84DE-9180F8BE2B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80199" y="890907"/>
            <a:ext cx="2623652" cy="5077948"/>
          </a:xfrm>
          <a:prstGeom prst="rect">
            <a:avLst/>
          </a:prstGeom>
          <a:noFill/>
          <a:ln w="9525">
            <a:solidFill>
              <a:schemeClr val="accent6">
                <a:lumMod val="60000"/>
                <a:lumOff val="40000"/>
                <a:alpha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50F859FC-1669-4A5D-A4BC-E630FB6A67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387666" y="-2718"/>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73009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rotWithShape="1">
          <a:blip r:embed="rId2"/>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EF43F25-3F1B-4633-965B-1C70B06E0C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9867" cy="685528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D0D07EC4-9216-467D-867B-377ED24E40B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14" name="Picture 13">
            <a:extLst>
              <a:ext uri="{FF2B5EF4-FFF2-40B4-BE49-F238E27FC236}">
                <a16:creationId xmlns:a16="http://schemas.microsoft.com/office/drawing/2014/main" id="{B4E6DF90-6C31-4858-95A6-AADB5BA090D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alphaModFix/>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16" name="Rectangle 15">
            <a:extLst>
              <a:ext uri="{FF2B5EF4-FFF2-40B4-BE49-F238E27FC236}">
                <a16:creationId xmlns:a16="http://schemas.microsoft.com/office/drawing/2014/main" id="{E49E0580-60FE-4CFC-B3E0-7FF65AC64E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D5186DD6-3FF0-48CB-8800-B058514731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B3D07173-FFBA-40D1-8E7A-0DBBF76052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7533" y="0"/>
            <a:ext cx="10378001"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5D4D47A-5104-79CD-BBDF-3B87A35D50DB}"/>
              </a:ext>
            </a:extLst>
          </p:cNvPr>
          <p:cNvSpPr>
            <a:spLocks noGrp="1"/>
          </p:cNvSpPr>
          <p:nvPr>
            <p:ph type="title"/>
          </p:nvPr>
        </p:nvSpPr>
        <p:spPr>
          <a:xfrm>
            <a:off x="2287850" y="808056"/>
            <a:ext cx="4567985" cy="1077229"/>
          </a:xfrm>
        </p:spPr>
        <p:txBody>
          <a:bodyPr>
            <a:normAutofit/>
          </a:bodyPr>
          <a:lstStyle/>
          <a:p>
            <a:pPr algn="l"/>
            <a:r>
              <a:rPr lang="en-US" b="1" i="0">
                <a:effectLst/>
                <a:latin typeface="roboto" panose="02000000000000000000" pitchFamily="2" charset="0"/>
              </a:rPr>
              <a:t>Think.</a:t>
            </a:r>
            <a:endParaRPr lang="en-US"/>
          </a:p>
        </p:txBody>
      </p:sp>
      <p:sp>
        <p:nvSpPr>
          <p:cNvPr id="3" name="Content Placeholder 2">
            <a:extLst>
              <a:ext uri="{FF2B5EF4-FFF2-40B4-BE49-F238E27FC236}">
                <a16:creationId xmlns:a16="http://schemas.microsoft.com/office/drawing/2014/main" id="{B1D255E1-E671-A1C4-4A96-236447E17A16}"/>
              </a:ext>
            </a:extLst>
          </p:cNvPr>
          <p:cNvSpPr>
            <a:spLocks noGrp="1"/>
          </p:cNvSpPr>
          <p:nvPr>
            <p:ph idx="1"/>
          </p:nvPr>
        </p:nvSpPr>
        <p:spPr>
          <a:xfrm>
            <a:off x="2287850" y="2052116"/>
            <a:ext cx="4537179" cy="3997828"/>
          </a:xfrm>
        </p:spPr>
        <p:txBody>
          <a:bodyPr>
            <a:normAutofit/>
          </a:bodyPr>
          <a:lstStyle/>
          <a:p>
            <a:r>
              <a:rPr lang="en-US" sz="1800" b="0" i="0" dirty="0">
                <a:effectLst/>
                <a:latin typeface="roboto" panose="02000000000000000000" pitchFamily="2" charset="0"/>
              </a:rPr>
              <a:t>Teachers can integrate TECH SMART into their lesson plans and encourage students to think about technology’s purpose in all digital interactions.</a:t>
            </a:r>
            <a:endParaRPr lang="en-US" sz="1800" dirty="0"/>
          </a:p>
        </p:txBody>
      </p:sp>
      <p:sp>
        <p:nvSpPr>
          <p:cNvPr id="22" name="Rectangle 21">
            <a:extLst>
              <a:ext uri="{FF2B5EF4-FFF2-40B4-BE49-F238E27FC236}">
                <a16:creationId xmlns:a16="http://schemas.microsoft.com/office/drawing/2014/main" id="{F72507E0-79C9-402C-9361-4F1FD9A0AE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30604" y="641224"/>
            <a:ext cx="3120416" cy="557803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descr="Robot">
            <a:extLst>
              <a:ext uri="{FF2B5EF4-FFF2-40B4-BE49-F238E27FC236}">
                <a16:creationId xmlns:a16="http://schemas.microsoft.com/office/drawing/2014/main" id="{0FD77799-5FB2-556D-F8D9-2594AB76C1B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960208" y="2195019"/>
            <a:ext cx="2469200" cy="2469200"/>
          </a:xfrm>
          <a:prstGeom prst="rect">
            <a:avLst/>
          </a:prstGeom>
          <a:ln>
            <a:noFill/>
          </a:ln>
        </p:spPr>
      </p:pic>
      <p:sp>
        <p:nvSpPr>
          <p:cNvPr id="24" name="Rectangle 23">
            <a:extLst>
              <a:ext uri="{FF2B5EF4-FFF2-40B4-BE49-F238E27FC236}">
                <a16:creationId xmlns:a16="http://schemas.microsoft.com/office/drawing/2014/main" id="{CAB3F863-EDBB-484D-84DE-9180F8BE2B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80199" y="890907"/>
            <a:ext cx="2623652" cy="5077948"/>
          </a:xfrm>
          <a:prstGeom prst="rect">
            <a:avLst/>
          </a:prstGeom>
          <a:noFill/>
          <a:ln w="9525">
            <a:solidFill>
              <a:schemeClr val="accent6">
                <a:lumMod val="60000"/>
                <a:lumOff val="40000"/>
                <a:alpha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50F859FC-1669-4A5D-A4BC-E630FB6A67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387666" y="-2718"/>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541755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Netiquette or Cyber Ethics</a:t>
            </a:r>
          </a:p>
        </p:txBody>
      </p:sp>
      <p:sp>
        <p:nvSpPr>
          <p:cNvPr id="3" name="Content Placeholder 2"/>
          <p:cNvSpPr>
            <a:spLocks noGrp="1"/>
          </p:cNvSpPr>
          <p:nvPr>
            <p:ph idx="1"/>
          </p:nvPr>
        </p:nvSpPr>
        <p:spPr/>
        <p:txBody>
          <a:bodyPr>
            <a:normAutofit/>
          </a:bodyPr>
          <a:lstStyle/>
          <a:p>
            <a:pPr marL="6160" indent="0">
              <a:buNone/>
            </a:pPr>
            <a:r>
              <a:rPr lang="en-US" sz="2800" dirty="0"/>
              <a:t>1. </a:t>
            </a:r>
            <a:r>
              <a:rPr lang="en-US" sz="2800" dirty="0">
                <a:solidFill>
                  <a:srgbClr val="00B050"/>
                </a:solidFill>
              </a:rPr>
              <a:t>Make Real People a Priority</a:t>
            </a:r>
          </a:p>
          <a:p>
            <a:pPr lvl="1"/>
            <a:r>
              <a:rPr lang="en-US" sz="2400" dirty="0"/>
              <a:t>The cyberspace is not an alternate reality where we shall soon fall or belongs. Still maintain real relationships from real people. Better to maintain the same personality online and in-person.</a:t>
            </a:r>
          </a:p>
        </p:txBody>
      </p:sp>
    </p:spTree>
    <p:extLst>
      <p:ext uri="{BB962C8B-B14F-4D97-AF65-F5344CB8AC3E}">
        <p14:creationId xmlns:p14="http://schemas.microsoft.com/office/powerpoint/2010/main" val="236062298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Netiquette or Cyber Ethics</a:t>
            </a:r>
          </a:p>
        </p:txBody>
      </p:sp>
      <p:sp>
        <p:nvSpPr>
          <p:cNvPr id="3" name="Content Placeholder 2"/>
          <p:cNvSpPr>
            <a:spLocks noGrp="1"/>
          </p:cNvSpPr>
          <p:nvPr>
            <p:ph idx="1"/>
          </p:nvPr>
        </p:nvSpPr>
        <p:spPr/>
        <p:txBody>
          <a:bodyPr>
            <a:normAutofit/>
          </a:bodyPr>
          <a:lstStyle/>
          <a:p>
            <a:pPr marL="6160" indent="0">
              <a:buNone/>
            </a:pPr>
            <a:r>
              <a:rPr lang="en-US" sz="2800" dirty="0"/>
              <a:t>2. </a:t>
            </a:r>
            <a:r>
              <a:rPr lang="en-US" sz="2800" dirty="0">
                <a:solidFill>
                  <a:srgbClr val="00B050"/>
                </a:solidFill>
              </a:rPr>
              <a:t>Use Respectful Language</a:t>
            </a:r>
          </a:p>
          <a:p>
            <a:pPr lvl="1"/>
            <a:r>
              <a:rPr lang="en-US" sz="2400" dirty="0"/>
              <a:t>Be respectful, address person using their real name, their titles, and professional distinctions. Express emotions and feelings as is, and no need to add profanity and insults.</a:t>
            </a:r>
          </a:p>
        </p:txBody>
      </p:sp>
    </p:spTree>
    <p:extLst>
      <p:ext uri="{BB962C8B-B14F-4D97-AF65-F5344CB8AC3E}">
        <p14:creationId xmlns:p14="http://schemas.microsoft.com/office/powerpoint/2010/main" val="132504473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Netiquette or Cyber Ethics</a:t>
            </a:r>
          </a:p>
        </p:txBody>
      </p:sp>
      <p:sp>
        <p:nvSpPr>
          <p:cNvPr id="3" name="Content Placeholder 2"/>
          <p:cNvSpPr>
            <a:spLocks noGrp="1"/>
          </p:cNvSpPr>
          <p:nvPr>
            <p:ph idx="1"/>
          </p:nvPr>
        </p:nvSpPr>
        <p:spPr/>
        <p:txBody>
          <a:bodyPr>
            <a:normAutofit/>
          </a:bodyPr>
          <a:lstStyle/>
          <a:p>
            <a:pPr marL="6160" indent="0">
              <a:buNone/>
            </a:pPr>
            <a:r>
              <a:rPr lang="en-US" sz="2800" dirty="0"/>
              <a:t>3. </a:t>
            </a:r>
            <a:r>
              <a:rPr lang="en-US" sz="2800" dirty="0">
                <a:solidFill>
                  <a:srgbClr val="00B050"/>
                </a:solidFill>
              </a:rPr>
              <a:t>Protect your data, privacy, and act with discretion</a:t>
            </a:r>
          </a:p>
          <a:p>
            <a:pPr lvl="1"/>
            <a:r>
              <a:rPr lang="en-US" sz="2400" dirty="0"/>
              <a:t>Be careful not to disclose sensitive, intimate, personal, data or information. Protect your private life from scammers, identify thieves, and hackers.</a:t>
            </a:r>
          </a:p>
        </p:txBody>
      </p:sp>
    </p:spTree>
    <p:extLst>
      <p:ext uri="{BB962C8B-B14F-4D97-AF65-F5344CB8AC3E}">
        <p14:creationId xmlns:p14="http://schemas.microsoft.com/office/powerpoint/2010/main" val="315804785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Netiquette or Cyber Ethics</a:t>
            </a:r>
          </a:p>
        </p:txBody>
      </p:sp>
      <p:sp>
        <p:nvSpPr>
          <p:cNvPr id="3" name="Content Placeholder 2"/>
          <p:cNvSpPr>
            <a:spLocks noGrp="1"/>
          </p:cNvSpPr>
          <p:nvPr>
            <p:ph idx="1"/>
          </p:nvPr>
        </p:nvSpPr>
        <p:spPr/>
        <p:txBody>
          <a:bodyPr>
            <a:normAutofit/>
          </a:bodyPr>
          <a:lstStyle/>
          <a:p>
            <a:pPr marL="6160" indent="0">
              <a:buNone/>
            </a:pPr>
            <a:r>
              <a:rPr lang="en-US" sz="2800" dirty="0"/>
              <a:t>4. </a:t>
            </a:r>
            <a:r>
              <a:rPr lang="en-US" sz="2800" dirty="0">
                <a:solidFill>
                  <a:srgbClr val="00B050"/>
                </a:solidFill>
              </a:rPr>
              <a:t>Respect others’ privacy and rights in return</a:t>
            </a:r>
          </a:p>
          <a:p>
            <a:pPr lvl="1"/>
            <a:r>
              <a:rPr lang="en-US" sz="2400" dirty="0"/>
              <a:t>Return the favor of respect. But remember that respect begets respect is flawed. Respect other people despite they haven’t showed you respect.</a:t>
            </a:r>
          </a:p>
          <a:p>
            <a:pPr lvl="1"/>
            <a:r>
              <a:rPr lang="en-US" sz="2400" dirty="0"/>
              <a:t>HOWEVER, always draw a line between tolerance and abuse.</a:t>
            </a:r>
          </a:p>
        </p:txBody>
      </p:sp>
    </p:spTree>
    <p:extLst>
      <p:ext uri="{BB962C8B-B14F-4D97-AF65-F5344CB8AC3E}">
        <p14:creationId xmlns:p14="http://schemas.microsoft.com/office/powerpoint/2010/main" val="102256255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Netiquette or Cyber Ethics</a:t>
            </a:r>
          </a:p>
        </p:txBody>
      </p:sp>
      <p:sp>
        <p:nvSpPr>
          <p:cNvPr id="3" name="Content Placeholder 2"/>
          <p:cNvSpPr>
            <a:spLocks noGrp="1"/>
          </p:cNvSpPr>
          <p:nvPr>
            <p:ph idx="1"/>
          </p:nvPr>
        </p:nvSpPr>
        <p:spPr/>
        <p:txBody>
          <a:bodyPr>
            <a:normAutofit/>
          </a:bodyPr>
          <a:lstStyle/>
          <a:p>
            <a:pPr marL="6160" indent="0">
              <a:buNone/>
            </a:pPr>
            <a:r>
              <a:rPr lang="en-US" sz="2800" dirty="0"/>
              <a:t>5. </a:t>
            </a:r>
            <a:r>
              <a:rPr lang="en-US" sz="2800" dirty="0">
                <a:solidFill>
                  <a:srgbClr val="00B050"/>
                </a:solidFill>
              </a:rPr>
              <a:t>Be friends only with your friends offline</a:t>
            </a:r>
          </a:p>
          <a:p>
            <a:pPr lvl="1"/>
            <a:r>
              <a:rPr lang="en-US" sz="2400" dirty="0"/>
              <a:t>Create a safe bubble in your online space that only those you know could interact with you. There are privacy options you could explore online. But better to stay away from online strangers.</a:t>
            </a:r>
          </a:p>
        </p:txBody>
      </p:sp>
    </p:spTree>
    <p:extLst>
      <p:ext uri="{BB962C8B-B14F-4D97-AF65-F5344CB8AC3E}">
        <p14:creationId xmlns:p14="http://schemas.microsoft.com/office/powerpoint/2010/main" val="205125201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Netiquette or Cyber Ethics</a:t>
            </a:r>
          </a:p>
        </p:txBody>
      </p:sp>
      <p:sp>
        <p:nvSpPr>
          <p:cNvPr id="3" name="Content Placeholder 2"/>
          <p:cNvSpPr>
            <a:spLocks noGrp="1"/>
          </p:cNvSpPr>
          <p:nvPr>
            <p:ph idx="1"/>
          </p:nvPr>
        </p:nvSpPr>
        <p:spPr/>
        <p:txBody>
          <a:bodyPr>
            <a:normAutofit fontScale="92500" lnSpcReduction="10000"/>
          </a:bodyPr>
          <a:lstStyle/>
          <a:p>
            <a:pPr marL="6160" indent="0">
              <a:buNone/>
            </a:pPr>
            <a:r>
              <a:rPr lang="en-US" sz="2800" dirty="0"/>
              <a:t>6. </a:t>
            </a:r>
            <a:r>
              <a:rPr lang="en-US" sz="2800" dirty="0">
                <a:solidFill>
                  <a:srgbClr val="00B050"/>
                </a:solidFill>
              </a:rPr>
              <a:t>Fact check before you interact</a:t>
            </a:r>
          </a:p>
          <a:p>
            <a:pPr lvl="1"/>
            <a:r>
              <a:rPr lang="en-US" sz="2400" dirty="0"/>
              <a:t>Do the CLICKERS test!</a:t>
            </a:r>
          </a:p>
          <a:p>
            <a:pPr lvl="2">
              <a:spcBef>
                <a:spcPts val="0"/>
              </a:spcBef>
              <a:spcAft>
                <a:spcPts val="0"/>
              </a:spcAft>
            </a:pPr>
            <a:r>
              <a:rPr lang="en-US" sz="2200" dirty="0"/>
              <a:t>Check your own biases</a:t>
            </a:r>
          </a:p>
          <a:p>
            <a:pPr lvl="2">
              <a:spcBef>
                <a:spcPts val="0"/>
              </a:spcBef>
              <a:spcAft>
                <a:spcPts val="0"/>
              </a:spcAft>
            </a:pPr>
            <a:r>
              <a:rPr lang="en-US" sz="2200" dirty="0"/>
              <a:t>Look before sharing</a:t>
            </a:r>
          </a:p>
          <a:p>
            <a:pPr lvl="2">
              <a:spcBef>
                <a:spcPts val="0"/>
              </a:spcBef>
              <a:spcAft>
                <a:spcPts val="0"/>
              </a:spcAft>
            </a:pPr>
            <a:r>
              <a:rPr lang="en-US" sz="2200" dirty="0"/>
              <a:t>Is it a joke?</a:t>
            </a:r>
          </a:p>
          <a:p>
            <a:pPr lvl="2">
              <a:spcBef>
                <a:spcPts val="0"/>
              </a:spcBef>
              <a:spcAft>
                <a:spcPts val="0"/>
              </a:spcAft>
            </a:pPr>
            <a:r>
              <a:rPr lang="en-US" sz="2200" dirty="0"/>
              <a:t>Consider the source</a:t>
            </a:r>
          </a:p>
          <a:p>
            <a:pPr lvl="2">
              <a:spcBef>
                <a:spcPts val="0"/>
              </a:spcBef>
              <a:spcAft>
                <a:spcPts val="0"/>
              </a:spcAft>
            </a:pPr>
            <a:r>
              <a:rPr lang="en-US" sz="2200" dirty="0"/>
              <a:t>Know beyond</a:t>
            </a:r>
          </a:p>
          <a:p>
            <a:pPr lvl="2">
              <a:spcBef>
                <a:spcPts val="0"/>
              </a:spcBef>
              <a:spcAft>
                <a:spcPts val="0"/>
              </a:spcAft>
            </a:pPr>
            <a:r>
              <a:rPr lang="en-US" sz="2200" dirty="0"/>
              <a:t>Experts approved?</a:t>
            </a:r>
          </a:p>
          <a:p>
            <a:pPr lvl="2">
              <a:spcBef>
                <a:spcPts val="0"/>
              </a:spcBef>
              <a:spcAft>
                <a:spcPts val="0"/>
              </a:spcAft>
            </a:pPr>
            <a:r>
              <a:rPr lang="en-US" sz="2200" dirty="0"/>
              <a:t>Research if others agree</a:t>
            </a:r>
          </a:p>
          <a:p>
            <a:pPr lvl="2">
              <a:spcBef>
                <a:spcPts val="0"/>
              </a:spcBef>
              <a:spcAft>
                <a:spcPts val="0"/>
              </a:spcAft>
            </a:pPr>
            <a:r>
              <a:rPr lang="en-US" sz="2200" dirty="0"/>
              <a:t>Supporting sources</a:t>
            </a:r>
          </a:p>
        </p:txBody>
      </p:sp>
    </p:spTree>
    <p:extLst>
      <p:ext uri="{BB962C8B-B14F-4D97-AF65-F5344CB8AC3E}">
        <p14:creationId xmlns:p14="http://schemas.microsoft.com/office/powerpoint/2010/main" val="17818685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Netiquette or Cyber Ethics</a:t>
            </a:r>
          </a:p>
        </p:txBody>
      </p:sp>
      <p:sp>
        <p:nvSpPr>
          <p:cNvPr id="3" name="Content Placeholder 2"/>
          <p:cNvSpPr>
            <a:spLocks noGrp="1"/>
          </p:cNvSpPr>
          <p:nvPr>
            <p:ph idx="1"/>
          </p:nvPr>
        </p:nvSpPr>
        <p:spPr/>
        <p:txBody>
          <a:bodyPr>
            <a:normAutofit/>
          </a:bodyPr>
          <a:lstStyle/>
          <a:p>
            <a:pPr marL="6160" indent="0">
              <a:buNone/>
            </a:pPr>
            <a:r>
              <a:rPr lang="en-US" sz="2800" dirty="0"/>
              <a:t>7. </a:t>
            </a:r>
            <a:r>
              <a:rPr lang="en-US" sz="2800" dirty="0">
                <a:solidFill>
                  <a:srgbClr val="00B050"/>
                </a:solidFill>
              </a:rPr>
              <a:t>Respond to Emails and Texts Promptly</a:t>
            </a:r>
          </a:p>
          <a:p>
            <a:pPr lvl="1"/>
            <a:r>
              <a:rPr lang="en-US" sz="2400" dirty="0"/>
              <a:t>If unable to respond or reply immediately, apologize. Also be sure to update and follow up persons regarding the emails. Explain reasons in detail.</a:t>
            </a:r>
            <a:endParaRPr lang="en-US" sz="2200" dirty="0"/>
          </a:p>
        </p:txBody>
      </p:sp>
    </p:spTree>
    <p:extLst>
      <p:ext uri="{BB962C8B-B14F-4D97-AF65-F5344CB8AC3E}">
        <p14:creationId xmlns:p14="http://schemas.microsoft.com/office/powerpoint/2010/main" val="365751457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Netiquette or Cyber Ethics</a:t>
            </a:r>
          </a:p>
        </p:txBody>
      </p:sp>
      <p:sp>
        <p:nvSpPr>
          <p:cNvPr id="3" name="Content Placeholder 2"/>
          <p:cNvSpPr>
            <a:spLocks noGrp="1"/>
          </p:cNvSpPr>
          <p:nvPr>
            <p:ph idx="1"/>
          </p:nvPr>
        </p:nvSpPr>
        <p:spPr/>
        <p:txBody>
          <a:bodyPr>
            <a:normAutofit/>
          </a:bodyPr>
          <a:lstStyle/>
          <a:p>
            <a:pPr marL="6160" indent="0">
              <a:buNone/>
            </a:pPr>
            <a:r>
              <a:rPr lang="en-US" sz="2800" dirty="0"/>
              <a:t>8. </a:t>
            </a:r>
            <a:r>
              <a:rPr lang="en-US" sz="2800" dirty="0">
                <a:solidFill>
                  <a:srgbClr val="00B050"/>
                </a:solidFill>
              </a:rPr>
              <a:t>There is freedom of expression BUT …</a:t>
            </a:r>
          </a:p>
          <a:p>
            <a:pPr lvl="1"/>
            <a:r>
              <a:rPr lang="en-US" sz="2400" dirty="0"/>
              <a:t>Exercise freedom of expression but not every page is a freedom wall. If what you will say is not true and not good, keep it to yourself unless your opinion is sought.</a:t>
            </a:r>
            <a:endParaRPr lang="en-US" sz="2200" dirty="0"/>
          </a:p>
        </p:txBody>
      </p:sp>
    </p:spTree>
    <p:extLst>
      <p:ext uri="{BB962C8B-B14F-4D97-AF65-F5344CB8AC3E}">
        <p14:creationId xmlns:p14="http://schemas.microsoft.com/office/powerpoint/2010/main" val="419389245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Netiquette or Cyber Ethics</a:t>
            </a:r>
          </a:p>
        </p:txBody>
      </p:sp>
      <p:sp>
        <p:nvSpPr>
          <p:cNvPr id="3" name="Content Placeholder 2"/>
          <p:cNvSpPr>
            <a:spLocks noGrp="1"/>
          </p:cNvSpPr>
          <p:nvPr>
            <p:ph idx="1"/>
          </p:nvPr>
        </p:nvSpPr>
        <p:spPr/>
        <p:txBody>
          <a:bodyPr>
            <a:normAutofit/>
          </a:bodyPr>
          <a:lstStyle/>
          <a:p>
            <a:pPr marL="6160" indent="0">
              <a:buNone/>
            </a:pPr>
            <a:r>
              <a:rPr lang="en-US" sz="2800" dirty="0"/>
              <a:t>9. </a:t>
            </a:r>
            <a:r>
              <a:rPr lang="en-US" sz="2800" dirty="0">
                <a:solidFill>
                  <a:srgbClr val="00B050"/>
                </a:solidFill>
              </a:rPr>
              <a:t>Confront and resolve issues privately …</a:t>
            </a:r>
          </a:p>
          <a:p>
            <a:pPr lvl="1"/>
            <a:r>
              <a:rPr lang="en-US" sz="2400" dirty="0"/>
              <a:t>The world is a stage… but it shouldn’t always be drama. Resolve conflicts in private. Do not resort in gathering online sympathy.</a:t>
            </a:r>
            <a:endParaRPr lang="en-US" sz="2200" dirty="0"/>
          </a:p>
        </p:txBody>
      </p:sp>
    </p:spTree>
    <p:extLst>
      <p:ext uri="{BB962C8B-B14F-4D97-AF65-F5344CB8AC3E}">
        <p14:creationId xmlns:p14="http://schemas.microsoft.com/office/powerpoint/2010/main" val="235410424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Netiquette or Cyber Ethics</a:t>
            </a:r>
          </a:p>
        </p:txBody>
      </p:sp>
      <p:sp>
        <p:nvSpPr>
          <p:cNvPr id="3" name="Content Placeholder 2"/>
          <p:cNvSpPr>
            <a:spLocks noGrp="1"/>
          </p:cNvSpPr>
          <p:nvPr>
            <p:ph idx="1"/>
          </p:nvPr>
        </p:nvSpPr>
        <p:spPr/>
        <p:txBody>
          <a:bodyPr>
            <a:normAutofit/>
          </a:bodyPr>
          <a:lstStyle/>
          <a:p>
            <a:pPr marL="6160" indent="0">
              <a:buNone/>
            </a:pPr>
            <a:r>
              <a:rPr lang="en-US" sz="2800" dirty="0"/>
              <a:t>10. </a:t>
            </a:r>
            <a:r>
              <a:rPr lang="en-US" sz="2800" dirty="0">
                <a:solidFill>
                  <a:srgbClr val="00B050"/>
                </a:solidFill>
              </a:rPr>
              <a:t>How to deal with online arguments</a:t>
            </a:r>
          </a:p>
          <a:p>
            <a:pPr lvl="1">
              <a:spcBef>
                <a:spcPts val="0"/>
              </a:spcBef>
              <a:spcAft>
                <a:spcPts val="0"/>
              </a:spcAft>
            </a:pPr>
            <a:r>
              <a:rPr lang="en-US" sz="2400" dirty="0"/>
              <a:t>Read </a:t>
            </a:r>
          </a:p>
          <a:p>
            <a:pPr lvl="1">
              <a:spcBef>
                <a:spcPts val="0"/>
              </a:spcBef>
              <a:spcAft>
                <a:spcPts val="0"/>
              </a:spcAft>
            </a:pPr>
            <a:r>
              <a:rPr lang="en-US" sz="2400" dirty="0"/>
              <a:t>Validate not invalidate</a:t>
            </a:r>
          </a:p>
          <a:p>
            <a:pPr lvl="1"/>
            <a:r>
              <a:rPr lang="en-US" sz="2200" dirty="0">
                <a:solidFill>
                  <a:schemeClr val="accent3">
                    <a:lumMod val="75000"/>
                  </a:schemeClr>
                </a:solidFill>
              </a:rPr>
              <a:t>Educate not preach</a:t>
            </a:r>
          </a:p>
          <a:p>
            <a:pPr lvl="1"/>
            <a:r>
              <a:rPr lang="en-US" sz="2200" dirty="0">
                <a:solidFill>
                  <a:schemeClr val="accent3">
                    <a:lumMod val="75000"/>
                  </a:schemeClr>
                </a:solidFill>
              </a:rPr>
              <a:t>Share strong supporting facts</a:t>
            </a:r>
          </a:p>
          <a:p>
            <a:pPr lvl="1"/>
            <a:r>
              <a:rPr lang="en-US" sz="2200" dirty="0">
                <a:solidFill>
                  <a:schemeClr val="accent3">
                    <a:lumMod val="75000"/>
                  </a:schemeClr>
                </a:solidFill>
              </a:rPr>
              <a:t>Either end by concluding or admitting your mistake</a:t>
            </a:r>
          </a:p>
          <a:p>
            <a:pPr lvl="1"/>
            <a:r>
              <a:rPr lang="en-US" sz="2200" dirty="0">
                <a:solidFill>
                  <a:schemeClr val="accent3">
                    <a:lumMod val="75000"/>
                  </a:schemeClr>
                </a:solidFill>
              </a:rPr>
              <a:t>Block or report</a:t>
            </a:r>
          </a:p>
          <a:p>
            <a:pPr lvl="1"/>
            <a:endParaRPr lang="en-US" sz="2200" dirty="0"/>
          </a:p>
        </p:txBody>
      </p:sp>
    </p:spTree>
    <p:extLst>
      <p:ext uri="{BB962C8B-B14F-4D97-AF65-F5344CB8AC3E}">
        <p14:creationId xmlns:p14="http://schemas.microsoft.com/office/powerpoint/2010/main" val="264313419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Cyberbullying</a:t>
            </a:r>
          </a:p>
        </p:txBody>
      </p:sp>
      <p:sp>
        <p:nvSpPr>
          <p:cNvPr id="3" name="Content Placeholder 2"/>
          <p:cNvSpPr>
            <a:spLocks noGrp="1"/>
          </p:cNvSpPr>
          <p:nvPr>
            <p:ph idx="1"/>
          </p:nvPr>
        </p:nvSpPr>
        <p:spPr/>
        <p:txBody>
          <a:bodyPr>
            <a:normAutofit/>
          </a:bodyPr>
          <a:lstStyle/>
          <a:p>
            <a:r>
              <a:rPr lang="en-US" sz="2800" dirty="0"/>
              <a:t>Cyberbullying can take many forms, including mean text messages or e-mails, rumors sent by e-mail or posted on social networking sites, and embarrassing pictures, videos, websites, or fake profiles.</a:t>
            </a:r>
          </a:p>
        </p:txBody>
      </p:sp>
    </p:spTree>
    <p:extLst>
      <p:ext uri="{BB962C8B-B14F-4D97-AF65-F5344CB8AC3E}">
        <p14:creationId xmlns:p14="http://schemas.microsoft.com/office/powerpoint/2010/main" val="282954067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sz="2800" dirty="0"/>
              <a:t>Cyberbullying messages and images can be posted anonymously and distributed quickly to a very wide audience. It can be difficult, sometimes impossible, to trace the source, especially if the inappropriate or harassing messages, texts, and pictures have been deleted after being viewed.</a:t>
            </a:r>
          </a:p>
        </p:txBody>
      </p:sp>
    </p:spTree>
    <p:extLst>
      <p:ext uri="{BB962C8B-B14F-4D97-AF65-F5344CB8AC3E}">
        <p14:creationId xmlns:p14="http://schemas.microsoft.com/office/powerpoint/2010/main" val="84165987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to do?</a:t>
            </a:r>
          </a:p>
        </p:txBody>
      </p:sp>
      <p:sp>
        <p:nvSpPr>
          <p:cNvPr id="3" name="Content Placeholder 2"/>
          <p:cNvSpPr>
            <a:spLocks noGrp="1"/>
          </p:cNvSpPr>
          <p:nvPr>
            <p:ph idx="1"/>
          </p:nvPr>
        </p:nvSpPr>
        <p:spPr/>
        <p:txBody>
          <a:bodyPr>
            <a:normAutofit lnSpcReduction="10000"/>
          </a:bodyPr>
          <a:lstStyle/>
          <a:p>
            <a:r>
              <a:rPr lang="en-US" sz="2800" dirty="0"/>
              <a:t>Grow up! Be matured enough to:</a:t>
            </a:r>
          </a:p>
          <a:p>
            <a:pPr lvl="1"/>
            <a:r>
              <a:rPr lang="en-US" sz="2400" dirty="0"/>
              <a:t>say something when you see something.</a:t>
            </a:r>
          </a:p>
          <a:p>
            <a:pPr lvl="1"/>
            <a:r>
              <a:rPr lang="en-US" sz="2400" dirty="0"/>
              <a:t>say something but not to take part in bullying.</a:t>
            </a:r>
          </a:p>
          <a:p>
            <a:pPr lvl="1"/>
            <a:r>
              <a:rPr lang="en-US" sz="2400" dirty="0"/>
              <a:t>to block or report.</a:t>
            </a:r>
          </a:p>
          <a:p>
            <a:pPr lvl="1"/>
            <a:r>
              <a:rPr lang="en-US" sz="2400" dirty="0"/>
              <a:t>guide persons towards help.</a:t>
            </a:r>
          </a:p>
          <a:p>
            <a:pPr lvl="1"/>
            <a:r>
              <a:rPr lang="en-US" sz="2400" dirty="0"/>
              <a:t>take evidences.</a:t>
            </a:r>
          </a:p>
          <a:p>
            <a:pPr lvl="1"/>
            <a:r>
              <a:rPr lang="en-US" sz="2400" dirty="0"/>
              <a:t>take a break.</a:t>
            </a:r>
          </a:p>
        </p:txBody>
      </p:sp>
    </p:spTree>
    <p:extLst>
      <p:ext uri="{BB962C8B-B14F-4D97-AF65-F5344CB8AC3E}">
        <p14:creationId xmlns:p14="http://schemas.microsoft.com/office/powerpoint/2010/main" val="391080674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Educational Platforms</a:t>
            </a:r>
          </a:p>
        </p:txBody>
      </p:sp>
      <p:sp>
        <p:nvSpPr>
          <p:cNvPr id="3" name="Content Placeholder 2"/>
          <p:cNvSpPr>
            <a:spLocks noGrp="1"/>
          </p:cNvSpPr>
          <p:nvPr>
            <p:ph idx="1"/>
          </p:nvPr>
        </p:nvSpPr>
        <p:spPr>
          <a:xfrm>
            <a:off x="2773599" y="1557197"/>
            <a:ext cx="7796540" cy="5024672"/>
          </a:xfrm>
        </p:spPr>
        <p:txBody>
          <a:bodyPr>
            <a:normAutofit lnSpcReduction="10000"/>
          </a:bodyPr>
          <a:lstStyle/>
          <a:p>
            <a:r>
              <a:rPr lang="en-US" b="1" u="sng" dirty="0"/>
              <a:t>Education.com</a:t>
            </a:r>
            <a:r>
              <a:rPr lang="en-US" dirty="0"/>
              <a:t> for classroom management</a:t>
            </a:r>
          </a:p>
          <a:p>
            <a:r>
              <a:rPr lang="en-US" b="1" u="sng" dirty="0" err="1"/>
              <a:t>Menti</a:t>
            </a:r>
            <a:r>
              <a:rPr lang="en-US" b="1" dirty="0"/>
              <a:t>, Slack, </a:t>
            </a:r>
            <a:r>
              <a:rPr lang="en-US" b="1" dirty="0" err="1"/>
              <a:t>Slido</a:t>
            </a:r>
            <a:r>
              <a:rPr lang="en-US" b="1" dirty="0"/>
              <a:t> </a:t>
            </a:r>
            <a:r>
              <a:rPr lang="en-US" dirty="0"/>
              <a:t>for lecture interaction</a:t>
            </a:r>
          </a:p>
          <a:p>
            <a:r>
              <a:rPr lang="en-US" b="1" dirty="0" err="1"/>
              <a:t>Quizizz</a:t>
            </a:r>
            <a:r>
              <a:rPr lang="en-US" b="1" dirty="0"/>
              <a:t>, </a:t>
            </a:r>
            <a:r>
              <a:rPr lang="en-US" b="1" dirty="0" err="1"/>
              <a:t>Kahoot</a:t>
            </a:r>
            <a:r>
              <a:rPr lang="en-US" b="1" dirty="0"/>
              <a:t>, </a:t>
            </a:r>
            <a:r>
              <a:rPr lang="en-US" b="1" dirty="0" err="1"/>
              <a:t>Blooket</a:t>
            </a:r>
            <a:r>
              <a:rPr lang="en-US" b="1" dirty="0"/>
              <a:t> </a:t>
            </a:r>
            <a:r>
              <a:rPr lang="en-US" dirty="0"/>
              <a:t>for quizzes</a:t>
            </a:r>
          </a:p>
          <a:p>
            <a:r>
              <a:rPr lang="en-US" b="1" dirty="0"/>
              <a:t>Puzzel.org</a:t>
            </a:r>
            <a:r>
              <a:rPr lang="en-US" dirty="0"/>
              <a:t> for quizzes, jigsaw puzzles, memory games and more</a:t>
            </a:r>
          </a:p>
          <a:p>
            <a:r>
              <a:rPr lang="en-US" b="1" dirty="0" err="1"/>
              <a:t>Wix</a:t>
            </a:r>
            <a:r>
              <a:rPr lang="en-US" b="1" dirty="0"/>
              <a:t>, </a:t>
            </a:r>
            <a:r>
              <a:rPr lang="en-US" b="1" dirty="0" err="1"/>
              <a:t>Wordpress</a:t>
            </a:r>
            <a:r>
              <a:rPr lang="en-US" b="1" dirty="0"/>
              <a:t>, LinkedIn, Blogger </a:t>
            </a:r>
            <a:r>
              <a:rPr lang="en-US" dirty="0"/>
              <a:t>for website hosting</a:t>
            </a:r>
          </a:p>
          <a:p>
            <a:r>
              <a:rPr lang="en-US" b="1" dirty="0"/>
              <a:t>pbskids.org/games/</a:t>
            </a:r>
            <a:r>
              <a:rPr lang="en-US" dirty="0"/>
              <a:t> for educational games</a:t>
            </a:r>
          </a:p>
          <a:p>
            <a:r>
              <a:rPr lang="en-US" b="1" dirty="0"/>
              <a:t>funbrain.com/games/</a:t>
            </a:r>
            <a:r>
              <a:rPr lang="en-US" dirty="0"/>
              <a:t> and </a:t>
            </a:r>
            <a:r>
              <a:rPr lang="en-US" b="1" dirty="0"/>
              <a:t>kids.nationalgeographic.com/games/ </a:t>
            </a:r>
            <a:r>
              <a:rPr lang="en-US" dirty="0"/>
              <a:t>for educational games</a:t>
            </a:r>
          </a:p>
          <a:p>
            <a:r>
              <a:rPr lang="en-US" b="1" dirty="0"/>
              <a:t>littlealchemy.com</a:t>
            </a:r>
            <a:r>
              <a:rPr lang="en-US" dirty="0"/>
              <a:t> for fun science game</a:t>
            </a:r>
          </a:p>
          <a:p>
            <a:r>
              <a:rPr lang="en-US" b="1" dirty="0"/>
              <a:t>Wordbook Online </a:t>
            </a:r>
            <a:r>
              <a:rPr lang="en-US" dirty="0"/>
              <a:t>for reading materials and resources</a:t>
            </a:r>
          </a:p>
        </p:txBody>
      </p:sp>
    </p:spTree>
    <p:extLst>
      <p:ext uri="{BB962C8B-B14F-4D97-AF65-F5344CB8AC3E}">
        <p14:creationId xmlns:p14="http://schemas.microsoft.com/office/powerpoint/2010/main" val="283314879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Online Communities of Learning</a:t>
            </a:r>
          </a:p>
        </p:txBody>
      </p:sp>
      <p:sp>
        <p:nvSpPr>
          <p:cNvPr id="3" name="Content Placeholder 2"/>
          <p:cNvSpPr>
            <a:spLocks noGrp="1"/>
          </p:cNvSpPr>
          <p:nvPr>
            <p:ph idx="1"/>
          </p:nvPr>
        </p:nvSpPr>
        <p:spPr/>
        <p:txBody>
          <a:bodyPr/>
          <a:lstStyle/>
          <a:p>
            <a:r>
              <a:rPr lang="en-US" sz="2400" dirty="0"/>
              <a:t>The goal of educators nowadays is to create a learning community, online.</a:t>
            </a:r>
          </a:p>
          <a:p>
            <a:r>
              <a:rPr lang="en-US" sz="2400" dirty="0"/>
              <a:t>When we say community, what comes into your mind?</a:t>
            </a:r>
          </a:p>
          <a:p>
            <a:pPr marL="6160" indent="0">
              <a:buNone/>
            </a:pPr>
            <a:r>
              <a:rPr lang="en-US" sz="2400" dirty="0"/>
              <a:t>	</a:t>
            </a:r>
            <a:r>
              <a:rPr lang="en-US" sz="2400" dirty="0" err="1"/>
              <a:t>Menti</a:t>
            </a:r>
            <a:r>
              <a:rPr lang="en-US" sz="2400" dirty="0"/>
              <a:t> Time!</a:t>
            </a:r>
          </a:p>
          <a:p>
            <a:pPr marL="6160" indent="0">
              <a:buNone/>
            </a:pPr>
            <a:r>
              <a:rPr lang="en-US" sz="2400" dirty="0"/>
              <a:t>Go to menti.com and enter the code </a:t>
            </a:r>
            <a:r>
              <a:rPr lang="en-US" b="1" dirty="0"/>
              <a:t>6346 0522</a:t>
            </a:r>
            <a:endParaRPr lang="en-US" sz="2400" dirty="0"/>
          </a:p>
          <a:p>
            <a:endParaRPr lang="en-US" dirty="0"/>
          </a:p>
        </p:txBody>
      </p:sp>
    </p:spTree>
    <p:extLst>
      <p:ext uri="{BB962C8B-B14F-4D97-AF65-F5344CB8AC3E}">
        <p14:creationId xmlns:p14="http://schemas.microsoft.com/office/powerpoint/2010/main" val="1990974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Make Sure Online Learning Happens</a:t>
            </a:r>
          </a:p>
        </p:txBody>
      </p:sp>
      <p:sp>
        <p:nvSpPr>
          <p:cNvPr id="3" name="Content Placeholder 2"/>
          <p:cNvSpPr>
            <a:spLocks noGrp="1"/>
          </p:cNvSpPr>
          <p:nvPr>
            <p:ph idx="1"/>
          </p:nvPr>
        </p:nvSpPr>
        <p:spPr/>
        <p:txBody>
          <a:bodyPr>
            <a:normAutofit/>
          </a:bodyPr>
          <a:lstStyle/>
          <a:p>
            <a:r>
              <a:rPr lang="en-US" sz="2400" dirty="0"/>
              <a:t>According to Bonk and Reynolds (1997), to promote higher-order thinking on the Web, online learning must create </a:t>
            </a:r>
            <a:r>
              <a:rPr lang="en-US" sz="2400" b="1" u="sng" dirty="0"/>
              <a:t>challenging activities </a:t>
            </a:r>
            <a:r>
              <a:rPr lang="en-US" sz="2400" dirty="0"/>
              <a:t>that enable learners to link new information to old; acquire meaningful knowledge; and use their metacognitive abilities; hence, it is the </a:t>
            </a:r>
            <a:r>
              <a:rPr lang="en-US" sz="2400" i="1" dirty="0"/>
              <a:t>instructional strategy, not the technology, that influences the quality of learning</a:t>
            </a:r>
            <a:r>
              <a:rPr lang="en-US" sz="2400" dirty="0"/>
              <a:t>. </a:t>
            </a:r>
          </a:p>
        </p:txBody>
      </p:sp>
    </p:spTree>
    <p:extLst>
      <p:ext uri="{BB962C8B-B14F-4D97-AF65-F5344CB8AC3E}">
        <p14:creationId xmlns:p14="http://schemas.microsoft.com/office/powerpoint/2010/main" val="249340318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2773599" y="733331"/>
            <a:ext cx="7796540" cy="5316613"/>
          </a:xfrm>
        </p:spPr>
        <p:txBody>
          <a:bodyPr>
            <a:noAutofit/>
          </a:bodyPr>
          <a:lstStyle/>
          <a:p>
            <a:r>
              <a:rPr lang="en-US" sz="2800" dirty="0"/>
              <a:t>Educators must not settle on just creating online versions of their lessons but to mimic the learning experience with:</a:t>
            </a:r>
          </a:p>
          <a:p>
            <a:pPr lvl="1"/>
            <a:r>
              <a:rPr lang="en-US" sz="2400" dirty="0"/>
              <a:t>the use of the Internet to access learning materials;</a:t>
            </a:r>
          </a:p>
          <a:p>
            <a:pPr lvl="1"/>
            <a:r>
              <a:rPr lang="en-US" sz="2400" dirty="0"/>
              <a:t>to interact with the content, instructor, and other learners; </a:t>
            </a:r>
          </a:p>
          <a:p>
            <a:pPr lvl="1"/>
            <a:r>
              <a:rPr lang="en-US" sz="2400" dirty="0"/>
              <a:t>to obtain support during the learning process, in order to acquire knowledge, to construct personal meaning, and to grow from the learning experience</a:t>
            </a:r>
          </a:p>
        </p:txBody>
      </p:sp>
    </p:spTree>
    <p:extLst>
      <p:ext uri="{BB962C8B-B14F-4D97-AF65-F5344CB8AC3E}">
        <p14:creationId xmlns:p14="http://schemas.microsoft.com/office/powerpoint/2010/main" val="226979465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Design a Learning Approach</a:t>
            </a:r>
          </a:p>
        </p:txBody>
      </p:sp>
      <p:sp>
        <p:nvSpPr>
          <p:cNvPr id="3" name="Content Placeholder 2"/>
          <p:cNvSpPr>
            <a:spLocks noGrp="1"/>
          </p:cNvSpPr>
          <p:nvPr>
            <p:ph idx="1"/>
          </p:nvPr>
        </p:nvSpPr>
        <p:spPr/>
        <p:txBody>
          <a:bodyPr>
            <a:normAutofit/>
          </a:bodyPr>
          <a:lstStyle/>
          <a:p>
            <a:r>
              <a:rPr lang="en-US" sz="2800" dirty="0"/>
              <a:t>Base the design on various schools of thought:</a:t>
            </a:r>
          </a:p>
          <a:p>
            <a:pPr lvl="1"/>
            <a:r>
              <a:rPr lang="en-US" sz="2400" dirty="0"/>
              <a:t>Behaviorist Perspective</a:t>
            </a:r>
          </a:p>
          <a:p>
            <a:pPr lvl="1"/>
            <a:r>
              <a:rPr lang="en-US" sz="2400" dirty="0"/>
              <a:t>Cognitivist Perspective</a:t>
            </a:r>
          </a:p>
          <a:p>
            <a:pPr lvl="1"/>
            <a:r>
              <a:rPr lang="en-US" sz="2400" dirty="0"/>
              <a:t>Constructivist Perspective</a:t>
            </a:r>
          </a:p>
          <a:p>
            <a:pPr lvl="1"/>
            <a:r>
              <a:rPr lang="en-US" sz="2400" dirty="0" err="1"/>
              <a:t>Connectivist</a:t>
            </a:r>
            <a:r>
              <a:rPr lang="en-US" sz="2400" dirty="0"/>
              <a:t> Theory Perspective</a:t>
            </a:r>
          </a:p>
        </p:txBody>
      </p:sp>
    </p:spTree>
    <p:extLst>
      <p:ext uri="{BB962C8B-B14F-4D97-AF65-F5344CB8AC3E}">
        <p14:creationId xmlns:p14="http://schemas.microsoft.com/office/powerpoint/2010/main" val="310654199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Behaviorist</a:t>
            </a:r>
          </a:p>
        </p:txBody>
      </p:sp>
      <p:sp>
        <p:nvSpPr>
          <p:cNvPr id="3" name="Content Placeholder 2"/>
          <p:cNvSpPr>
            <a:spLocks noGrp="1"/>
          </p:cNvSpPr>
          <p:nvPr>
            <p:ph idx="1"/>
          </p:nvPr>
        </p:nvSpPr>
        <p:spPr/>
        <p:txBody>
          <a:bodyPr>
            <a:normAutofit/>
          </a:bodyPr>
          <a:lstStyle/>
          <a:p>
            <a:pPr marL="344488" lvl="2"/>
            <a:r>
              <a:rPr lang="en-US" sz="2800" dirty="0"/>
              <a:t>This is inspired by Thorndike, Pavlov, and Skinner, - this school of thought posits that learning is a change in observable behavior caused by external stimuli in the environment.</a:t>
            </a:r>
          </a:p>
          <a:p>
            <a:pPr marL="344488" lvl="2"/>
            <a:r>
              <a:rPr lang="en-US" sz="2800" dirty="0"/>
              <a:t>Change in behavior is manifestation that learning occurred.</a:t>
            </a:r>
          </a:p>
          <a:p>
            <a:endParaRPr lang="en-US" sz="2400" dirty="0"/>
          </a:p>
        </p:txBody>
      </p:sp>
    </p:spTree>
    <p:extLst>
      <p:ext uri="{BB962C8B-B14F-4D97-AF65-F5344CB8AC3E}">
        <p14:creationId xmlns:p14="http://schemas.microsoft.com/office/powerpoint/2010/main" val="198133840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 what?</a:t>
            </a:r>
          </a:p>
        </p:txBody>
      </p:sp>
      <p:sp>
        <p:nvSpPr>
          <p:cNvPr id="3" name="Content Placeholder 2"/>
          <p:cNvSpPr>
            <a:spLocks noGrp="1"/>
          </p:cNvSpPr>
          <p:nvPr>
            <p:ph idx="1"/>
          </p:nvPr>
        </p:nvSpPr>
        <p:spPr/>
        <p:txBody>
          <a:bodyPr>
            <a:normAutofit/>
          </a:bodyPr>
          <a:lstStyle/>
          <a:p>
            <a:r>
              <a:rPr lang="en-US" sz="3200" dirty="0"/>
              <a:t>Your learning objectives must be measureable by observable parameters.</a:t>
            </a:r>
          </a:p>
          <a:p>
            <a:r>
              <a:rPr lang="en-US" sz="3200" dirty="0"/>
              <a:t>Your activities must have engagement, interaction and mostly targeting psychomotor and affective spheres.</a:t>
            </a:r>
          </a:p>
        </p:txBody>
      </p:sp>
    </p:spTree>
    <p:extLst>
      <p:ext uri="{BB962C8B-B14F-4D97-AF65-F5344CB8AC3E}">
        <p14:creationId xmlns:p14="http://schemas.microsoft.com/office/powerpoint/2010/main" val="363025634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Assessment AS and OF Learning</a:t>
            </a:r>
          </a:p>
        </p:txBody>
      </p:sp>
      <p:sp>
        <p:nvSpPr>
          <p:cNvPr id="3" name="Content Placeholder 2"/>
          <p:cNvSpPr>
            <a:spLocks noGrp="1"/>
          </p:cNvSpPr>
          <p:nvPr>
            <p:ph idx="1"/>
          </p:nvPr>
        </p:nvSpPr>
        <p:spPr>
          <a:xfrm>
            <a:off x="1283677" y="1885285"/>
            <a:ext cx="9286462" cy="4164659"/>
          </a:xfrm>
        </p:spPr>
        <p:txBody>
          <a:bodyPr>
            <a:normAutofit/>
          </a:bodyPr>
          <a:lstStyle/>
          <a:p>
            <a:r>
              <a:rPr lang="en-US" sz="2400" dirty="0"/>
              <a:t>Learners should be told the explicit outcomes of the learning so </a:t>
            </a:r>
            <a:r>
              <a:rPr lang="en-US" sz="2400" b="1" dirty="0"/>
              <a:t>they can set expectations and judge for themselves </a:t>
            </a:r>
            <a:r>
              <a:rPr lang="en-US" sz="2400" dirty="0"/>
              <a:t>whether or not they have achieved the outcome of the online lesson.</a:t>
            </a:r>
          </a:p>
          <a:p>
            <a:r>
              <a:rPr lang="en-US" sz="2400" dirty="0"/>
              <a:t>Learners must be tested to determine whether or not </a:t>
            </a:r>
            <a:r>
              <a:rPr lang="en-US" sz="2400" b="1" dirty="0"/>
              <a:t>they have achieved the learning outcome</a:t>
            </a:r>
            <a:r>
              <a:rPr lang="en-US" sz="2400" dirty="0"/>
              <a:t>. Online testing or other forms of testing and assessment should be integrated into the learning sequence to check individual learner’s achievement level and provide appropriate feedback.</a:t>
            </a:r>
          </a:p>
        </p:txBody>
      </p:sp>
    </p:spTree>
    <p:extLst>
      <p:ext uri="{BB962C8B-B14F-4D97-AF65-F5344CB8AC3E}">
        <p14:creationId xmlns:p14="http://schemas.microsoft.com/office/powerpoint/2010/main" val="55936385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BLOOM’S TAXONOMY</a:t>
            </a:r>
          </a:p>
        </p:txBody>
      </p:sp>
      <p:sp>
        <p:nvSpPr>
          <p:cNvPr id="3" name="Content Placeholder 2"/>
          <p:cNvSpPr>
            <a:spLocks noGrp="1"/>
          </p:cNvSpPr>
          <p:nvPr>
            <p:ph idx="1"/>
          </p:nvPr>
        </p:nvSpPr>
        <p:spPr>
          <a:xfrm>
            <a:off x="1178169" y="1670538"/>
            <a:ext cx="9391970" cy="4379406"/>
          </a:xfrm>
        </p:spPr>
        <p:txBody>
          <a:bodyPr>
            <a:normAutofit/>
          </a:bodyPr>
          <a:lstStyle/>
          <a:p>
            <a:r>
              <a:rPr lang="en-US" sz="2800" dirty="0"/>
              <a:t>The learning materials must be sequenced appropriately to promote learning. The sequencing could take the form of simple to complex, known to unknown, and knowledge to application.</a:t>
            </a:r>
          </a:p>
          <a:p>
            <a:r>
              <a:rPr lang="en-US" sz="2800" dirty="0"/>
              <a:t>Learners must be provided with feedback so that they can monitor how they are doing and take corrective action if required.</a:t>
            </a:r>
          </a:p>
        </p:txBody>
      </p:sp>
    </p:spTree>
    <p:extLst>
      <p:ext uri="{BB962C8B-B14F-4D97-AF65-F5344CB8AC3E}">
        <p14:creationId xmlns:p14="http://schemas.microsoft.com/office/powerpoint/2010/main" val="41089850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Cognitivist</a:t>
            </a:r>
          </a:p>
        </p:txBody>
      </p:sp>
      <p:sp>
        <p:nvSpPr>
          <p:cNvPr id="3" name="Content Placeholder 2"/>
          <p:cNvSpPr>
            <a:spLocks noGrp="1"/>
          </p:cNvSpPr>
          <p:nvPr>
            <p:ph idx="1"/>
          </p:nvPr>
        </p:nvSpPr>
        <p:spPr>
          <a:xfrm>
            <a:off x="1195754" y="1494692"/>
            <a:ext cx="9374385" cy="4555252"/>
          </a:xfrm>
        </p:spPr>
        <p:txBody>
          <a:bodyPr>
            <a:normAutofit/>
          </a:bodyPr>
          <a:lstStyle/>
          <a:p>
            <a:r>
              <a:rPr lang="en-US" sz="2800" dirty="0"/>
              <a:t>Cognitivists see learning as an internal process that involves memory, thinking, reflection, abstraction, motivation, and metacognition. Cognitive psychology looks at learning from an information processing point of view, where the learner uses different types of memory during learning</a:t>
            </a:r>
          </a:p>
        </p:txBody>
      </p:sp>
    </p:spTree>
    <p:extLst>
      <p:ext uri="{BB962C8B-B14F-4D97-AF65-F5344CB8AC3E}">
        <p14:creationId xmlns:p14="http://schemas.microsoft.com/office/powerpoint/2010/main" val="207505385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 what?</a:t>
            </a:r>
          </a:p>
        </p:txBody>
      </p:sp>
      <p:sp>
        <p:nvSpPr>
          <p:cNvPr id="3" name="Content Placeholder 2"/>
          <p:cNvSpPr>
            <a:spLocks noGrp="1"/>
          </p:cNvSpPr>
          <p:nvPr>
            <p:ph idx="1"/>
          </p:nvPr>
        </p:nvSpPr>
        <p:spPr>
          <a:xfrm>
            <a:off x="1283677" y="1885285"/>
            <a:ext cx="9286462" cy="4164659"/>
          </a:xfrm>
        </p:spPr>
        <p:txBody>
          <a:bodyPr>
            <a:normAutofit/>
          </a:bodyPr>
          <a:lstStyle/>
          <a:p>
            <a:r>
              <a:rPr lang="en-US" sz="2800" dirty="0"/>
              <a:t>Online learning strategies must present the materials and use strategies that enable students to process the materials efficiently.</a:t>
            </a:r>
          </a:p>
          <a:p>
            <a:r>
              <a:rPr lang="en-US" sz="2800" dirty="0"/>
              <a:t>It involves long term and short term memories. And in order to attain retention, short term must be processed by the brain before it is lost.</a:t>
            </a:r>
          </a:p>
        </p:txBody>
      </p:sp>
    </p:spTree>
    <p:extLst>
      <p:ext uri="{BB962C8B-B14F-4D97-AF65-F5344CB8AC3E}">
        <p14:creationId xmlns:p14="http://schemas.microsoft.com/office/powerpoint/2010/main" val="272779253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Dale’s cone</a:t>
            </a:r>
          </a:p>
        </p:txBody>
      </p:sp>
      <p:sp>
        <p:nvSpPr>
          <p:cNvPr id="3" name="Content Placeholder 2"/>
          <p:cNvSpPr>
            <a:spLocks noGrp="1"/>
          </p:cNvSpPr>
          <p:nvPr>
            <p:ph idx="1"/>
          </p:nvPr>
        </p:nvSpPr>
        <p:spPr>
          <a:xfrm>
            <a:off x="1617785" y="2052116"/>
            <a:ext cx="8952354" cy="3997828"/>
          </a:xfrm>
        </p:spPr>
        <p:txBody>
          <a:bodyPr>
            <a:normAutofit/>
          </a:bodyPr>
          <a:lstStyle/>
          <a:p>
            <a:r>
              <a:rPr lang="en-US" sz="2800" dirty="0"/>
              <a:t>Strategies used should allow learners to perceive and attend to the information so that it can be transferred to working memory. Learners use their sensory systems to register the information in the form of sensations.</a:t>
            </a:r>
          </a:p>
        </p:txBody>
      </p:sp>
    </p:spTree>
    <p:extLst>
      <p:ext uri="{BB962C8B-B14F-4D97-AF65-F5344CB8AC3E}">
        <p14:creationId xmlns:p14="http://schemas.microsoft.com/office/powerpoint/2010/main" val="372184442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1582615" y="2052116"/>
            <a:ext cx="8987524" cy="3997828"/>
          </a:xfrm>
        </p:spPr>
        <p:txBody>
          <a:bodyPr>
            <a:normAutofit/>
          </a:bodyPr>
          <a:lstStyle/>
          <a:p>
            <a:r>
              <a:rPr lang="en-US" sz="2400" dirty="0"/>
              <a:t>Strategies used should allow learners to retrieve existing information from long-term memory to help make sense of the new information. Learners must construct a memory link between the new information and some related information already stored in long term memory. </a:t>
            </a:r>
          </a:p>
        </p:txBody>
      </p:sp>
    </p:spTree>
    <p:extLst>
      <p:ext uri="{BB962C8B-B14F-4D97-AF65-F5344CB8AC3E}">
        <p14:creationId xmlns:p14="http://schemas.microsoft.com/office/powerpoint/2010/main" val="61139106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PCK TPCK (simplification of complex concepts)</a:t>
            </a:r>
          </a:p>
        </p:txBody>
      </p:sp>
      <p:sp>
        <p:nvSpPr>
          <p:cNvPr id="3" name="Content Placeholder 2"/>
          <p:cNvSpPr>
            <a:spLocks noGrp="1"/>
          </p:cNvSpPr>
          <p:nvPr>
            <p:ph idx="1"/>
          </p:nvPr>
        </p:nvSpPr>
        <p:spPr>
          <a:xfrm>
            <a:off x="1494692" y="2052116"/>
            <a:ext cx="9075447" cy="3997828"/>
          </a:xfrm>
        </p:spPr>
        <p:txBody>
          <a:bodyPr>
            <a:normAutofit/>
          </a:bodyPr>
          <a:lstStyle/>
          <a:p>
            <a:r>
              <a:rPr lang="en-US" sz="2400" dirty="0"/>
              <a:t>Information should be chunked to prevent overload during processing in working memory (use charts, infographics, diagrams)</a:t>
            </a:r>
          </a:p>
          <a:p>
            <a:r>
              <a:rPr lang="en-US" sz="2400" dirty="0"/>
              <a:t>Other strategies that promote deep processing should be used to help transfer information to long-term storage. To make the transfer to long-term memory more effective, strategies should be used that require learners to apply, analyze, synthesize, and evaluate promote higher-level learning.</a:t>
            </a:r>
          </a:p>
        </p:txBody>
      </p:sp>
    </p:spTree>
    <p:extLst>
      <p:ext uri="{BB962C8B-B14F-4D97-AF65-F5344CB8AC3E}">
        <p14:creationId xmlns:p14="http://schemas.microsoft.com/office/powerpoint/2010/main" val="272646761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1512277" y="2052116"/>
            <a:ext cx="9057862" cy="3997828"/>
          </a:xfrm>
        </p:spPr>
        <p:txBody>
          <a:bodyPr/>
          <a:lstStyle/>
          <a:p>
            <a:r>
              <a:rPr lang="en-US" dirty="0"/>
              <a:t>A variety of learning strategies should be included in online instruction to accommodate individual differences and learning styles.</a:t>
            </a:r>
          </a:p>
          <a:p>
            <a:r>
              <a:rPr lang="en-US" dirty="0"/>
              <a:t>Information should be presented in different modes to facilitate processing and transferring it to long-term memory. Where possible, textual, verbal, and visual information should be presented to encourage encoding.</a:t>
            </a:r>
          </a:p>
        </p:txBody>
      </p:sp>
    </p:spTree>
    <p:extLst>
      <p:ext uri="{BB962C8B-B14F-4D97-AF65-F5344CB8AC3E}">
        <p14:creationId xmlns:p14="http://schemas.microsoft.com/office/powerpoint/2010/main" val="266626361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Learners should be motivated to learn. It does not matter how effective the online materials are, if learners are not motivated, they will not learn. The issue is whether to use intrinsic motivation (driven from within the learner) or extrinsic motivation (instructor- and performance-driven).</a:t>
            </a:r>
          </a:p>
          <a:p>
            <a:r>
              <a:rPr lang="en-US" dirty="0"/>
              <a:t>Encourage learners to use their metacognitive skills to help in the learning process.</a:t>
            </a:r>
          </a:p>
          <a:p>
            <a:endParaRPr lang="en-US" dirty="0"/>
          </a:p>
        </p:txBody>
      </p:sp>
    </p:spTree>
    <p:extLst>
      <p:ext uri="{BB962C8B-B14F-4D97-AF65-F5344CB8AC3E}">
        <p14:creationId xmlns:p14="http://schemas.microsoft.com/office/powerpoint/2010/main" val="92044130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1441938" y="2052116"/>
            <a:ext cx="9128201" cy="3997828"/>
          </a:xfrm>
        </p:spPr>
        <p:txBody>
          <a:bodyPr/>
          <a:lstStyle/>
          <a:p>
            <a:r>
              <a:rPr lang="en-US" dirty="0"/>
              <a:t>Online strategies that facilitate the transfer of learning should be used to encourage application in different and real-life situations. Simulation of the real situation, using real-life cases, should be part of the lesson. </a:t>
            </a:r>
          </a:p>
        </p:txBody>
      </p:sp>
    </p:spTree>
    <p:extLst>
      <p:ext uri="{BB962C8B-B14F-4D97-AF65-F5344CB8AC3E}">
        <p14:creationId xmlns:p14="http://schemas.microsoft.com/office/powerpoint/2010/main" val="117302159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Constructivist</a:t>
            </a:r>
          </a:p>
        </p:txBody>
      </p:sp>
      <p:sp>
        <p:nvSpPr>
          <p:cNvPr id="3" name="Content Placeholder 2"/>
          <p:cNvSpPr>
            <a:spLocks noGrp="1"/>
          </p:cNvSpPr>
          <p:nvPr>
            <p:ph idx="1"/>
          </p:nvPr>
        </p:nvSpPr>
        <p:spPr/>
        <p:txBody>
          <a:bodyPr/>
          <a:lstStyle/>
          <a:p>
            <a:r>
              <a:rPr lang="en-US" dirty="0"/>
              <a:t>Constructivists see learners as active rather than passive. Knowledge is not received from the outside or from someone else; rather, the individual learner interprets and processes what is received through the senses to create knowledge.</a:t>
            </a:r>
          </a:p>
          <a:p>
            <a:r>
              <a:rPr lang="en-US" dirty="0"/>
              <a:t>So if cognitivist thinks they light the fire, for constructivists the can start the fire.</a:t>
            </a:r>
          </a:p>
        </p:txBody>
      </p:sp>
    </p:spTree>
    <p:extLst>
      <p:ext uri="{BB962C8B-B14F-4D97-AF65-F5344CB8AC3E}">
        <p14:creationId xmlns:p14="http://schemas.microsoft.com/office/powerpoint/2010/main" val="27914353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 what?</a:t>
            </a:r>
          </a:p>
        </p:txBody>
      </p:sp>
      <p:sp>
        <p:nvSpPr>
          <p:cNvPr id="3" name="Content Placeholder 2"/>
          <p:cNvSpPr>
            <a:spLocks noGrp="1"/>
          </p:cNvSpPr>
          <p:nvPr>
            <p:ph idx="1"/>
          </p:nvPr>
        </p:nvSpPr>
        <p:spPr/>
        <p:txBody>
          <a:bodyPr/>
          <a:lstStyle/>
          <a:p>
            <a:r>
              <a:rPr lang="en-US" dirty="0"/>
              <a:t>Educators must either provide information, learning materials, or others for the learner to figure out, or leave free spaces that allows students to think for themselves.</a:t>
            </a:r>
          </a:p>
          <a:p>
            <a:r>
              <a:rPr lang="en-US" dirty="0"/>
              <a:t>Learning should be an active process. Keeping learners active doing meaningful activities results in high-level processing, which facilitates the creation of personalized meaning. </a:t>
            </a:r>
          </a:p>
        </p:txBody>
      </p:sp>
    </p:spTree>
    <p:extLst>
      <p:ext uri="{BB962C8B-B14F-4D97-AF65-F5344CB8AC3E}">
        <p14:creationId xmlns:p14="http://schemas.microsoft.com/office/powerpoint/2010/main" val="34260034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Learners should construct their own knowledge, rather than accepting that given by the instructor. Knowledge construction is facilitated by good interactive online instruction, since the students have to take the initiative to learn and to interact with other students and the instructor, </a:t>
            </a:r>
            <a:r>
              <a:rPr lang="en-US" b="1" dirty="0"/>
              <a:t>and because the learning agenda is controlled by the student. A.S.</a:t>
            </a:r>
          </a:p>
          <a:p>
            <a:r>
              <a:rPr lang="en-US" dirty="0"/>
              <a:t>Learning should be interactive to promote higher-level learning and social presence, and to help develop personal meaning. </a:t>
            </a:r>
            <a:r>
              <a:rPr lang="en-US" b="1" dirty="0"/>
              <a:t>S.U.</a:t>
            </a:r>
          </a:p>
        </p:txBody>
      </p:sp>
    </p:spTree>
    <p:extLst>
      <p:ext uri="{BB962C8B-B14F-4D97-AF65-F5344CB8AC3E}">
        <p14:creationId xmlns:p14="http://schemas.microsoft.com/office/powerpoint/2010/main" val="394681917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r>
              <a:rPr lang="en-US" dirty="0"/>
              <a:t>Collaborative and cooperative learning should be encouraged to facilitate constructivist learning</a:t>
            </a:r>
          </a:p>
          <a:p>
            <a:r>
              <a:rPr lang="en-US" dirty="0"/>
              <a:t>Learners should be given control of the learning process. R. </a:t>
            </a:r>
          </a:p>
          <a:p>
            <a:r>
              <a:rPr lang="en-US" dirty="0"/>
              <a:t>Learners should be given time and the opportunity to reflect. E. </a:t>
            </a:r>
          </a:p>
          <a:p>
            <a:r>
              <a:rPr lang="en-US" dirty="0"/>
              <a:t>Learning should be made meaningful. Learning materials should include examples that relate to the learners so that they can make sense of the information.</a:t>
            </a:r>
          </a:p>
        </p:txBody>
      </p:sp>
    </p:spTree>
    <p:extLst>
      <p:ext uri="{BB962C8B-B14F-4D97-AF65-F5344CB8AC3E}">
        <p14:creationId xmlns:p14="http://schemas.microsoft.com/office/powerpoint/2010/main" val="14851974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Connectivist</a:t>
            </a:r>
            <a:endParaRPr lang="en-US" dirty="0"/>
          </a:p>
        </p:txBody>
      </p:sp>
      <p:sp>
        <p:nvSpPr>
          <p:cNvPr id="3" name="Content Placeholder 2"/>
          <p:cNvSpPr>
            <a:spLocks noGrp="1"/>
          </p:cNvSpPr>
          <p:nvPr>
            <p:ph idx="1"/>
          </p:nvPr>
        </p:nvSpPr>
        <p:spPr/>
        <p:txBody>
          <a:bodyPr/>
          <a:lstStyle/>
          <a:p>
            <a:r>
              <a:rPr lang="en-US" dirty="0"/>
              <a:t>According to Siemens (2004), </a:t>
            </a:r>
            <a:r>
              <a:rPr lang="en-US" dirty="0" err="1"/>
              <a:t>connectivist</a:t>
            </a:r>
            <a:r>
              <a:rPr lang="en-US" dirty="0"/>
              <a:t> theory is for the digital age, where individuals learn and work in a networked environment. As a result, we do not have control over what we learn since others in the network continually change information, and that requires new learning, unlearning old information, and/or learning current information. </a:t>
            </a:r>
          </a:p>
        </p:txBody>
      </p:sp>
    </p:spTree>
    <p:extLst>
      <p:ext uri="{BB962C8B-B14F-4D97-AF65-F5344CB8AC3E}">
        <p14:creationId xmlns:p14="http://schemas.microsoft.com/office/powerpoint/2010/main" val="398470361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Because of the information explosion, learners should be allowed to explore and research current information.</a:t>
            </a:r>
          </a:p>
          <a:p>
            <a:r>
              <a:rPr lang="en-US" dirty="0"/>
              <a:t>Some information and procedures become obsolete because of changes in the field and innovation; learners must therefore be able to unlearn old information and mental models and learn current information and mental models. The information that is </a:t>
            </a:r>
            <a:r>
              <a:rPr lang="en-US" b="1" dirty="0"/>
              <a:t>valid today may not be valid tomorrow.</a:t>
            </a:r>
          </a:p>
          <a:p>
            <a:endParaRPr lang="en-US" b="1" dirty="0"/>
          </a:p>
        </p:txBody>
      </p:sp>
    </p:spTree>
    <p:extLst>
      <p:ext uri="{BB962C8B-B14F-4D97-AF65-F5344CB8AC3E}">
        <p14:creationId xmlns:p14="http://schemas.microsoft.com/office/powerpoint/2010/main" val="129725873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dirty="0"/>
              <a:t>The rapid increase of information available from a variety of sources means that some information is not as important or genuine as other information. </a:t>
            </a:r>
          </a:p>
          <a:p>
            <a:r>
              <a:rPr lang="en-US" dirty="0"/>
              <a:t>Learners must have the ability to recognize what knowledge is no longer valid so they can acquire the new knowledge for a discipline. </a:t>
            </a:r>
          </a:p>
          <a:p>
            <a:r>
              <a:rPr lang="en-US" dirty="0"/>
              <a:t>Because of globalization, information is not location-specific, and with the increasing use of telecommunication, technologies experts and learners from around the world can share and review information.</a:t>
            </a:r>
          </a:p>
        </p:txBody>
      </p:sp>
    </p:spTree>
    <p:extLst>
      <p:ext uri="{BB962C8B-B14F-4D97-AF65-F5344CB8AC3E}">
        <p14:creationId xmlns:p14="http://schemas.microsoft.com/office/powerpoint/2010/main" val="303544766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The world is connected by telecommunication technology. Hence, information for learning should not be taken from one source but should be assembled from many sources to reflect the networked world and the diversity of thinking.</a:t>
            </a:r>
          </a:p>
          <a:p>
            <a:r>
              <a:rPr lang="en-US" dirty="0"/>
              <a:t>The field of computer systems is altering the learning process. </a:t>
            </a:r>
          </a:p>
          <a:p>
            <a:r>
              <a:rPr lang="en-US" dirty="0"/>
              <a:t>Because of the information explosion, learners of the future must be willing to acquire new knowledge on an ongoing basis.</a:t>
            </a:r>
          </a:p>
        </p:txBody>
      </p:sp>
    </p:spTree>
    <p:extLst>
      <p:ext uri="{BB962C8B-B14F-4D97-AF65-F5344CB8AC3E}">
        <p14:creationId xmlns:p14="http://schemas.microsoft.com/office/powerpoint/2010/main" val="71171842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The Internet is expanding education into a </a:t>
            </a:r>
            <a:r>
              <a:rPr lang="en-US" b="1" dirty="0"/>
              <a:t>global classroom, with learners, teachers, and experts from around the world</a:t>
            </a:r>
            <a:r>
              <a:rPr lang="en-US" dirty="0"/>
              <a:t>. As a result, learners must network with other students and experts to make sure that they are continually learning and updating their knowledge.</a:t>
            </a:r>
          </a:p>
          <a:p>
            <a:r>
              <a:rPr lang="en-US" dirty="0"/>
              <a:t>Because of innovation and our increasing use of technology, learning is becoming more multidisciplinary. Learners must be exposed to different fields so that they can see the connections between the information in the fields. </a:t>
            </a:r>
          </a:p>
        </p:txBody>
      </p:sp>
    </p:spTree>
    <p:extLst>
      <p:ext uri="{BB962C8B-B14F-4D97-AF65-F5344CB8AC3E}">
        <p14:creationId xmlns:p14="http://schemas.microsoft.com/office/powerpoint/2010/main" val="273251067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 what?</a:t>
            </a:r>
          </a:p>
        </p:txBody>
      </p:sp>
      <p:sp>
        <p:nvSpPr>
          <p:cNvPr id="3" name="Content Placeholder 2"/>
          <p:cNvSpPr>
            <a:spLocks noGrp="1"/>
          </p:cNvSpPr>
          <p:nvPr>
            <p:ph idx="1"/>
          </p:nvPr>
        </p:nvSpPr>
        <p:spPr/>
        <p:txBody>
          <a:bodyPr/>
          <a:lstStyle/>
          <a:p>
            <a:r>
              <a:rPr lang="en-US" dirty="0"/>
              <a:t>Many people can now be a part of the </a:t>
            </a:r>
            <a:r>
              <a:rPr lang="en-US" b="1" dirty="0"/>
              <a:t>learning community </a:t>
            </a:r>
            <a:r>
              <a:rPr lang="en-US" dirty="0"/>
              <a:t>of one learner.</a:t>
            </a:r>
          </a:p>
          <a:p>
            <a:r>
              <a:rPr lang="en-US" dirty="0"/>
              <a:t>It is part of teacher’s responsibility to introduce their students to these circles.</a:t>
            </a:r>
          </a:p>
        </p:txBody>
      </p:sp>
    </p:spTree>
    <p:extLst>
      <p:ext uri="{BB962C8B-B14F-4D97-AF65-F5344CB8AC3E}">
        <p14:creationId xmlns:p14="http://schemas.microsoft.com/office/powerpoint/2010/main" val="21518568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Student Organizations</a:t>
            </a:r>
          </a:p>
        </p:txBody>
      </p:sp>
      <p:sp>
        <p:nvSpPr>
          <p:cNvPr id="3" name="Content Placeholder 2"/>
          <p:cNvSpPr>
            <a:spLocks noGrp="1"/>
          </p:cNvSpPr>
          <p:nvPr>
            <p:ph idx="1"/>
          </p:nvPr>
        </p:nvSpPr>
        <p:spPr/>
        <p:txBody>
          <a:bodyPr/>
          <a:lstStyle/>
          <a:p>
            <a:r>
              <a:rPr lang="en-US" dirty="0"/>
              <a:t>Most student organizations are now forgetting their role and function. Holistic learning should always be kept in mind by student leaders.</a:t>
            </a:r>
          </a:p>
          <a:p>
            <a:pPr lvl="1"/>
            <a:r>
              <a:rPr lang="en-US" dirty="0"/>
              <a:t>A good examples is the student organization of Veterinary Medicine Students.</a:t>
            </a:r>
          </a:p>
        </p:txBody>
      </p:sp>
    </p:spTree>
    <p:extLst>
      <p:ext uri="{BB962C8B-B14F-4D97-AF65-F5344CB8AC3E}">
        <p14:creationId xmlns:p14="http://schemas.microsoft.com/office/powerpoint/2010/main" val="212502629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Teachers</a:t>
            </a:r>
          </a:p>
        </p:txBody>
      </p:sp>
      <p:sp>
        <p:nvSpPr>
          <p:cNvPr id="3" name="Content Placeholder 2"/>
          <p:cNvSpPr>
            <a:spLocks noGrp="1"/>
          </p:cNvSpPr>
          <p:nvPr>
            <p:ph idx="1"/>
          </p:nvPr>
        </p:nvSpPr>
        <p:spPr/>
        <p:txBody>
          <a:bodyPr/>
          <a:lstStyle/>
          <a:p>
            <a:r>
              <a:rPr lang="en-US" dirty="0"/>
              <a:t>The whole faculty could be part of the students’ learning circle. Referral or consultation; it doesn’t have to be under their advisory or class. Teachers could still provide resources, advices and more. Indirectly, they could serve as model or as examples.</a:t>
            </a:r>
          </a:p>
        </p:txBody>
      </p:sp>
    </p:spTree>
    <p:extLst>
      <p:ext uri="{BB962C8B-B14F-4D97-AF65-F5344CB8AC3E}">
        <p14:creationId xmlns:p14="http://schemas.microsoft.com/office/powerpoint/2010/main" val="250827908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Political Figures</a:t>
            </a:r>
          </a:p>
        </p:txBody>
      </p:sp>
      <p:sp>
        <p:nvSpPr>
          <p:cNvPr id="3" name="Content Placeholder 2"/>
          <p:cNvSpPr>
            <a:spLocks noGrp="1"/>
          </p:cNvSpPr>
          <p:nvPr>
            <p:ph idx="1"/>
          </p:nvPr>
        </p:nvSpPr>
        <p:spPr/>
        <p:txBody>
          <a:bodyPr/>
          <a:lstStyle/>
          <a:p>
            <a:r>
              <a:rPr lang="en-US" dirty="0"/>
              <a:t>They could show examples also of high credentials, achievement, and productivity for the youth. They could also provide access to internet connections, educational resources, and provision of Free Education. Some, to an extent, provides scholarships.</a:t>
            </a:r>
          </a:p>
        </p:txBody>
      </p:sp>
    </p:spTree>
    <p:extLst>
      <p:ext uri="{BB962C8B-B14F-4D97-AF65-F5344CB8AC3E}">
        <p14:creationId xmlns:p14="http://schemas.microsoft.com/office/powerpoint/2010/main" val="56576372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*Private Business</a:t>
            </a:r>
          </a:p>
        </p:txBody>
      </p:sp>
      <p:sp>
        <p:nvSpPr>
          <p:cNvPr id="3" name="Content Placeholder 2"/>
          <p:cNvSpPr>
            <a:spLocks noGrp="1"/>
          </p:cNvSpPr>
          <p:nvPr>
            <p:ph idx="1"/>
          </p:nvPr>
        </p:nvSpPr>
        <p:spPr/>
        <p:txBody>
          <a:bodyPr/>
          <a:lstStyle/>
          <a:p>
            <a:r>
              <a:rPr lang="en-US" dirty="0"/>
              <a:t>Some could provide employment opportunities and scholarships.</a:t>
            </a:r>
          </a:p>
        </p:txBody>
      </p:sp>
    </p:spTree>
    <p:extLst>
      <p:ext uri="{BB962C8B-B14F-4D97-AF65-F5344CB8AC3E}">
        <p14:creationId xmlns:p14="http://schemas.microsoft.com/office/powerpoint/2010/main" val="349540423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*Celebrities and Influencers</a:t>
            </a:r>
          </a:p>
        </p:txBody>
      </p:sp>
      <p:sp>
        <p:nvSpPr>
          <p:cNvPr id="3" name="Content Placeholder 2"/>
          <p:cNvSpPr>
            <a:spLocks noGrp="1"/>
          </p:cNvSpPr>
          <p:nvPr>
            <p:ph idx="1"/>
          </p:nvPr>
        </p:nvSpPr>
        <p:spPr/>
        <p:txBody>
          <a:bodyPr/>
          <a:lstStyle/>
          <a:p>
            <a:r>
              <a:rPr lang="en-US" dirty="0"/>
              <a:t>They shouldn’t be looked up as role models but could serve as inspiration. Educators should also be aware of these not just to be aware of the up-and-coming trends but to further understand their students; to somehow relate to them. </a:t>
            </a:r>
          </a:p>
          <a:p>
            <a:pPr lvl="1"/>
            <a:r>
              <a:rPr lang="en-US" dirty="0"/>
              <a:t>What are the contents they follow?</a:t>
            </a:r>
          </a:p>
          <a:p>
            <a:pPr lvl="1"/>
            <a:r>
              <a:rPr lang="en-US" dirty="0"/>
              <a:t>Who are their favorite artists?</a:t>
            </a:r>
          </a:p>
          <a:p>
            <a:pPr lvl="1"/>
            <a:r>
              <a:rPr lang="en-US" dirty="0"/>
              <a:t>Which genre or art styles grabs their attention the most?</a:t>
            </a:r>
          </a:p>
        </p:txBody>
      </p:sp>
    </p:spTree>
    <p:extLst>
      <p:ext uri="{BB962C8B-B14F-4D97-AF65-F5344CB8AC3E}">
        <p14:creationId xmlns:p14="http://schemas.microsoft.com/office/powerpoint/2010/main" val="41577971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Family</a:t>
            </a:r>
          </a:p>
        </p:txBody>
      </p:sp>
      <p:sp>
        <p:nvSpPr>
          <p:cNvPr id="3" name="Content Placeholder 2"/>
          <p:cNvSpPr>
            <a:spLocks noGrp="1"/>
          </p:cNvSpPr>
          <p:nvPr>
            <p:ph idx="1"/>
          </p:nvPr>
        </p:nvSpPr>
        <p:spPr/>
        <p:txBody>
          <a:bodyPr/>
          <a:lstStyle/>
          <a:p>
            <a:r>
              <a:rPr lang="en-US" dirty="0"/>
              <a:t>The main support system of the students nowadays. But often, some are not very supportive or circumstances could not really allow them to be supportive.</a:t>
            </a:r>
          </a:p>
        </p:txBody>
      </p:sp>
    </p:spTree>
    <p:extLst>
      <p:ext uri="{BB962C8B-B14F-4D97-AF65-F5344CB8AC3E}">
        <p14:creationId xmlns:p14="http://schemas.microsoft.com/office/powerpoint/2010/main" val="300951259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Content creators</a:t>
            </a:r>
          </a:p>
        </p:txBody>
      </p:sp>
      <p:sp>
        <p:nvSpPr>
          <p:cNvPr id="3" name="Content Placeholder 2"/>
          <p:cNvSpPr>
            <a:spLocks noGrp="1"/>
          </p:cNvSpPr>
          <p:nvPr>
            <p:ph idx="1"/>
          </p:nvPr>
        </p:nvSpPr>
        <p:spPr/>
        <p:txBody>
          <a:bodyPr/>
          <a:lstStyle/>
          <a:p>
            <a:r>
              <a:rPr lang="en-US" dirty="0"/>
              <a:t>Educational content or even just blogs or vlogs.</a:t>
            </a:r>
          </a:p>
        </p:txBody>
      </p:sp>
    </p:spTree>
    <p:extLst>
      <p:ext uri="{BB962C8B-B14F-4D97-AF65-F5344CB8AC3E}">
        <p14:creationId xmlns:p14="http://schemas.microsoft.com/office/powerpoint/2010/main" val="144429198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sz="3600" dirty="0"/>
              <a:t>Now these are the circles of the learning community. And in an online learning community there are various mediums where these could be accessed.</a:t>
            </a:r>
          </a:p>
        </p:txBody>
      </p:sp>
    </p:spTree>
    <p:extLst>
      <p:ext uri="{BB962C8B-B14F-4D97-AF65-F5344CB8AC3E}">
        <p14:creationId xmlns:p14="http://schemas.microsoft.com/office/powerpoint/2010/main" val="261606482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rotWithShape="1">
          <a:blip r:embed="rId2"/>
          <a:srcRect l="13146" t="12857" r="16327" b="17036"/>
          <a:stretch/>
        </p:blipFill>
        <p:spPr>
          <a:xfrm>
            <a:off x="1262837" y="808056"/>
            <a:ext cx="9809551" cy="5484996"/>
          </a:xfrm>
          <a:prstGeom prst="rect">
            <a:avLst/>
          </a:prstGeom>
        </p:spPr>
      </p:pic>
    </p:spTree>
    <p:extLst>
      <p:ext uri="{BB962C8B-B14F-4D97-AF65-F5344CB8AC3E}">
        <p14:creationId xmlns:p14="http://schemas.microsoft.com/office/powerpoint/2010/main" val="109298451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blipFill rotWithShape="1">
          <a:blip r:embed="rId2"/>
          <a:stretch/>
        </a:blip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CD557CE-2AB8-44E1-AABA-A21D2274F3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9867" cy="685528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58DCB6E5-A344-4A17-A353-EC4D71E6C46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13" name="Picture 12">
            <a:extLst>
              <a:ext uri="{FF2B5EF4-FFF2-40B4-BE49-F238E27FC236}">
                <a16:creationId xmlns:a16="http://schemas.microsoft.com/office/drawing/2014/main" id="{4D82F4F2-6117-4CCD-94A7-4AFD603EC3C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alphaModFix/>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15" name="Rectangle 14">
            <a:extLst>
              <a:ext uri="{FF2B5EF4-FFF2-40B4-BE49-F238E27FC236}">
                <a16:creationId xmlns:a16="http://schemas.microsoft.com/office/drawing/2014/main" id="{3CCA9FB2-FFC7-4B6D-8E30-9D2CC14E7D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3CF6D6F6-E7F9-4521-BD22-74A61D8ED8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1B566E74-1425-46AC-885D-D2DAEE365F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7533" y="0"/>
            <a:ext cx="10378001"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969803" y="808056"/>
            <a:ext cx="8985411" cy="1077229"/>
          </a:xfrm>
        </p:spPr>
        <p:txBody>
          <a:bodyPr>
            <a:normAutofit fontScale="90000"/>
          </a:bodyPr>
          <a:lstStyle/>
          <a:p>
            <a:pPr algn="l"/>
            <a:r>
              <a:rPr lang="en-US" sz="3600" dirty="0"/>
              <a:t>With these medium, there will be different interactions</a:t>
            </a:r>
            <a:endParaRPr lang="en-US" dirty="0"/>
          </a:p>
        </p:txBody>
      </p:sp>
      <p:pic>
        <p:nvPicPr>
          <p:cNvPr id="4" name="Picture 3" descr="A computer screen shot of a diagram&#10;&#10;Description automatically generated"/>
          <p:cNvPicPr>
            <a:picLocks noChangeAspect="1"/>
          </p:cNvPicPr>
          <p:nvPr/>
        </p:nvPicPr>
        <p:blipFill rotWithShape="1">
          <a:blip r:embed="rId5"/>
          <a:srcRect l="13699" t="14283" r="16804" b="10480"/>
          <a:stretch/>
        </p:blipFill>
        <p:spPr>
          <a:xfrm>
            <a:off x="2503851" y="1995964"/>
            <a:ext cx="7182164" cy="4373640"/>
          </a:xfrm>
          <a:prstGeom prst="rect">
            <a:avLst/>
          </a:prstGeom>
          <a:ln>
            <a:gradFill flip="none" rotWithShape="1">
              <a:gsLst>
                <a:gs pos="86000">
                  <a:schemeClr val="accent6">
                    <a:lumMod val="67000"/>
                  </a:schemeClr>
                </a:gs>
                <a:gs pos="20000">
                  <a:schemeClr val="accent6">
                    <a:lumMod val="97000"/>
                    <a:lumOff val="3000"/>
                  </a:schemeClr>
                </a:gs>
                <a:gs pos="100000">
                  <a:schemeClr val="accent6">
                    <a:lumMod val="60000"/>
                    <a:lumOff val="40000"/>
                  </a:schemeClr>
                </a:gs>
              </a:gsLst>
              <a:lin ang="16200000" scaled="1"/>
              <a:tileRect/>
            </a:gradFill>
          </a:ln>
          <a:effectLst>
            <a:innerShdw blurRad="127000">
              <a:prstClr val="black">
                <a:alpha val="90000"/>
              </a:prstClr>
            </a:innerShdw>
          </a:effectLst>
        </p:spPr>
      </p:pic>
      <p:sp>
        <p:nvSpPr>
          <p:cNvPr id="21" name="Rectangle 20">
            <a:extLst>
              <a:ext uri="{FF2B5EF4-FFF2-40B4-BE49-F238E27FC236}">
                <a16:creationId xmlns:a16="http://schemas.microsoft.com/office/drawing/2014/main" id="{06858379-D070-40E4-8A3D-F29E90C5C7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387666" y="-2718"/>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2984024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 the references, please request for the following e-books at the library</a:t>
            </a:r>
          </a:p>
        </p:txBody>
      </p:sp>
      <p:sp>
        <p:nvSpPr>
          <p:cNvPr id="3" name="Content Placeholder 2"/>
          <p:cNvSpPr>
            <a:spLocks noGrp="1"/>
          </p:cNvSpPr>
          <p:nvPr>
            <p:ph idx="1"/>
          </p:nvPr>
        </p:nvSpPr>
        <p:spPr/>
        <p:txBody>
          <a:bodyPr/>
          <a:lstStyle/>
          <a:p>
            <a:r>
              <a:rPr lang="en-US" dirty="0"/>
              <a:t>This is for further (extensive) reading about digital citizenship and digital literacy.</a:t>
            </a:r>
          </a:p>
          <a:p>
            <a:pPr lvl="1"/>
            <a:r>
              <a:rPr lang="en-US" dirty="0"/>
              <a:t>Digital Citizenship: The Internet, Society, and Participation. </a:t>
            </a:r>
          </a:p>
          <a:p>
            <a:pPr lvl="1"/>
            <a:r>
              <a:rPr lang="en-US" dirty="0"/>
              <a:t>Digital citizenship in schools.</a:t>
            </a:r>
          </a:p>
          <a:p>
            <a:pPr lvl="1"/>
            <a:r>
              <a:rPr lang="en-US" dirty="0"/>
              <a:t>The Theory and Practice of Online Learning</a:t>
            </a:r>
          </a:p>
        </p:txBody>
      </p:sp>
    </p:spTree>
    <p:extLst>
      <p:ext uri="{BB962C8B-B14F-4D97-AF65-F5344CB8AC3E}">
        <p14:creationId xmlns:p14="http://schemas.microsoft.com/office/powerpoint/2010/main" val="145212281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adison">
  <a:themeElements>
    <a:clrScheme name="Madison">
      <a:dk1>
        <a:sysClr val="windowText" lastClr="000000"/>
      </a:dk1>
      <a:lt1>
        <a:sysClr val="window" lastClr="FFFFFF"/>
      </a:lt1>
      <a:dk2>
        <a:srgbClr val="1F282E"/>
      </a:dk2>
      <a:lt2>
        <a:srgbClr val="C2F5FC"/>
      </a:lt2>
      <a:accent1>
        <a:srgbClr val="4091F3"/>
      </a:accent1>
      <a:accent2>
        <a:srgbClr val="8BBCF1"/>
      </a:accent2>
      <a:accent3>
        <a:srgbClr val="CB6A6A"/>
      </a:accent3>
      <a:accent4>
        <a:srgbClr val="C567AF"/>
      </a:accent4>
      <a:accent5>
        <a:srgbClr val="A684F9"/>
      </a:accent5>
      <a:accent6>
        <a:srgbClr val="A9ACEE"/>
      </a:accent6>
      <a:hlink>
        <a:srgbClr val="6D9CC5"/>
      </a:hlink>
      <a:folHlink>
        <a:srgbClr val="6D82A0"/>
      </a:folHlink>
    </a:clrScheme>
    <a:fontScheme name="Madison">
      <a:majorFont>
        <a:latin typeface="Arial" panose="020B0604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dison">
      <a:fillStyleLst>
        <a:solidFill>
          <a:schemeClr val="phClr"/>
        </a:solidFill>
        <a:gradFill rotWithShape="1">
          <a:gsLst>
            <a:gs pos="0">
              <a:schemeClr val="phClr">
                <a:tint val="48000"/>
                <a:alpha val="88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blipFill rotWithShape="1">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Madison" id="{025CB5FB-2DD3-45EE-B6F0-CC461540EB19}" vid="{178B2DAB-5DDE-4060-A857-D2E1CDA9250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TM16401375[[fn=Madison]]</Template>
  <TotalTime>1430</TotalTime>
  <Words>4146</Words>
  <Application>Microsoft Office PowerPoint</Application>
  <PresentationFormat>Widescreen</PresentationFormat>
  <Paragraphs>310</Paragraphs>
  <Slides>84</Slides>
  <Notes>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84</vt:i4>
      </vt:variant>
    </vt:vector>
  </HeadingPairs>
  <TitlesOfParts>
    <vt:vector size="91" baseType="lpstr">
      <vt:lpstr>Arial</vt:lpstr>
      <vt:lpstr>Calibri</vt:lpstr>
      <vt:lpstr>MS Shell Dlg 2</vt:lpstr>
      <vt:lpstr>roboto</vt:lpstr>
      <vt:lpstr>Wingdings</vt:lpstr>
      <vt:lpstr>Wingdings 3</vt:lpstr>
      <vt:lpstr>Madison</vt:lpstr>
      <vt:lpstr>Digital Citizens</vt:lpstr>
      <vt:lpstr>Objectives</vt:lpstr>
      <vt:lpstr>PowerPoint Presentation</vt:lpstr>
      <vt:lpstr>Digital Citizenship</vt:lpstr>
      <vt:lpstr>9 Elements of Digital Citizenship</vt:lpstr>
      <vt:lpstr>1. Digital Access (Full electronic participation in society)</vt:lpstr>
      <vt:lpstr>PowerPoint Presentation</vt:lpstr>
      <vt:lpstr>2. Digital Commerce (The buying and selling of goods online)</vt:lpstr>
      <vt:lpstr>PowerPoint Presentation</vt:lpstr>
      <vt:lpstr>3. Digital Communication  (The electronic exchange of information)</vt:lpstr>
      <vt:lpstr>PowerPoint Presentation</vt:lpstr>
      <vt:lpstr>4. Digital Literacy  (The capability to use digital technology and knowing when to use it)</vt:lpstr>
      <vt:lpstr>PowerPoint Presentation</vt:lpstr>
      <vt:lpstr>5. Digital Etiquette  (The standards of conduct expected by other digital technology users)</vt:lpstr>
      <vt:lpstr>PowerPoint Presentation</vt:lpstr>
      <vt:lpstr>6. Digital Law  (The legal rights and restrictions governing technology use)</vt:lpstr>
      <vt:lpstr>PowerPoint Presentation</vt:lpstr>
      <vt:lpstr>7. Digital Rights and Responsibility  (The privileges and freedoms extended to all and the behavioral expectations that come with them)</vt:lpstr>
      <vt:lpstr>PowerPoint Presentation</vt:lpstr>
      <vt:lpstr>8. Digital Health and Wellness (The elements of physical and psychological well-being related to digital technology use)</vt:lpstr>
      <vt:lpstr>PowerPoint Presentation</vt:lpstr>
      <vt:lpstr>9. Digital Security (The precautions that all technology users must take to guarantee their personal safety and security of their network)</vt:lpstr>
      <vt:lpstr>Teaching Students Digital Citizenship</vt:lpstr>
      <vt:lpstr>Social, Ethical, and Legal Responsibilities</vt:lpstr>
      <vt:lpstr>Take care of technology equipment.</vt:lpstr>
      <vt:lpstr>Explore appropriate and safe sites for learning and research.</vt:lpstr>
      <vt:lpstr>Copyright law, Fair Use Act and Creative Commons matter.</vt:lpstr>
      <vt:lpstr>Help prevent cyberbullying.</vt:lpstr>
      <vt:lpstr>Self-image is important.</vt:lpstr>
      <vt:lpstr>Make use of netiquette.</vt:lpstr>
      <vt:lpstr>Always give credit to original source.</vt:lpstr>
      <vt:lpstr>Remember to be effective, thoughtful and ethical digital creators.</vt:lpstr>
      <vt:lpstr>Think.</vt:lpstr>
      <vt:lpstr>Netiquette or Cyber Ethics</vt:lpstr>
      <vt:lpstr>Netiquette or Cyber Ethics</vt:lpstr>
      <vt:lpstr>Netiquette or Cyber Ethics</vt:lpstr>
      <vt:lpstr>Netiquette or Cyber Ethics</vt:lpstr>
      <vt:lpstr>Netiquette or Cyber Ethics</vt:lpstr>
      <vt:lpstr>Netiquette or Cyber Ethics</vt:lpstr>
      <vt:lpstr>Netiquette or Cyber Ethics</vt:lpstr>
      <vt:lpstr>Netiquette or Cyber Ethics</vt:lpstr>
      <vt:lpstr>Netiquette or Cyber Ethics</vt:lpstr>
      <vt:lpstr>Netiquette or Cyber Ethics</vt:lpstr>
      <vt:lpstr>Cyberbullying</vt:lpstr>
      <vt:lpstr>PowerPoint Presentation</vt:lpstr>
      <vt:lpstr>What to do?</vt:lpstr>
      <vt:lpstr>Educational Platforms</vt:lpstr>
      <vt:lpstr>Online Communities of Learning</vt:lpstr>
      <vt:lpstr>Make Sure Online Learning Happens</vt:lpstr>
      <vt:lpstr>PowerPoint Presentation</vt:lpstr>
      <vt:lpstr>Design a Learning Approach</vt:lpstr>
      <vt:lpstr>Behaviorist</vt:lpstr>
      <vt:lpstr>So what?</vt:lpstr>
      <vt:lpstr>Assessment AS and OF Learning</vt:lpstr>
      <vt:lpstr>BLOOM’S TAXONOMY</vt:lpstr>
      <vt:lpstr>Cognitivist</vt:lpstr>
      <vt:lpstr>So what?</vt:lpstr>
      <vt:lpstr>Dale’s cone</vt:lpstr>
      <vt:lpstr>PowerPoint Presentation</vt:lpstr>
      <vt:lpstr>PCK TPCK (simplification of complex concepts)</vt:lpstr>
      <vt:lpstr>PowerPoint Presentation</vt:lpstr>
      <vt:lpstr>PowerPoint Presentation</vt:lpstr>
      <vt:lpstr>PowerPoint Presentation</vt:lpstr>
      <vt:lpstr>Constructivist</vt:lpstr>
      <vt:lpstr>So what?</vt:lpstr>
      <vt:lpstr>PowerPoint Presentation</vt:lpstr>
      <vt:lpstr>PowerPoint Presentation</vt:lpstr>
      <vt:lpstr>Connectivist</vt:lpstr>
      <vt:lpstr>PowerPoint Presentation</vt:lpstr>
      <vt:lpstr>PowerPoint Presentation</vt:lpstr>
      <vt:lpstr>PowerPoint Presentation</vt:lpstr>
      <vt:lpstr>PowerPoint Presentation</vt:lpstr>
      <vt:lpstr>So what?</vt:lpstr>
      <vt:lpstr>Student Organizations</vt:lpstr>
      <vt:lpstr>Teachers</vt:lpstr>
      <vt:lpstr>Political Figures</vt:lpstr>
      <vt:lpstr>*Private Business</vt:lpstr>
      <vt:lpstr>*Celebrities and Influencers</vt:lpstr>
      <vt:lpstr>Family</vt:lpstr>
      <vt:lpstr>Content creators</vt:lpstr>
      <vt:lpstr>PowerPoint Presentation</vt:lpstr>
      <vt:lpstr>PowerPoint Presentation</vt:lpstr>
      <vt:lpstr>With these medium, there will be different interactions</vt:lpstr>
      <vt:lpstr>For the references, please request for the following e-books at the library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Digital Literacy for iGen</dc:title>
  <dc:creator>Windows User</dc:creator>
  <cp:lastModifiedBy>REGINAMARY MATTHEWS</cp:lastModifiedBy>
  <cp:revision>66</cp:revision>
  <dcterms:created xsi:type="dcterms:W3CDTF">2022-03-11T00:50:51Z</dcterms:created>
  <dcterms:modified xsi:type="dcterms:W3CDTF">2026-10-02T04:28:56Z</dcterms:modified>
</cp:coreProperties>
</file>